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265" autoAdjust="0"/>
    <p:restoredTop sz="96283" autoAdjust="0"/>
  </p:normalViewPr>
  <p:slideViewPr>
    <p:cSldViewPr snapToGrid="0">
      <p:cViewPr varScale="1">
        <p:scale>
          <a:sx n="52" d="100"/>
          <a:sy n="52" d="100"/>
        </p:scale>
        <p:origin x="114" y="1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51DD11-BDFF-AEEE-D258-ED53658AC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6D14014-5828-CAB5-89A2-838EFC7AC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9388CE-844F-E942-15FA-A7D99A42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E5B7CFB-4391-DA7A-BC88-32C00100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5BFF550-EBB3-9BDF-A4EA-9BA09C04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3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4C8EC7E-F477-FFD0-DBCC-DFE396A5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0C7D904-45B5-6307-00F5-12D3D383D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432AFE0-3FBB-23CA-6CEA-6790C04B7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05BE1CC-C4F0-6B81-99DE-40CCDF99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3D1E386-D26E-805F-F7A4-BF34C1D3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4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099600-6E2F-87AB-68AB-8038D6FCA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9F2978C-A4F9-540C-748E-95FCAA58A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A79155-6CFF-8DEA-D79F-DCF8FC073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44624E3-CFBC-3543-6329-50E95347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BF6643E-5CA2-BEB9-9324-9F6EE1F9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74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AC5FB03-A5A5-4DCC-2F05-C1B9E4CE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FC64CB4-7719-A3DA-CD0B-0EC958348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7AF7A7D-B547-0C4D-C66E-FD8B09533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5ED2AFB-C4CE-F8FA-7430-5F9847B0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E8CF056-9DE0-2368-2D52-009E451C2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188A480-F566-F10D-EECB-5C0CE63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5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9524F9-211F-F86E-33D6-0A4D42BD4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E5BAF81-812F-3AC8-FC4E-D99FA940D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926120F-7474-B7A4-3367-F6AADE0B1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17CA250-4046-4895-0641-5BF4135BF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54EDDE4-5039-1167-A402-FE0C9554A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248D83E-FCA0-06D5-B5FA-B0F3DF0B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B17C543-E8F4-648D-A48E-21BF02CE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3D0D89CA-1BE6-54CF-90D8-A5D26B37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8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F2B181-1158-DF4E-3268-14A8DCE01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36E6CE1-B053-BAFC-12F0-7E339771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DDB2870-2295-B4AD-0AA5-E3E6F82D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8E9AA7C-6AF5-B37A-1BC5-421280A8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15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4B682C7-9FEC-6455-A5F4-1A9AA892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6D9F574-7A78-722E-0197-963029B5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EE04A49-9304-CC23-EA38-9123A92C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1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11109EF-77F0-3E2D-0369-FD3B5AA7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E30273A-1369-1256-B7DD-FBB0948D0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17B0D9A-90BC-BAE2-EB9B-BABE0F19E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50D76EC-7674-34FE-B47E-D18E33109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9297A0F-18C3-4522-1D02-A7C8F6497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6BB9063-0F08-07B9-86E7-836D8017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2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01CCEB6-F0FE-C7E0-677F-7CDD1A3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5149D6E-9238-E1F2-712B-9A8002577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30C8084-2C28-FF2B-6CC3-481E049B8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E7D7A1B-F1D6-3D20-3552-9ADC7FF9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A61916E-0229-61E6-CF56-CA736F5A3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374C571-23DA-2B3C-D6D8-A71D4F59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08213D-90C6-8FC2-B160-8217EEB13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EF06B53-8D2B-7FEB-3DBC-93099CECC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BEE4454-40F8-DE17-9E59-BF68BDB0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3C28410-FAE6-CD68-A522-E7B194CE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3239542-D2BA-2E35-FF71-E95B1EBB2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57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14C5EAF-7089-69B0-9718-4E31C3FFF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40C4BB9-5058-D4E4-6B88-D24D1AB93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1497241-D5FE-4E89-EBFD-66093796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161DD49-445C-9186-72DD-169092B6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F1A0947-8433-F987-DA9C-1BC83BC12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2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B5AEA819-F60B-9E2C-6941-E55D86607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8FE64BF-FFD9-AC6F-BEA0-283C50F97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BFDC19D-19D0-408A-9934-871B17CB4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0865B-0764-4D4E-9863-F1ABAFEFCDE8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673C9B1-FC99-21F7-ADAE-7241573BB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F203079-3390-62B9-E73F-FD2665F4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66C19-1B80-428F-9192-B4DAA85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5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9" name="Freeform: Shape 1038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41" name="Freeform: Shape 1040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1F3F771-C887-5535-D1D0-564AF82DA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098" y="1106034"/>
            <a:ext cx="5019074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/>
            <a:r>
              <a:rPr lang="en-US" sz="5000" dirty="0"/>
              <a:t>Introduction to Backend Development with Node.js &amp; Express</a:t>
            </a:r>
          </a:p>
        </p:txBody>
      </p:sp>
      <p:sp>
        <p:nvSpPr>
          <p:cNvPr id="4" name="כותרת 1">
            <a:extLst>
              <a:ext uri="{FF2B5EF4-FFF2-40B4-BE49-F238E27FC236}">
                <a16:creationId xmlns:a16="http://schemas.microsoft.com/office/drawing/2014/main" id="{A0388FEC-EB37-1AFD-2419-04497D73E924}"/>
              </a:ext>
            </a:extLst>
          </p:cNvPr>
          <p:cNvSpPr txBox="1">
            <a:spLocks/>
          </p:cNvSpPr>
          <p:nvPr/>
        </p:nvSpPr>
        <p:spPr>
          <a:xfrm>
            <a:off x="494124" y="4872922"/>
            <a:ext cx="5013698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>
              <a:spcBef>
                <a:spcPts val="1000"/>
              </a:spcBef>
            </a:pPr>
            <a:r>
              <a:rPr lang="en-US" sz="2800" dirty="0">
                <a:latin typeface="+mn-lt"/>
                <a:ea typeface="+mn-ea"/>
                <a:cs typeface="+mn-cs"/>
              </a:rPr>
              <a:t>A Guide to Building APIs and Server-Side Applications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32" name="Picture 8" descr="Express js Icons, Logos, Symbols – Free Download PNG, SVG">
            <a:extLst>
              <a:ext uri="{FF2B5EF4-FFF2-40B4-BE49-F238E27FC236}">
                <a16:creationId xmlns:a16="http://schemas.microsoft.com/office/drawing/2014/main" id="{7E5E82CB-0579-33BD-48AD-116B91649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67832" y="685801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Rectangle 10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תמונה שמכילה צילום מסך, גרפיקה, עיצוב&#10;&#10;התיאור נוצר באופן אוטומטי">
            <a:extLst>
              <a:ext uri="{FF2B5EF4-FFF2-40B4-BE49-F238E27FC236}">
                <a16:creationId xmlns:a16="http://schemas.microsoft.com/office/drawing/2014/main" id="{73702D55-FDD0-0C18-D6BD-6929341A7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00085" y="3428999"/>
            <a:ext cx="4478693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03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8B464-0069-D18D-02DA-42D92861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C4C22C0-9352-35F6-DD67-B66452E38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/>
            <a:r>
              <a:rPr lang="en-US" sz="5400" dirty="0"/>
              <a:t>The Role of Node.js in Web Development</a:t>
            </a:r>
          </a:p>
        </p:txBody>
      </p:sp>
      <p:sp>
        <p:nvSpPr>
          <p:cNvPr id="206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A47F644A-3088-0D22-32F3-E2B857108E14}"/>
              </a:ext>
            </a:extLst>
          </p:cNvPr>
          <p:cNvGrpSpPr/>
          <p:nvPr/>
        </p:nvGrpSpPr>
        <p:grpSpPr>
          <a:xfrm>
            <a:off x="6819900" y="1008240"/>
            <a:ext cx="5058156" cy="4696287"/>
            <a:chOff x="7863840" y="1008241"/>
            <a:chExt cx="4014216" cy="3727032"/>
          </a:xfrm>
        </p:grpSpPr>
        <p:pic>
          <p:nvPicPr>
            <p:cNvPr id="2052" name="Picture 4" descr="תמונה שמכילה טקסט, צילום מסך, תרשים, גופן&#10;&#10;התיאור נוצר באופן אוטומטי">
              <a:extLst>
                <a:ext uri="{FF2B5EF4-FFF2-40B4-BE49-F238E27FC236}">
                  <a16:creationId xmlns:a16="http://schemas.microsoft.com/office/drawing/2014/main" id="{9713B1AD-6186-3572-5605-C1259D1D1E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863840" y="1008241"/>
              <a:ext cx="4014216" cy="20718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קבוצה 5">
              <a:extLst>
                <a:ext uri="{FF2B5EF4-FFF2-40B4-BE49-F238E27FC236}">
                  <a16:creationId xmlns:a16="http://schemas.microsoft.com/office/drawing/2014/main" id="{0407E51D-3C4B-1B16-D019-C98814D2A175}"/>
                </a:ext>
              </a:extLst>
            </p:cNvPr>
            <p:cNvGrpSpPr/>
            <p:nvPr/>
          </p:nvGrpSpPr>
          <p:grpSpPr>
            <a:xfrm>
              <a:off x="8738315" y="3441396"/>
              <a:ext cx="2265265" cy="1293877"/>
              <a:chOff x="7103289" y="5283197"/>
              <a:chExt cx="1917342" cy="1095150"/>
            </a:xfrm>
          </p:grpSpPr>
          <p:pic>
            <p:nvPicPr>
              <p:cNvPr id="2056" name="Picture 8" descr="Linkedin - Free social media icons">
                <a:extLst>
                  <a:ext uri="{FF2B5EF4-FFF2-40B4-BE49-F238E27FC236}">
                    <a16:creationId xmlns:a16="http://schemas.microsoft.com/office/drawing/2014/main" id="{D6EE97C4-255B-B528-DE5A-94A1CC43CF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87949" y="5283197"/>
                <a:ext cx="532682" cy="5326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8" name="Picture 10" descr="תמונה שמכילה שחור, חשיכה&#10;&#10;התיאור נוצר באופן אוטומטי">
                <a:extLst>
                  <a:ext uri="{FF2B5EF4-FFF2-40B4-BE49-F238E27FC236}">
                    <a16:creationId xmlns:a16="http://schemas.microsoft.com/office/drawing/2014/main" id="{A5A94D62-07B0-2F28-DB96-911ED20F3B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03289" y="5340936"/>
                <a:ext cx="1189812" cy="4172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60" name="Picture 12" descr="תמונה שמכילה גרפיקה, עיצוב גרפי, גופן, אדום&#10;&#10;התיאור נוצר באופן אוטומטי">
                <a:extLst>
                  <a:ext uri="{FF2B5EF4-FFF2-40B4-BE49-F238E27FC236}">
                    <a16:creationId xmlns:a16="http://schemas.microsoft.com/office/drawing/2014/main" id="{82D00F05-4C6F-BF16-4E87-1FFEC2949E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90070" y="6034802"/>
                <a:ext cx="1270000" cy="3435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4" name="כותרת 1">
            <a:extLst>
              <a:ext uri="{FF2B5EF4-FFF2-40B4-BE49-F238E27FC236}">
                <a16:creationId xmlns:a16="http://schemas.microsoft.com/office/drawing/2014/main" id="{DC3F74A0-EF10-E640-8364-1A2DB3621BC2}"/>
              </a:ext>
            </a:extLst>
          </p:cNvPr>
          <p:cNvSpPr txBox="1">
            <a:spLocks/>
          </p:cNvSpPr>
          <p:nvPr/>
        </p:nvSpPr>
        <p:spPr>
          <a:xfrm>
            <a:off x="640080" y="2706624"/>
            <a:ext cx="6991640" cy="34838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>
              <a:lnSpc>
                <a:spcPct val="110000"/>
              </a:lnSpc>
              <a:spcBef>
                <a:spcPts val="0"/>
              </a:spcBef>
            </a:pPr>
            <a:r>
              <a:rPr lang="en-US" sz="2100" b="1" dirty="0">
                <a:latin typeface="+mn-lt"/>
                <a:ea typeface="+mn-ea"/>
                <a:cs typeface="+mn-cs"/>
              </a:rPr>
              <a:t>What is Node.js?</a:t>
            </a:r>
          </a:p>
          <a:p>
            <a:pPr marL="285750" indent="-285750" algn="l" rtl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A JavaScript runtime built on Chrome’s V8 engine, allowing JavaScript to run on the server.</a:t>
            </a:r>
          </a:p>
          <a:p>
            <a:pPr algn="l" rtl="0">
              <a:lnSpc>
                <a:spcPct val="110000"/>
              </a:lnSpc>
              <a:spcBef>
                <a:spcPts val="1000"/>
              </a:spcBef>
            </a:pPr>
            <a:r>
              <a:rPr lang="en-US" sz="2200" b="1" dirty="0">
                <a:latin typeface="+mn-lt"/>
                <a:ea typeface="+mn-ea"/>
                <a:cs typeface="+mn-cs"/>
              </a:rPr>
              <a:t>Key Features:</a:t>
            </a:r>
          </a:p>
          <a:p>
            <a:pPr marL="285750" marR="0" lvl="0" indent="-28575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n-lt"/>
                <a:ea typeface="+mn-ea"/>
                <a:cs typeface="+mn-cs"/>
              </a:rPr>
              <a:t>Non-blocking I/O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  <a:ea typeface="+mn-ea"/>
                <a:cs typeface="+mn-cs"/>
              </a:rPr>
              <a:t>: Lets multiple I/O operations happen simultaneously.</a:t>
            </a:r>
          </a:p>
          <a:p>
            <a:pPr marL="285750" marR="0" lvl="0" indent="-28575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n-lt"/>
                <a:ea typeface="+mn-ea"/>
                <a:cs typeface="+mn-cs"/>
              </a:rPr>
              <a:t>Single-threaded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  <a:ea typeface="+mn-ea"/>
                <a:cs typeface="+mn-cs"/>
              </a:rPr>
              <a:t>: Node uses one thread to manage multiple requests with minimal resources.</a:t>
            </a:r>
          </a:p>
          <a:p>
            <a:pPr marL="285750" marR="0" lvl="0" indent="-28575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+mn-lt"/>
                <a:ea typeface="+mn-ea"/>
                <a:cs typeface="+mn-cs"/>
              </a:rPr>
              <a:t>Asynchronous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n-lt"/>
                <a:ea typeface="+mn-ea"/>
                <a:cs typeface="+mn-cs"/>
              </a:rPr>
              <a:t>: Tasks run without blocking each other, making it highly efficient. </a:t>
            </a:r>
          </a:p>
          <a:p>
            <a:pPr marR="0" lvl="0"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800" dirty="0">
              <a:latin typeface="+mn-lt"/>
              <a:ea typeface="+mn-ea"/>
              <a:cs typeface="+mn-cs"/>
            </a:endParaRPr>
          </a:p>
          <a:p>
            <a:pPr algn="l" rtl="0">
              <a:lnSpc>
                <a:spcPct val="110000"/>
              </a:lnSpc>
              <a:spcBef>
                <a:spcPts val="0"/>
              </a:spcBef>
            </a:pPr>
            <a:r>
              <a:rPr lang="en-US" sz="2100" b="1" dirty="0">
                <a:latin typeface="+mn-lt"/>
                <a:ea typeface="+mn-ea"/>
                <a:cs typeface="+mn-cs"/>
              </a:rPr>
              <a:t>Why Node.js?</a:t>
            </a:r>
          </a:p>
          <a:p>
            <a:pPr marL="285750" indent="-285750" algn="l" rtl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It’s fast, efficient, and well-suited for real-time applications.</a:t>
            </a:r>
          </a:p>
          <a:p>
            <a:pPr algn="l" rtl="0">
              <a:lnSpc>
                <a:spcPct val="110000"/>
              </a:lnSpc>
              <a:spcBef>
                <a:spcPts val="1000"/>
              </a:spcBef>
            </a:pPr>
            <a:r>
              <a:rPr lang="en-US" sz="2100" b="1" dirty="0">
                <a:latin typeface="+mn-lt"/>
                <a:ea typeface="+mn-ea"/>
                <a:cs typeface="+mn-cs"/>
              </a:rPr>
              <a:t>Use Cases:</a:t>
            </a:r>
          </a:p>
          <a:p>
            <a:pPr marL="285750" indent="-285750" algn="l" rtl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Powering parts of applications at companies like Netflix, LinkedIn, and Uber.</a:t>
            </a:r>
          </a:p>
        </p:txBody>
      </p:sp>
    </p:spTree>
    <p:extLst>
      <p:ext uri="{BB962C8B-B14F-4D97-AF65-F5344CB8AC3E}">
        <p14:creationId xmlns:p14="http://schemas.microsoft.com/office/powerpoint/2010/main" val="132451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8D561-961F-3812-28EA-964C5AA1D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6" name="Rectangle 309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08371B1-1F47-318A-5338-D3263F28F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/>
            <a:r>
              <a:rPr lang="en-US" sz="4600"/>
              <a:t>Understanding the Request-Response Cycle in HTTP</a:t>
            </a:r>
          </a:p>
        </p:txBody>
      </p:sp>
      <p:sp>
        <p:nvSpPr>
          <p:cNvPr id="309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141435F-8C07-FF6F-CB21-E6A922BA7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93" y="2071316"/>
            <a:ext cx="4618632" cy="41191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lvl="0" algn="l" rtl="0" fontAlgn="base">
              <a:lnSpc>
                <a:spcPct val="90000"/>
              </a:lnSpc>
              <a:spcAft>
                <a:spcPts val="600"/>
              </a:spcAft>
            </a:pPr>
            <a:r>
              <a:rPr lang="en-US" altLang="en-US" b="1" dirty="0"/>
              <a:t>What is HTTP?</a:t>
            </a:r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500" dirty="0"/>
              <a:t>A protocol for transferring data on the web, based on a request-response model.</a:t>
            </a:r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1200" dirty="0"/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/>
              <a:t>Request Structure:</a:t>
            </a:r>
          </a:p>
          <a:p>
            <a:pPr algn="l" rtl="0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sz="1500" dirty="0"/>
              <a:t>Contains </a:t>
            </a:r>
            <a:r>
              <a:rPr lang="en-US" altLang="en-US" sz="1500" b="1" dirty="0"/>
              <a:t>method</a:t>
            </a:r>
            <a:r>
              <a:rPr lang="en-US" altLang="en-US" sz="1500" dirty="0"/>
              <a:t> (e.g., GET, POST), </a:t>
            </a:r>
            <a:r>
              <a:rPr lang="en-US" altLang="en-US" sz="1500" b="1" dirty="0"/>
              <a:t>headers</a:t>
            </a:r>
            <a:r>
              <a:rPr lang="en-US" altLang="en-US" sz="1500" dirty="0"/>
              <a:t> (metadata), </a:t>
            </a:r>
            <a:r>
              <a:rPr lang="en-US" altLang="en-US" sz="1500" b="1" dirty="0"/>
              <a:t>URL</a:t>
            </a:r>
            <a:r>
              <a:rPr lang="en-US" altLang="en-US" sz="1500" dirty="0"/>
              <a:t>, and sometimes a </a:t>
            </a:r>
            <a:r>
              <a:rPr lang="en-US" altLang="en-US" sz="1500" b="1" dirty="0"/>
              <a:t>body</a:t>
            </a:r>
            <a:r>
              <a:rPr lang="en-US" altLang="en-US" sz="1500" dirty="0"/>
              <a:t>.</a:t>
            </a:r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1200" b="1" dirty="0"/>
          </a:p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/>
              <a:t>Response Structure:</a:t>
            </a:r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500" dirty="0"/>
              <a:t>Includes </a:t>
            </a:r>
            <a:r>
              <a:rPr lang="en-US" altLang="en-US" sz="1500" b="1" dirty="0"/>
              <a:t>status code </a:t>
            </a:r>
            <a:r>
              <a:rPr lang="en-US" altLang="en-US" sz="1500" dirty="0"/>
              <a:t>(e.g., 200 OK, 404 Not Found), </a:t>
            </a:r>
            <a:r>
              <a:rPr lang="en-US" altLang="en-US" sz="1500" b="1" dirty="0"/>
              <a:t>headers</a:t>
            </a:r>
            <a:r>
              <a:rPr lang="en-US" altLang="en-US" sz="1500" dirty="0"/>
              <a:t>, and a </a:t>
            </a:r>
            <a:r>
              <a:rPr lang="en-US" altLang="en-US" sz="1500" b="1" dirty="0"/>
              <a:t>body</a:t>
            </a:r>
            <a:r>
              <a:rPr lang="en-US" altLang="en-US" sz="1500" dirty="0"/>
              <a:t> with data sent back to the client.</a:t>
            </a:r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1200" b="1" dirty="0"/>
          </a:p>
          <a:p>
            <a:pPr lvl="0" algn="l" rtl="0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/>
              <a:t>HTTP Methods:</a:t>
            </a:r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500" b="1" dirty="0"/>
              <a:t>GET: </a:t>
            </a:r>
            <a:r>
              <a:rPr lang="en-US" altLang="en-US" sz="1500" dirty="0"/>
              <a:t>Retrieves data.</a:t>
            </a:r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500" b="1" dirty="0"/>
              <a:t>POST: </a:t>
            </a:r>
            <a:r>
              <a:rPr lang="en-US" altLang="en-US" sz="1500" dirty="0"/>
              <a:t>Adds new data.</a:t>
            </a:r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500" b="1" dirty="0"/>
              <a:t>PUT: </a:t>
            </a:r>
            <a:r>
              <a:rPr lang="en-US" altLang="en-US" sz="1500" dirty="0"/>
              <a:t>Updates existing data.</a:t>
            </a:r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500" b="1" dirty="0"/>
              <a:t>DELETE: </a:t>
            </a:r>
            <a:r>
              <a:rPr lang="en-US" altLang="en-US" sz="1500" dirty="0"/>
              <a:t>Removes data.</a:t>
            </a:r>
          </a:p>
        </p:txBody>
      </p:sp>
      <p:pic>
        <p:nvPicPr>
          <p:cNvPr id="3083" name="Picture 11">
            <a:extLst>
              <a:ext uri="{FF2B5EF4-FFF2-40B4-BE49-F238E27FC236}">
                <a16:creationId xmlns:a16="http://schemas.microsoft.com/office/drawing/2014/main" id="{B7915EED-6854-00C2-CBB7-A34E2F0D5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651" y="2418882"/>
            <a:ext cx="5567362" cy="3666312"/>
          </a:xfrm>
          <a:prstGeom prst="roundRect">
            <a:avLst>
              <a:gd name="adj" fmla="val 3085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819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57314-9DED-7CE1-AB0F-A4D3D184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5" name="Rectangle 412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7B70A0B-CF63-F1D2-C875-5C002641A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/>
            <a:r>
              <a:rPr lang="en-US" sz="5400"/>
              <a:t>What is an API?</a:t>
            </a:r>
          </a:p>
        </p:txBody>
      </p:sp>
      <p:sp>
        <p:nvSpPr>
          <p:cNvPr id="412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FBBA732-EA52-6AD2-7220-4B7338724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93" y="2071316"/>
            <a:ext cx="6713552" cy="41191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0" algn="l" rtl="0" fontAlgn="base"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API Definition</a:t>
            </a:r>
            <a:r>
              <a:rPr lang="en-US" sz="1700" dirty="0"/>
              <a:t>:</a:t>
            </a:r>
          </a:p>
          <a:p>
            <a:pPr lvl="0" algn="l" rtl="0" fontAlgn="base">
              <a:lnSpc>
                <a:spcPct val="90000"/>
              </a:lnSpc>
              <a:spcAft>
                <a:spcPts val="600"/>
              </a:spcAft>
            </a:pPr>
            <a:r>
              <a:rPr lang="en-US" altLang="en-US" sz="1700" dirty="0"/>
              <a:t>An API (Application Programming Interface) enables communication between two applications, allowing the client and server to interact.</a:t>
            </a:r>
          </a:p>
          <a:p>
            <a:pPr lvl="0" algn="l" rtl="0" fontAlgn="base">
              <a:lnSpc>
                <a:spcPct val="90000"/>
              </a:lnSpc>
              <a:spcAft>
                <a:spcPts val="600"/>
              </a:spcAft>
            </a:pPr>
            <a:endParaRPr lang="en-US" altLang="en-US" sz="1700" dirty="0"/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b="1" dirty="0"/>
              <a:t>REST API Basics:</a:t>
            </a:r>
          </a:p>
          <a:p>
            <a:pPr marL="342900" lvl="0" indent="-28575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700" b="1" dirty="0"/>
              <a:t>Stateless:</a:t>
            </a:r>
            <a:r>
              <a:rPr lang="en-US" altLang="en-US" sz="1700" dirty="0"/>
              <a:t> Each request contains all information needed to process it, with no session-based data stored on the server.</a:t>
            </a:r>
          </a:p>
          <a:p>
            <a:pPr marL="342900" lvl="0" indent="-28575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700" b="1" dirty="0"/>
              <a:t>Resource-Based: </a:t>
            </a:r>
            <a:r>
              <a:rPr lang="en-US" altLang="en-US" sz="1700" dirty="0"/>
              <a:t>APIs are organized around resources (like users, products).</a:t>
            </a:r>
          </a:p>
          <a:p>
            <a:pPr marL="342900" lvl="0" indent="-28575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700" b="1" dirty="0"/>
              <a:t>HTTP Methods: </a:t>
            </a:r>
            <a:r>
              <a:rPr lang="en-US" altLang="en-US" sz="1700" dirty="0"/>
              <a:t>REST APIs use HTTP methods to operate on resources. </a:t>
            </a:r>
          </a:p>
          <a:p>
            <a:pPr lvl="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en-US" sz="1700" b="1" dirty="0"/>
          </a:p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1700" b="1" dirty="0"/>
              <a:t>CRUD Operations:</a:t>
            </a:r>
          </a:p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b="1" dirty="0"/>
              <a:t>Create</a:t>
            </a:r>
            <a:r>
              <a:rPr lang="en-US" sz="1700" dirty="0"/>
              <a:t> (POST), </a:t>
            </a:r>
            <a:r>
              <a:rPr lang="en-US" sz="1700" b="1" dirty="0"/>
              <a:t>Read</a:t>
            </a:r>
            <a:r>
              <a:rPr lang="en-US" sz="1700" dirty="0"/>
              <a:t> (GET), </a:t>
            </a:r>
            <a:r>
              <a:rPr lang="en-US" sz="1700" b="1" dirty="0"/>
              <a:t>Update</a:t>
            </a:r>
            <a:r>
              <a:rPr lang="en-US" sz="1700" dirty="0"/>
              <a:t> (PUT), and </a:t>
            </a:r>
            <a:r>
              <a:rPr lang="en-US" sz="1700" b="1" dirty="0"/>
              <a:t>Delete</a:t>
            </a:r>
            <a:r>
              <a:rPr lang="en-US" sz="1700" dirty="0"/>
              <a:t> (DELETE).</a:t>
            </a:r>
            <a:endParaRPr lang="en-US" altLang="en-US" sz="1700" b="1" dirty="0"/>
          </a:p>
        </p:txBody>
      </p:sp>
      <p:pic>
        <p:nvPicPr>
          <p:cNvPr id="4101" name="Picture 5" descr="REST API Basics - 4 Things you Need to Know">
            <a:extLst>
              <a:ext uri="{FF2B5EF4-FFF2-40B4-BE49-F238E27FC236}">
                <a16:creationId xmlns:a16="http://schemas.microsoft.com/office/drawing/2014/main" id="{381DA50A-CA81-9D83-DB4D-5CDAAE65B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53" r="10227" b="4"/>
          <a:stretch/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55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2E53D-968C-1363-1B2F-4FBFAF77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A5874E8-B9BF-4E32-2499-3963A83FB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/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Setting Up an Express App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789784EF-7996-4719-9B16-C00E0C792B85}"/>
              </a:ext>
            </a:extLst>
          </p:cNvPr>
          <p:cNvSpPr txBox="1"/>
          <p:nvPr/>
        </p:nvSpPr>
        <p:spPr>
          <a:xfrm>
            <a:off x="630936" y="2807208"/>
            <a:ext cx="3890264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What is Express.js?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A minimal and flexible Node.js web application framework.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Designed to simplify the process of building web applications and APIs. 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Key Features of Express.js</a:t>
            </a:r>
            <a:r>
              <a:rPr lang="en-US" sz="1600" dirty="0"/>
              <a:t>: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Middleware Support</a:t>
            </a:r>
            <a:r>
              <a:rPr lang="en-US" sz="1400" dirty="0"/>
              <a:t>: Easily handle requests and responses through middleware functions.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Routing</a:t>
            </a:r>
            <a:r>
              <a:rPr lang="en-US" sz="1400" dirty="0"/>
              <a:t>: Powerful routing capabilities for managing different HTTP methods and URL paths.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Error Handling</a:t>
            </a:r>
            <a:r>
              <a:rPr lang="en-US" sz="1400" dirty="0"/>
              <a:t>: Simplified error handling mechanisms</a:t>
            </a:r>
          </a:p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61FAEF09-86B7-2485-5A57-38504777F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9" y="2177701"/>
            <a:ext cx="6903720" cy="2502598"/>
          </a:xfrm>
          <a:prstGeom prst="roundRect">
            <a:avLst>
              <a:gd name="adj" fmla="val 3980"/>
            </a:avLst>
          </a:prstGeom>
        </p:spPr>
      </p:pic>
    </p:spTree>
    <p:extLst>
      <p:ext uri="{BB962C8B-B14F-4D97-AF65-F5344CB8AC3E}">
        <p14:creationId xmlns:p14="http://schemas.microsoft.com/office/powerpoint/2010/main" val="2494975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DB265-DD76-497D-E160-494B65161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A45D0F6-437B-60A8-6607-11EF9F2AA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/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Defining Routes in Express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4816D016-5765-F7F5-BB33-9743DE909596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What are Routes?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Routes specify how an app responds to different HTTP requests at specific endpoints (URLs).</a:t>
            </a:r>
          </a:p>
          <a:p>
            <a:pPr marL="0" marR="0" lvl="0" indent="-228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E14911F8-1103-599A-728A-DB66D4F233E8}"/>
              </a:ext>
            </a:extLst>
          </p:cNvPr>
          <p:cNvGrpSpPr/>
          <p:nvPr/>
        </p:nvGrpSpPr>
        <p:grpSpPr>
          <a:xfrm>
            <a:off x="6089269" y="625683"/>
            <a:ext cx="5033517" cy="5551279"/>
            <a:chOff x="5685536" y="902208"/>
            <a:chExt cx="4882104" cy="5384292"/>
          </a:xfrm>
        </p:grpSpPr>
        <p:sp>
          <p:nvSpPr>
            <p:cNvPr id="5" name="תיבת טקסט 4">
              <a:extLst>
                <a:ext uri="{FF2B5EF4-FFF2-40B4-BE49-F238E27FC236}">
                  <a16:creationId xmlns:a16="http://schemas.microsoft.com/office/drawing/2014/main" id="{4B1D3754-94D2-A6C1-CD60-153F45E7903C}"/>
                </a:ext>
              </a:extLst>
            </p:cNvPr>
            <p:cNvSpPr txBox="1"/>
            <p:nvPr/>
          </p:nvSpPr>
          <p:spPr>
            <a:xfrm>
              <a:off x="5685536" y="902208"/>
              <a:ext cx="4626864" cy="32969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/>
            <a:p>
              <a:pPr algn="l" defTabSz="941832" rtl="0">
                <a:lnSpc>
                  <a:spcPct val="90000"/>
                </a:lnSpc>
                <a:spcAft>
                  <a:spcPts val="618"/>
                </a:spcAft>
              </a:pPr>
              <a:r>
                <a:rPr lang="en-US" sz="309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Creating Basic Routes</a:t>
              </a:r>
              <a:endParaRPr kumimoji="0" lang="en-US" altLang="en-US" sz="3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7" name="תמונה 6" descr="תמונה שמכילה טקסט, צילום מסך, תוכנה, מערכת הפעלה&#10;&#10;התיאור נוצר באופן אוטומטי">
              <a:extLst>
                <a:ext uri="{FF2B5EF4-FFF2-40B4-BE49-F238E27FC236}">
                  <a16:creationId xmlns:a16="http://schemas.microsoft.com/office/drawing/2014/main" id="{64EE6467-B23E-82AE-F1AF-950D9839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3156" y="1549400"/>
              <a:ext cx="4754484" cy="4737100"/>
            </a:xfrm>
            <a:prstGeom prst="roundRect">
              <a:avLst>
                <a:gd name="adj" fmla="val 2963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3327456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F239-2345-26F9-271E-9BDF3C184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כותרת 16">
            <a:extLst>
              <a:ext uri="{FF2B5EF4-FFF2-40B4-BE49-F238E27FC236}">
                <a16:creationId xmlns:a16="http://schemas.microsoft.com/office/drawing/2014/main" id="{E8BDEF49-B33B-C9D8-9888-5222F9690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670218"/>
            <a:ext cx="5457119" cy="3088982"/>
          </a:xfrm>
        </p:spPr>
        <p:txBody>
          <a:bodyPr anchor="t">
            <a:normAutofit/>
          </a:bodyPr>
          <a:lstStyle/>
          <a:p>
            <a:pPr algn="l"/>
            <a:r>
              <a:rPr lang="en-US" sz="4400" kern="1200" dirty="0">
                <a:ea typeface="+mj-ea"/>
                <a:cs typeface="+mj-cs"/>
              </a:rPr>
              <a:t>Introduction to Middleware in Express</a:t>
            </a:r>
            <a:endParaRPr lang="en-US" sz="4400" dirty="0"/>
          </a:p>
        </p:txBody>
      </p:sp>
      <p:pic>
        <p:nvPicPr>
          <p:cNvPr id="14" name="תמונה 13" descr="תמונה שמכילה טקסט, צילום מסך, תצוגה, תוכנה&#10;&#10;התיאור נוצר באופן אוטומטי">
            <a:extLst>
              <a:ext uri="{FF2B5EF4-FFF2-40B4-BE49-F238E27FC236}">
                <a16:creationId xmlns:a16="http://schemas.microsoft.com/office/drawing/2014/main" id="{B92787A6-5E52-2241-9B53-9919E653F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81" y="2274913"/>
            <a:ext cx="4637040" cy="4057409"/>
          </a:xfrm>
          <a:prstGeom prst="roundRect">
            <a:avLst>
              <a:gd name="adj" fmla="val 2830"/>
            </a:avLst>
          </a:prstGeom>
        </p:spPr>
      </p:pic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EBE79030-53DD-0ADC-045A-C2035A03FDA5}"/>
              </a:ext>
            </a:extLst>
          </p:cNvPr>
          <p:cNvGrpSpPr/>
          <p:nvPr/>
        </p:nvGrpSpPr>
        <p:grpSpPr>
          <a:xfrm>
            <a:off x="6286005" y="670218"/>
            <a:ext cx="3758184" cy="2809069"/>
            <a:chOff x="630936" y="2819908"/>
            <a:chExt cx="3890264" cy="2907792"/>
          </a:xfrm>
        </p:grpSpPr>
        <p:sp>
          <p:nvSpPr>
            <p:cNvPr id="9" name="תיבת טקסט 8">
              <a:extLst>
                <a:ext uri="{FF2B5EF4-FFF2-40B4-BE49-F238E27FC236}">
                  <a16:creationId xmlns:a16="http://schemas.microsoft.com/office/drawing/2014/main" id="{49F1568C-B1D3-DD14-83C5-9C9B84F3E6E7}"/>
                </a:ext>
              </a:extLst>
            </p:cNvPr>
            <p:cNvSpPr txBox="1"/>
            <p:nvPr/>
          </p:nvSpPr>
          <p:spPr>
            <a:xfrm>
              <a:off x="630936" y="2819908"/>
              <a:ext cx="3890264" cy="290779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/>
            <a:p>
              <a:pPr algn="l" defTabSz="873069" rtl="0">
                <a:lnSpc>
                  <a:spcPct val="90000"/>
                </a:lnSpc>
                <a:spcAft>
                  <a:spcPts val="573"/>
                </a:spcAft>
              </a:pPr>
              <a:r>
                <a:rPr lang="en-US" sz="1528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What is Middleware?</a:t>
              </a:r>
            </a:p>
            <a:p>
              <a:pPr algn="l" defTabSz="873069" rtl="0">
                <a:lnSpc>
                  <a:spcPct val="90000"/>
                </a:lnSpc>
                <a:spcAft>
                  <a:spcPts val="573"/>
                </a:spcAft>
              </a:pPr>
              <a:r>
                <a:rPr lang="en-US" sz="1337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Middleware functions can process requests before they reach the route handler. They have access to req, res, and a next function.</a:t>
              </a:r>
            </a:p>
            <a:p>
              <a:pPr algn="l" defTabSz="873069" rtl="0">
                <a:lnSpc>
                  <a:spcPct val="90000"/>
                </a:lnSpc>
                <a:spcAft>
                  <a:spcPts val="573"/>
                </a:spcAft>
              </a:pPr>
              <a:endParaRPr lang="en-US" sz="1337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algn="l" defTabSz="873069" rtl="0">
                <a:lnSpc>
                  <a:spcPct val="90000"/>
                </a:lnSpc>
                <a:spcAft>
                  <a:spcPts val="573"/>
                </a:spcAft>
              </a:pPr>
              <a:r>
                <a:rPr lang="en-US" sz="1528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Common Uses:</a:t>
              </a:r>
            </a:p>
            <a:p>
              <a:pPr algn="l" defTabSz="873069" rtl="0">
                <a:lnSpc>
                  <a:spcPct val="90000"/>
                </a:lnSpc>
                <a:spcAft>
                  <a:spcPts val="573"/>
                </a:spcAft>
              </a:pPr>
              <a:r>
                <a:rPr lang="en-US" sz="1337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Logging requests, parsing JSON, and validating data.</a:t>
              </a:r>
            </a:p>
            <a:p>
              <a:pPr algn="l" defTabSz="873069" rtl="0">
                <a:lnSpc>
                  <a:spcPct val="90000"/>
                </a:lnSpc>
                <a:spcAft>
                  <a:spcPts val="573"/>
                </a:spcAft>
              </a:pPr>
              <a:endParaRPr lang="en-US" sz="1337" kern="1200" dirty="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algn="l" defTabSz="873069" rtl="0">
                <a:lnSpc>
                  <a:spcPct val="90000"/>
                </a:lnSpc>
                <a:spcAft>
                  <a:spcPts val="573"/>
                </a:spcAft>
              </a:pPr>
              <a:r>
                <a:rPr lang="en-US" sz="1528" b="1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Built-In Middleware:</a:t>
              </a:r>
            </a:p>
            <a:p>
              <a:pPr algn="l" defTabSz="873069" rtl="0">
                <a:lnSpc>
                  <a:spcPct val="90000"/>
                </a:lnSpc>
                <a:spcAft>
                  <a:spcPts val="573"/>
                </a:spcAft>
              </a:pPr>
              <a:r>
                <a:rPr lang="en-US" altLang="en-US" sz="1337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	              to parse JSON bodies. </a:t>
              </a:r>
              <a:endParaRPr lang="en-US" altLang="en-US" sz="1337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  <a:p>
              <a:pPr algn="l" rtl="0">
                <a:lnSpc>
                  <a:spcPct val="90000"/>
                </a:lnSpc>
                <a:spcAft>
                  <a:spcPts val="600"/>
                </a:spcAft>
              </a:pPr>
              <a:endParaRPr lang="en-US" sz="1400" dirty="0"/>
            </a:p>
          </p:txBody>
        </p:sp>
        <p:sp>
          <p:nvSpPr>
            <p:cNvPr id="8" name="מלבן: פינות מעוגלות 7">
              <a:extLst>
                <a:ext uri="{FF2B5EF4-FFF2-40B4-BE49-F238E27FC236}">
                  <a16:creationId xmlns:a16="http://schemas.microsoft.com/office/drawing/2014/main" id="{48800905-E688-DE91-3FFB-E513E36C3587}"/>
                </a:ext>
              </a:extLst>
            </p:cNvPr>
            <p:cNvSpPr/>
            <p:nvPr/>
          </p:nvSpPr>
          <p:spPr>
            <a:xfrm>
              <a:off x="719836" y="5384800"/>
              <a:ext cx="1350264" cy="2159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73069" rtl="0">
                <a:spcAft>
                  <a:spcPts val="462"/>
                </a:spcAft>
              </a:pPr>
              <a:r>
                <a:rPr lang="en-US" altLang="en-US" sz="1337" kern="1200" err="1">
                  <a:solidFill>
                    <a:schemeClr val="tx1"/>
                  </a:solidFill>
                  <a:latin typeface="Arial Unicode MS" panose="020B0604020202020204" pitchFamily="34" charset="-128"/>
                  <a:ea typeface="+mn-ea"/>
                  <a:cs typeface="+mn-cs"/>
                </a:rPr>
                <a:t>express.json</a:t>
              </a:r>
              <a:r>
                <a:rPr lang="en-US" altLang="en-US" sz="1337" kern="1200">
                  <a:solidFill>
                    <a:schemeClr val="tx1"/>
                  </a:solidFill>
                  <a:latin typeface="Arial Unicode MS" panose="020B0604020202020204" pitchFamily="34" charset="-128"/>
                  <a:ea typeface="+mn-ea"/>
                  <a:cs typeface="+mn-cs"/>
                </a:rPr>
                <a:t>()</a:t>
              </a:r>
              <a:endParaRPr lang="en-US" sz="1400"/>
            </a:p>
          </p:txBody>
        </p:sp>
      </p:grpSp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E111CA51-B64B-5161-178D-49E2D7C0B321}"/>
              </a:ext>
            </a:extLst>
          </p:cNvPr>
          <p:cNvSpPr/>
          <p:nvPr/>
        </p:nvSpPr>
        <p:spPr>
          <a:xfrm>
            <a:off x="6286005" y="3670808"/>
            <a:ext cx="1613053" cy="366905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 /users</a:t>
            </a:r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09C8D4FA-668F-D330-D387-BD11C45D8E99}"/>
              </a:ext>
            </a:extLst>
          </p:cNvPr>
          <p:cNvSpPr/>
          <p:nvPr/>
        </p:nvSpPr>
        <p:spPr>
          <a:xfrm>
            <a:off x="7124562" y="4265155"/>
            <a:ext cx="2210295" cy="36690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Logging function</a:t>
            </a:r>
          </a:p>
        </p:txBody>
      </p:sp>
      <p:sp>
        <p:nvSpPr>
          <p:cNvPr id="5" name="חץ: ימינה 4">
            <a:extLst>
              <a:ext uri="{FF2B5EF4-FFF2-40B4-BE49-F238E27FC236}">
                <a16:creationId xmlns:a16="http://schemas.microsoft.com/office/drawing/2014/main" id="{7886C3B2-C8DF-3B62-197C-E5A2215A8B93}"/>
              </a:ext>
            </a:extLst>
          </p:cNvPr>
          <p:cNvSpPr/>
          <p:nvPr/>
        </p:nvSpPr>
        <p:spPr>
          <a:xfrm rot="2288149">
            <a:off x="7769991" y="4156626"/>
            <a:ext cx="258133" cy="5203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BDA5E680-BC3B-38D9-4A87-FC142F4513BE}"/>
              </a:ext>
            </a:extLst>
          </p:cNvPr>
          <p:cNvSpPr/>
          <p:nvPr/>
        </p:nvSpPr>
        <p:spPr>
          <a:xfrm>
            <a:off x="8229709" y="4911763"/>
            <a:ext cx="2210295" cy="366905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Express.json</a:t>
            </a:r>
            <a:r>
              <a:rPr lang="en-US" dirty="0"/>
              <a:t>()</a:t>
            </a:r>
          </a:p>
        </p:txBody>
      </p:sp>
      <p:sp>
        <p:nvSpPr>
          <p:cNvPr id="7" name="חץ: ימינה 6">
            <a:extLst>
              <a:ext uri="{FF2B5EF4-FFF2-40B4-BE49-F238E27FC236}">
                <a16:creationId xmlns:a16="http://schemas.microsoft.com/office/drawing/2014/main" id="{988AB0FB-6969-B772-BCB4-872E4ECC68B4}"/>
              </a:ext>
            </a:extLst>
          </p:cNvPr>
          <p:cNvSpPr/>
          <p:nvPr/>
        </p:nvSpPr>
        <p:spPr>
          <a:xfrm rot="2288149">
            <a:off x="8833865" y="4745893"/>
            <a:ext cx="258133" cy="5203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109F71A7-E72D-832E-77C6-917AB7D8AA14}"/>
              </a:ext>
            </a:extLst>
          </p:cNvPr>
          <p:cNvSpPr/>
          <p:nvPr/>
        </p:nvSpPr>
        <p:spPr>
          <a:xfrm>
            <a:off x="9515907" y="5617198"/>
            <a:ext cx="2210295" cy="366905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Res.send</a:t>
            </a:r>
            <a:r>
              <a:rPr lang="en-US" dirty="0"/>
              <a:t>(users)</a:t>
            </a:r>
          </a:p>
        </p:txBody>
      </p:sp>
      <p:sp>
        <p:nvSpPr>
          <p:cNvPr id="11" name="חץ: ימינה 10">
            <a:extLst>
              <a:ext uri="{FF2B5EF4-FFF2-40B4-BE49-F238E27FC236}">
                <a16:creationId xmlns:a16="http://schemas.microsoft.com/office/drawing/2014/main" id="{9605A4C2-0643-6737-8A75-0D3149006E8E}"/>
              </a:ext>
            </a:extLst>
          </p:cNvPr>
          <p:cNvSpPr/>
          <p:nvPr/>
        </p:nvSpPr>
        <p:spPr>
          <a:xfrm rot="2288149">
            <a:off x="9976864" y="5421914"/>
            <a:ext cx="258133" cy="5203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50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D77D-AB57-3977-3C3E-64BAF5E2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כותרת 16">
            <a:extLst>
              <a:ext uri="{FF2B5EF4-FFF2-40B4-BE49-F238E27FC236}">
                <a16:creationId xmlns:a16="http://schemas.microsoft.com/office/drawing/2014/main" id="{4F0D00CB-F13C-380A-2F09-FD99017C1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989" y="2987409"/>
            <a:ext cx="8234010" cy="1039666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4000" dirty="0"/>
              <a:t>you’re ready to build your first </a:t>
            </a:r>
            <a:r>
              <a:rPr lang="en-US" sz="4000" dirty="0" err="1"/>
              <a:t>api</a:t>
            </a:r>
            <a:r>
              <a:rPr lang="en-US" sz="4000" dirty="0"/>
              <a:t> 😎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FE36BE18-735F-2674-CAF2-FE3CEE6A3A0D}"/>
              </a:ext>
            </a:extLst>
          </p:cNvPr>
          <p:cNvSpPr txBox="1"/>
          <p:nvPr/>
        </p:nvSpPr>
        <p:spPr>
          <a:xfrm>
            <a:off x="-2506662" y="2987409"/>
            <a:ext cx="6619875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1800" dirty="0"/>
              <a:t>✨</a:t>
            </a:r>
          </a:p>
        </p:txBody>
      </p:sp>
      <p:sp>
        <p:nvSpPr>
          <p:cNvPr id="18" name="כותרת 16">
            <a:extLst>
              <a:ext uri="{FF2B5EF4-FFF2-40B4-BE49-F238E27FC236}">
                <a16:creationId xmlns:a16="http://schemas.microsoft.com/office/drawing/2014/main" id="{B33E6E1B-2390-6F27-C384-728D3FDAB634}"/>
              </a:ext>
            </a:extLst>
          </p:cNvPr>
          <p:cNvSpPr txBox="1">
            <a:spLocks/>
          </p:cNvSpPr>
          <p:nvPr/>
        </p:nvSpPr>
        <p:spPr>
          <a:xfrm>
            <a:off x="1993989" y="2262788"/>
            <a:ext cx="5457119" cy="877741"/>
          </a:xfrm>
          <a:prstGeom prst="rect">
            <a:avLst/>
          </a:prstGeom>
        </p:spPr>
        <p:txBody>
          <a:bodyPr vert="horz" lIns="91440" tIns="45720" rIns="91440" bIns="45720" rtlCol="1" anchor="t">
            <a:normAutofit fontScale="92500"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/>
              <a:t>Congratulations🎊🎇</a:t>
            </a:r>
          </a:p>
        </p:txBody>
      </p:sp>
    </p:spTree>
    <p:extLst>
      <p:ext uri="{BB962C8B-B14F-4D97-AF65-F5344CB8AC3E}">
        <p14:creationId xmlns:p14="http://schemas.microsoft.com/office/powerpoint/2010/main" val="5215989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523</Words>
  <Application>Microsoft Office PowerPoint</Application>
  <PresentationFormat>מסך רחב</PresentationFormat>
  <Paragraphs>70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4" baseType="lpstr">
      <vt:lpstr>Arial Unicode MS</vt:lpstr>
      <vt:lpstr>Aptos</vt:lpstr>
      <vt:lpstr>Aptos Display</vt:lpstr>
      <vt:lpstr>Arial</vt:lpstr>
      <vt:lpstr>Calibri</vt:lpstr>
      <vt:lpstr>ערכת נושא Office</vt:lpstr>
      <vt:lpstr>Introduction to Backend Development with Node.js &amp; Express</vt:lpstr>
      <vt:lpstr>The Role of Node.js in Web Development</vt:lpstr>
      <vt:lpstr>Understanding the Request-Response Cycle in HTTP</vt:lpstr>
      <vt:lpstr>What is an API?</vt:lpstr>
      <vt:lpstr>Setting Up an Express App</vt:lpstr>
      <vt:lpstr>Defining Routes in Express</vt:lpstr>
      <vt:lpstr>Introduction to Middleware in Express</vt:lpstr>
      <vt:lpstr>you’re ready to build your first api 😎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נתנאל סגל</dc:creator>
  <cp:lastModifiedBy>נתנאל סגל</cp:lastModifiedBy>
  <cp:revision>6</cp:revision>
  <dcterms:created xsi:type="dcterms:W3CDTF">2024-11-03T09:05:54Z</dcterms:created>
  <dcterms:modified xsi:type="dcterms:W3CDTF">2024-11-03T17:56:58Z</dcterms:modified>
</cp:coreProperties>
</file>