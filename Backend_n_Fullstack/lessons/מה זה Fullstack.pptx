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61" r:id="rId6"/>
    <p:sldId id="263" r:id="rId7"/>
    <p:sldId id="262" r:id="rId8"/>
    <p:sldId id="264" r:id="rId9"/>
    <p:sldId id="258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E17"/>
    <a:srgbClr val="F36518"/>
    <a:srgbClr val="0F0F0F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1FB279-24A0-9822-31FA-F5C100CDF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4C1C0C1-649B-1FC7-B7BC-5787102BE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E34CABE-87A8-DE3D-30FC-418F8D48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6458707-5F13-CDEC-5076-D4D92B03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08B43E4-8AD7-E5B3-23B0-5F44FDEC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0CD84B-3A59-75EB-EA94-5585120D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1C25844-81C5-E0ED-51EB-AC40E90C1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7880533-A362-CE17-9466-A1223117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45416DB-E423-C3BB-7A4F-2FBC4497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08C335C-DAC3-E00E-4C55-C9AC74C8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B59401-DAA2-15F3-59BD-6B35DDA2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545A162-0124-476F-532C-6C77B88F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EADC872-F95D-1B13-6CD0-30DBE261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3AAB57A-B41A-C6BD-AF42-EECDDECC6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F05768-05E6-8F5E-24EF-3BB6F1DD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6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5FD745-892E-AF4F-100E-539B1D2C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6504973-DB9B-6D17-CD66-FAA6409EE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AB0B9E2-3AC3-F945-BDA5-35D66DDF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0A6C6B0-E2B8-9F46-FCEB-88A64190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CBB1EC5-22C7-1162-C749-BF60D173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B0454F2-2F54-7D33-02AA-FFB9A882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8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538B75-BF2C-C259-F2C8-6F54852A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A60322B-733F-5527-98D9-DA8616B3C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21C2870-D621-A583-EB1A-814F6B92A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10F0D89-E5A3-C5E5-112E-905909A97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EF5AB3B-CFC9-3AED-FB03-54A3050D7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BC596CB-5516-4F33-3DEF-88982CE0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632CBE3-B93A-25CA-AAE9-4B7D27FA5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28ADE2A-266B-8902-CC11-14382A22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01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944ABC-EF48-5CE9-9C04-C1314D82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3459B82-42C2-E310-5B0E-0D83DFA8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C0A6C0E-0642-BB5B-2A1A-3F06A39B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52637D0-EFC1-80CA-D185-D85F42AD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2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A7F56D7-BB68-38A9-E920-B0D5C776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2F6E392-4441-B20E-F81D-A3646B57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F10B826-9444-7588-C797-2B2FA3E5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5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3754D7-3C06-67FA-8CE3-80698831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5C95154-5CAC-6459-9678-2DEEA0CF1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DA78943-C081-C73A-31AC-603210DBA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C8D2FEF-7550-86CE-75E7-5DA33AA4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FDCABE6-D7D9-CED7-FD4B-7545A68A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C0E9B64-E427-0230-1BF4-0ABE187F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3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FA08F3-33A4-AA96-1579-AA1D3CF6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179A7CB-3BE9-9327-BBE3-C47A5526F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CCE70AF-6A59-1A5F-8C02-48F816430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99F7502-EC8F-7A17-62F9-6033F1DC3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35E2937-773D-3478-4B7D-368CBE42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F6FF6A8-5740-8467-FDA8-88CC2CEF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6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9C7A5C-66B1-095A-9F62-52313A1F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B9A667E-A793-876C-A0DF-49CD4BB04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8202A3-3696-8ED9-F915-04E06C04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D52172-5A6C-EB19-4892-060439CE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0C1C89E-FC1A-8386-418B-AE65F50F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5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48801A5-3D20-1477-5854-024D55E33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AA0C396-B443-3292-C3CF-2FA00271D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6AD3538-B358-65B5-FB61-794182C6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5C34AC0-0FBE-A886-4439-812531F40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43A0C2D-9373-1BC3-9299-63BB9D08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2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EC0517A-88B4-26E1-B08F-7EE8A700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68EA09B-B0B4-D7F5-FA81-DF29CE36D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F763C85-5421-4DE3-296A-E234ED7B9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D5272-0B22-4114-8F37-E76948B190DE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9236727-ED50-D989-E4A9-4F54BEAEE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171406-C1D6-9773-1A1D-FDFC4E4DC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5C488-C3E0-4137-8716-F06220F75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2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w3schools.com/html/tryit.asp?filename=tryhtml_defaul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w3schools.com/js/tryit.asp?filename=tryjs_intro_lightbulb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006E5E-2C0B-DFFA-D849-5AC41237F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 fontScale="90000"/>
          </a:bodyPr>
          <a:lstStyle/>
          <a:p>
            <a:r>
              <a:rPr lang="he-IL" sz="8800" b="1" dirty="0">
                <a:latin typeface="+mn-lt"/>
                <a:cs typeface="+mn-cs"/>
              </a:rPr>
              <a:t>מה זה מפתח</a:t>
            </a:r>
            <a:br>
              <a:rPr lang="he-IL" sz="8800" b="1" dirty="0">
                <a:latin typeface="+mn-lt"/>
                <a:cs typeface="+mn-cs"/>
              </a:rPr>
            </a:br>
            <a:r>
              <a:rPr lang="en-US" sz="8800" b="1" dirty="0">
                <a:latin typeface="+mn-lt"/>
                <a:cs typeface="+mn-cs"/>
              </a:rPr>
              <a:t>Full-stack?</a:t>
            </a:r>
          </a:p>
        </p:txBody>
      </p:sp>
    </p:spTree>
    <p:extLst>
      <p:ext uri="{BB962C8B-B14F-4D97-AF65-F5344CB8AC3E}">
        <p14:creationId xmlns:p14="http://schemas.microsoft.com/office/powerpoint/2010/main" val="1985316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51EEEE-98AE-BAF9-E6B3-CCB12E0E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effectLst/>
                <a:latin typeface="Segoe UI" panose="020B0502040204020203" pitchFamily="34" charset="0"/>
              </a:rPr>
              <a:t>Full-stack Web Developer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4284A4-69A4-1113-2331-DB6199C9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7285" y="1432152"/>
            <a:ext cx="8756515" cy="1543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3200" b="1" dirty="0"/>
              <a:t>מפתח שיכול לפתח תוכנת צד לקוח וצד שרת.</a:t>
            </a:r>
            <a:endParaRPr lang="en-US" sz="32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D291FD9-FE00-9528-16EC-7A5A0CB20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3" t="8074" r="14448" b="15030"/>
          <a:stretch/>
        </p:blipFill>
        <p:spPr bwMode="auto">
          <a:xfrm>
            <a:off x="780143" y="2409372"/>
            <a:ext cx="7034057" cy="397782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BE314D9-F75F-91CF-E6A9-95A32D88F24C}"/>
              </a:ext>
            </a:extLst>
          </p:cNvPr>
          <p:cNvSpPr txBox="1"/>
          <p:nvPr/>
        </p:nvSpPr>
        <p:spPr>
          <a:xfrm>
            <a:off x="8599251" y="2239352"/>
            <a:ext cx="2754549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צד לקוח:</a:t>
            </a:r>
          </a:p>
          <a:p>
            <a:r>
              <a:rPr lang="he-IL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באינטרנט, המחשב הביתי מהווה "לקוח" שמקבל את המידע שהגיע מהשרת, ומציג אותו למשתמש באמצעות תוכנה ייעודית, לרוב דפדפן.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58B9A1B-A873-1E8F-6743-2C4709A52AE8}"/>
              </a:ext>
            </a:extLst>
          </p:cNvPr>
          <p:cNvSpPr txBox="1"/>
          <p:nvPr/>
        </p:nvSpPr>
        <p:spPr>
          <a:xfrm>
            <a:off x="8599251" y="4404564"/>
            <a:ext cx="2754549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צד שרת:</a:t>
            </a:r>
          </a:p>
          <a:p>
            <a:r>
              <a:rPr lang="he-IL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בתקשורת נתונים, צד שרת (באנגלית: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server-side</a:t>
            </a:r>
            <a:r>
              <a:rPr lang="he-IL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הוא מונח המתייחס לפעולות המבוצעות על ידי השרת במערכת שרת–לקוח.</a:t>
            </a:r>
          </a:p>
        </p:txBody>
      </p:sp>
    </p:spTree>
    <p:extLst>
      <p:ext uri="{BB962C8B-B14F-4D97-AF65-F5344CB8AC3E}">
        <p14:creationId xmlns:p14="http://schemas.microsoft.com/office/powerpoint/2010/main" val="18411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9C6D0-B4AC-5665-19BC-A0DA2254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A5DCF0E8-32E3-7AEB-766E-1BC5B62FEAC3}"/>
              </a:ext>
            </a:extLst>
          </p:cNvPr>
          <p:cNvGrpSpPr/>
          <p:nvPr/>
        </p:nvGrpSpPr>
        <p:grpSpPr>
          <a:xfrm>
            <a:off x="347734" y="143233"/>
            <a:ext cx="7926853" cy="6179746"/>
            <a:chOff x="3732901" y="266529"/>
            <a:chExt cx="7926853" cy="617974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AF1DA24-3180-1875-7671-0F26F38BD2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60" t="19082" r="15956" b="6325"/>
            <a:stretch/>
          </p:blipFill>
          <p:spPr bwMode="auto">
            <a:xfrm>
              <a:off x="3732901" y="882537"/>
              <a:ext cx="6131427" cy="5563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כותרת 1">
              <a:extLst>
                <a:ext uri="{FF2B5EF4-FFF2-40B4-BE49-F238E27FC236}">
                  <a16:creationId xmlns:a16="http://schemas.microsoft.com/office/drawing/2014/main" id="{134339D8-CDB2-A825-1AD9-194B68CAFBB0}"/>
                </a:ext>
              </a:extLst>
            </p:cNvPr>
            <p:cNvSpPr txBox="1">
              <a:spLocks/>
            </p:cNvSpPr>
            <p:nvPr/>
          </p:nvSpPr>
          <p:spPr>
            <a:xfrm>
              <a:off x="8472872" y="266529"/>
              <a:ext cx="3186882" cy="130647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1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rtl="0">
                <a:spcAft>
                  <a:spcPts val="600"/>
                </a:spcAft>
              </a:pPr>
              <a:r>
                <a:rPr lang="en-US" sz="52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Full-stack:</a:t>
              </a:r>
            </a:p>
          </p:txBody>
        </p:sp>
      </p:grpSp>
      <p:pic>
        <p:nvPicPr>
          <p:cNvPr id="1028" name="Picture 4" descr="Front-end, Back-end and Database-side – The Structure of an App">
            <a:extLst>
              <a:ext uri="{FF2B5EF4-FFF2-40B4-BE49-F238E27FC236}">
                <a16:creationId xmlns:a16="http://schemas.microsoft.com/office/drawing/2014/main" id="{D10B0817-8480-04AC-7BD5-132A55099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208" y="2120994"/>
            <a:ext cx="4760528" cy="306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74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ציין מיקום תוכן 2">
            <a:extLst>
              <a:ext uri="{FF2B5EF4-FFF2-40B4-BE49-F238E27FC236}">
                <a16:creationId xmlns:a16="http://schemas.microsoft.com/office/drawing/2014/main" id="{9F475B3D-273E-7B73-32EE-5FDC24CE87CC}"/>
              </a:ext>
            </a:extLst>
          </p:cNvPr>
          <p:cNvSpPr txBox="1">
            <a:spLocks/>
          </p:cNvSpPr>
          <p:nvPr/>
        </p:nvSpPr>
        <p:spPr>
          <a:xfrm>
            <a:off x="8420879" y="522153"/>
            <a:ext cx="3300984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6000" b="1" dirty="0">
                <a:latin typeface="+mj-lt"/>
                <a:ea typeface="+mj-ea"/>
                <a:cs typeface="+mj-cs"/>
              </a:rPr>
              <a:t>Front-End</a:t>
            </a:r>
          </a:p>
        </p:txBody>
      </p:sp>
      <p:sp>
        <p:nvSpPr>
          <p:cNvPr id="12" name="מציין מיקום תוכן 2">
            <a:extLst>
              <a:ext uri="{FF2B5EF4-FFF2-40B4-BE49-F238E27FC236}">
                <a16:creationId xmlns:a16="http://schemas.microsoft.com/office/drawing/2014/main" id="{E73AA679-214B-1057-EAC8-833A3D0937EA}"/>
              </a:ext>
            </a:extLst>
          </p:cNvPr>
          <p:cNvSpPr txBox="1">
            <a:spLocks/>
          </p:cNvSpPr>
          <p:nvPr/>
        </p:nvSpPr>
        <p:spPr>
          <a:xfrm>
            <a:off x="1074047" y="510047"/>
            <a:ext cx="6858000" cy="1645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החלק</a:t>
            </a:r>
            <a:r>
              <a:rPr lang="en-US" sz="2400" dirty="0"/>
              <a:t> של </a:t>
            </a:r>
            <a:r>
              <a:rPr lang="en-US" sz="2400" dirty="0" err="1"/>
              <a:t>אתר</a:t>
            </a:r>
            <a:r>
              <a:rPr lang="en-US" sz="2400" dirty="0"/>
              <a:t> </a:t>
            </a:r>
            <a:r>
              <a:rPr lang="en-US" sz="2400" dirty="0" err="1"/>
              <a:t>אינטרנט</a:t>
            </a:r>
            <a:r>
              <a:rPr lang="en-US" sz="2400" dirty="0"/>
              <a:t> או </a:t>
            </a:r>
            <a:r>
              <a:rPr lang="en-US" sz="2400" dirty="0" err="1"/>
              <a:t>אפליקציה</a:t>
            </a:r>
            <a:r>
              <a:rPr lang="en-US" sz="2400" dirty="0"/>
              <a:t> ש</a:t>
            </a:r>
            <a:r>
              <a:rPr lang="he-IL" sz="2400" dirty="0"/>
              <a:t>המשתמש (</a:t>
            </a:r>
            <a:r>
              <a:rPr lang="en-US" sz="2400" dirty="0"/>
              <a:t>user</a:t>
            </a:r>
            <a:r>
              <a:rPr lang="he-IL" sz="2400" dirty="0"/>
              <a:t>) </a:t>
            </a:r>
            <a:r>
              <a:rPr lang="en-US" sz="2400" dirty="0" err="1"/>
              <a:t>מקיי</a:t>
            </a:r>
            <a:r>
              <a:rPr lang="he-IL" sz="2400" dirty="0"/>
              <a:t>ם</a:t>
            </a:r>
            <a:r>
              <a:rPr lang="en-US" sz="2400" dirty="0"/>
              <a:t> </a:t>
            </a:r>
            <a:r>
              <a:rPr lang="en-US" sz="2400" dirty="0" err="1"/>
              <a:t>איתו</a:t>
            </a:r>
            <a:r>
              <a:rPr lang="en-US" sz="2400" dirty="0"/>
              <a:t> </a:t>
            </a:r>
            <a:r>
              <a:rPr lang="en-US" sz="2400" dirty="0" err="1"/>
              <a:t>אינטראקציה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כולל</a:t>
            </a:r>
            <a:r>
              <a:rPr lang="en-US" sz="2400" dirty="0"/>
              <a:t> עיצוב, </a:t>
            </a:r>
            <a:r>
              <a:rPr lang="en-US" sz="2400" dirty="0" err="1"/>
              <a:t>פריסה</a:t>
            </a:r>
            <a:r>
              <a:rPr lang="en-US" sz="2400" dirty="0"/>
              <a:t> </a:t>
            </a:r>
            <a:r>
              <a:rPr lang="en-US" sz="2400" dirty="0" err="1"/>
              <a:t>ואלמנטים</a:t>
            </a:r>
            <a:r>
              <a:rPr lang="en-US" sz="2400" dirty="0"/>
              <a:t> </a:t>
            </a:r>
            <a:r>
              <a:rPr lang="en-US" sz="2400" dirty="0" err="1"/>
              <a:t>אינטראקטיביים</a:t>
            </a:r>
            <a:r>
              <a:rPr lang="en-US" sz="2400" dirty="0"/>
              <a:t>.</a:t>
            </a:r>
          </a:p>
        </p:txBody>
      </p: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E961F4E0-1779-6241-2126-9EA73BE03A27}"/>
              </a:ext>
            </a:extLst>
          </p:cNvPr>
          <p:cNvGrpSpPr/>
          <p:nvPr/>
        </p:nvGrpSpPr>
        <p:grpSpPr>
          <a:xfrm>
            <a:off x="1840625" y="3567064"/>
            <a:ext cx="8510749" cy="2651277"/>
            <a:chOff x="1680414" y="3567064"/>
            <a:chExt cx="8510749" cy="2651277"/>
          </a:xfrm>
        </p:grpSpPr>
        <p:pic>
          <p:nvPicPr>
            <p:cNvPr id="13" name="Picture 8" descr="Js - Free logo icons">
              <a:extLst>
                <a:ext uri="{FF2B5EF4-FFF2-40B4-BE49-F238E27FC236}">
                  <a16:creationId xmlns:a16="http://schemas.microsoft.com/office/drawing/2014/main" id="{ADF4FCAE-72DB-9DB8-F82C-6A42EA0141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680414" y="3567064"/>
              <a:ext cx="2651277" cy="2651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Css 3 - Free technology icons">
              <a:extLst>
                <a:ext uri="{FF2B5EF4-FFF2-40B4-BE49-F238E27FC236}">
                  <a16:creationId xmlns:a16="http://schemas.microsoft.com/office/drawing/2014/main" id="{AA740E67-AEDD-4041-3DD1-A92A1F07A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684" y="3567064"/>
              <a:ext cx="2651277" cy="2651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Html 5 Detailed Flat Circular Flat icon">
              <a:extLst>
                <a:ext uri="{FF2B5EF4-FFF2-40B4-BE49-F238E27FC236}">
                  <a16:creationId xmlns:a16="http://schemas.microsoft.com/office/drawing/2014/main" id="{12546883-2F68-DE68-4B36-E102364958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39886" y="3567064"/>
              <a:ext cx="2651277" cy="2651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B6BF5767-0754-4F40-5F3C-FDEE8589BC99}"/>
              </a:ext>
            </a:extLst>
          </p:cNvPr>
          <p:cNvCxnSpPr/>
          <p:nvPr/>
        </p:nvCxnSpPr>
        <p:spPr>
          <a:xfrm>
            <a:off x="8093798" y="510047"/>
            <a:ext cx="0" cy="1645920"/>
          </a:xfrm>
          <a:prstGeom prst="line">
            <a:avLst/>
          </a:prstGeom>
          <a:ln w="28575">
            <a:solidFill>
              <a:srgbClr val="F365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47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4159A86-6653-5DBD-D355-F6FBEA412043}"/>
              </a:ext>
            </a:extLst>
          </p:cNvPr>
          <p:cNvSpPr txBox="1"/>
          <p:nvPr/>
        </p:nvSpPr>
        <p:spPr>
          <a:xfrm>
            <a:off x="1198181" y="626466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dirty="0">
                <a:ea typeface="+mj-ea"/>
                <a:cs typeface="+mj-cs"/>
              </a:rPr>
              <a:t>Front end/Client side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2A801901-DA86-A616-F53D-FE60282B7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83213"/>
            <a:ext cx="5828261" cy="316183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32FB886A-DA39-29A2-E27B-A59FC8849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758060"/>
            <a:ext cx="5828261" cy="2812136"/>
          </a:xfrm>
          <a:prstGeom prst="rect">
            <a:avLst/>
          </a:prstGeom>
        </p:spPr>
      </p:pic>
      <p:sp>
        <p:nvSpPr>
          <p:cNvPr id="10" name="מלבן 9">
            <a:extLst>
              <a:ext uri="{FF2B5EF4-FFF2-40B4-BE49-F238E27FC236}">
                <a16:creationId xmlns:a16="http://schemas.microsoft.com/office/drawing/2014/main" id="{C7B8A4FB-6400-ECAE-1CBE-DB2D34EFE118}"/>
              </a:ext>
            </a:extLst>
          </p:cNvPr>
          <p:cNvSpPr/>
          <p:nvPr/>
        </p:nvSpPr>
        <p:spPr>
          <a:xfrm>
            <a:off x="2856830" y="1675261"/>
            <a:ext cx="6475290" cy="45720"/>
          </a:xfrm>
          <a:prstGeom prst="rect">
            <a:avLst/>
          </a:prstGeom>
          <a:solidFill>
            <a:srgbClr val="F365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738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ED49-5868-A2FA-F940-7716BC40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ציין מיקום תוכן 2">
            <a:extLst>
              <a:ext uri="{FF2B5EF4-FFF2-40B4-BE49-F238E27FC236}">
                <a16:creationId xmlns:a16="http://schemas.microsoft.com/office/drawing/2014/main" id="{3B1DC2B7-4878-C91C-24B1-683DBD9CF88E}"/>
              </a:ext>
            </a:extLst>
          </p:cNvPr>
          <p:cNvSpPr txBox="1">
            <a:spLocks/>
          </p:cNvSpPr>
          <p:nvPr/>
        </p:nvSpPr>
        <p:spPr>
          <a:xfrm>
            <a:off x="8420879" y="522153"/>
            <a:ext cx="3300984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6000" b="1" dirty="0">
                <a:latin typeface="+mj-lt"/>
                <a:ea typeface="+mj-ea"/>
                <a:cs typeface="+mj-cs"/>
              </a:rPr>
              <a:t>Back-End</a:t>
            </a:r>
          </a:p>
        </p:txBody>
      </p:sp>
      <p:sp>
        <p:nvSpPr>
          <p:cNvPr id="12" name="מציין מיקום תוכן 2">
            <a:extLst>
              <a:ext uri="{FF2B5EF4-FFF2-40B4-BE49-F238E27FC236}">
                <a16:creationId xmlns:a16="http://schemas.microsoft.com/office/drawing/2014/main" id="{B5837567-2809-1F81-7CC1-85C10AB3BBD4}"/>
              </a:ext>
            </a:extLst>
          </p:cNvPr>
          <p:cNvSpPr txBox="1">
            <a:spLocks/>
          </p:cNvSpPr>
          <p:nvPr/>
        </p:nvSpPr>
        <p:spPr>
          <a:xfrm>
            <a:off x="1074047" y="510047"/>
            <a:ext cx="6858000" cy="16459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400" dirty="0"/>
              <a:t>החלק שאחראי להעביר מידע לצד לקוח.</a:t>
            </a:r>
          </a:p>
          <a:p>
            <a:r>
              <a:rPr lang="he-IL" sz="2400" dirty="0"/>
              <a:t>משמש לכל דבר שדורש נתונים דינמיים, כגון פרטי התחברות, הפעלת תשלומים, שליפת נתונים בזמן אמת ועוד.</a:t>
            </a:r>
            <a:endParaRPr lang="en-US" sz="2400" dirty="0"/>
          </a:p>
          <a:p>
            <a:r>
              <a:rPr lang="he-IL" sz="2400" dirty="0"/>
              <a:t>יודע לתקשר עם מסדי נתונים לשמירת מידע</a:t>
            </a:r>
            <a:endParaRPr lang="en-US" sz="2400" dirty="0"/>
          </a:p>
        </p:txBody>
      </p: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7C3B1688-E704-61BE-B084-3F0488C67655}"/>
              </a:ext>
            </a:extLst>
          </p:cNvPr>
          <p:cNvCxnSpPr/>
          <p:nvPr/>
        </p:nvCxnSpPr>
        <p:spPr>
          <a:xfrm>
            <a:off x="8093798" y="510047"/>
            <a:ext cx="0" cy="1645920"/>
          </a:xfrm>
          <a:prstGeom prst="line">
            <a:avLst/>
          </a:prstGeom>
          <a:ln w="28575">
            <a:solidFill>
              <a:srgbClr val="F365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Server (computing) - Wikipedia">
            <a:extLst>
              <a:ext uri="{FF2B5EF4-FFF2-40B4-BE49-F238E27FC236}">
                <a16:creationId xmlns:a16="http://schemas.microsoft.com/office/drawing/2014/main" id="{C100D986-E258-E91A-BC5C-E57FC2A4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22" y="2958111"/>
            <a:ext cx="5400326" cy="324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DF3B513C-5DBE-B388-7E2A-3E45C6568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804" y="3081936"/>
            <a:ext cx="4188546" cy="1160897"/>
          </a:xfrm>
          <a:prstGeom prst="rect">
            <a:avLst/>
          </a:prstGeom>
        </p:spPr>
      </p:pic>
      <p:sp>
        <p:nvSpPr>
          <p:cNvPr id="6" name="AutoShape 8" descr="Node.js - Wikipedia">
            <a:extLst>
              <a:ext uri="{FF2B5EF4-FFF2-40B4-BE49-F238E27FC236}">
                <a16:creationId xmlns:a16="http://schemas.microsoft.com/office/drawing/2014/main" id="{E00CEE42-B503-E9BC-7DEF-85E1122214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30" name="Picture 10" descr="My journey to Node.js. Why did I choose it? | by Kamalov Otash | Medium">
            <a:extLst>
              <a:ext uri="{FF2B5EF4-FFF2-40B4-BE49-F238E27FC236}">
                <a16:creationId xmlns:a16="http://schemas.microsoft.com/office/drawing/2014/main" id="{7371301B-AE63-AAF8-1A08-0BF010D72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902" y="4452271"/>
            <a:ext cx="3046773" cy="228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37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17BB7-964B-A2AD-0AAD-BF8028C7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10D61724-97E8-2849-D518-0ABA1C17BF5C}"/>
              </a:ext>
            </a:extLst>
          </p:cNvPr>
          <p:cNvSpPr txBox="1"/>
          <p:nvPr/>
        </p:nvSpPr>
        <p:spPr>
          <a:xfrm>
            <a:off x="-2478469" y="176126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dirty="0">
                <a:ea typeface="+mj-ea"/>
                <a:cs typeface="+mj-cs"/>
              </a:rPr>
              <a:t>Back-End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1A8DAF8E-603E-2E41-93CD-3DAC2E439600}"/>
              </a:ext>
            </a:extLst>
          </p:cNvPr>
          <p:cNvSpPr/>
          <p:nvPr/>
        </p:nvSpPr>
        <p:spPr>
          <a:xfrm>
            <a:off x="0" y="1290506"/>
            <a:ext cx="4523159" cy="62044"/>
          </a:xfrm>
          <a:prstGeom prst="rect">
            <a:avLst/>
          </a:prstGeom>
          <a:solidFill>
            <a:srgbClr val="F365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45FA2C9C-87E7-FA0A-B636-C2CAA2BA26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30" t="35947" r="17260" b="18004"/>
          <a:stretch/>
        </p:blipFill>
        <p:spPr>
          <a:xfrm>
            <a:off x="1703759" y="1928858"/>
            <a:ext cx="2819400" cy="3782086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99EEF2AB-2D49-DF45-117E-247D2298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317" y="938282"/>
            <a:ext cx="5777171" cy="2663569"/>
          </a:xfrm>
          <a:prstGeom prst="round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BF226F9D-D401-D1B9-9F02-3B95BE046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317" y="3819901"/>
            <a:ext cx="5780528" cy="224221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1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11">
            <a:extLst>
              <a:ext uri="{FF2B5EF4-FFF2-40B4-BE49-F238E27FC236}">
                <a16:creationId xmlns:a16="http://schemas.microsoft.com/office/drawing/2014/main" id="{718F7A9A-BABF-7A67-C62C-BE267CCAEF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E17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500C0FF-2FB3-96BF-AF39-1B370F4E2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87" b="27487"/>
          <a:stretch/>
        </p:blipFill>
        <p:spPr>
          <a:xfrm>
            <a:off x="4264025" y="371475"/>
            <a:ext cx="7288882" cy="200977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DD796D83-9ADD-AC22-FFCF-9CB9EBF423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134" b="29755"/>
          <a:stretch/>
        </p:blipFill>
        <p:spPr>
          <a:xfrm>
            <a:off x="4264025" y="2457450"/>
            <a:ext cx="7288882" cy="1933575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6040AFC9-0861-F42D-417A-C19B85848C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020" b="18730"/>
          <a:stretch/>
        </p:blipFill>
        <p:spPr>
          <a:xfrm>
            <a:off x="4264025" y="4533901"/>
            <a:ext cx="7295197" cy="1860926"/>
          </a:xfrm>
          <a:prstGeom prst="rect">
            <a:avLst/>
          </a:pr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AD9E1622-B8F5-0E6C-16F8-C28CB0648FA6}"/>
              </a:ext>
            </a:extLst>
          </p:cNvPr>
          <p:cNvSpPr txBox="1"/>
          <p:nvPr/>
        </p:nvSpPr>
        <p:spPr>
          <a:xfrm>
            <a:off x="639093" y="591492"/>
            <a:ext cx="391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Request-Response Cycle</a:t>
            </a:r>
          </a:p>
        </p:txBody>
      </p:sp>
    </p:spTree>
    <p:extLst>
      <p:ext uri="{BB962C8B-B14F-4D97-AF65-F5344CB8AC3E}">
        <p14:creationId xmlns:p14="http://schemas.microsoft.com/office/powerpoint/2010/main" val="251165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239C9-C348-95DD-70F8-28B768C2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Slide Background">
            <a:extLst>
              <a:ext uri="{FF2B5EF4-FFF2-40B4-BE49-F238E27FC236}">
                <a16:creationId xmlns:a16="http://schemas.microsoft.com/office/drawing/2014/main" id="{AA857166-A416-4C5E-8AA9-5D5D1E13D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40" y="0"/>
            <a:ext cx="4617491" cy="6858000"/>
          </a:xfrm>
          <a:prstGeom prst="rect">
            <a:avLst/>
          </a:prstGeom>
          <a:ln>
            <a:noFill/>
          </a:ln>
          <a:effectLst>
            <a:outerShdw blurRad="203200" dist="88900" dir="21540000" sx="94000" sy="94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40" y="-1"/>
            <a:ext cx="4617491" cy="5136739"/>
          </a:xfrm>
          <a:prstGeom prst="rect">
            <a:avLst/>
          </a:prstGeom>
          <a:ln>
            <a:noFill/>
          </a:ln>
          <a:effectLst>
            <a:outerShdw blurRad="177800" dist="101600" dir="5400000" sx="97000" sy="97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מציין מיקום תוכן 2">
            <a:extLst>
              <a:ext uri="{FF2B5EF4-FFF2-40B4-BE49-F238E27FC236}">
                <a16:creationId xmlns:a16="http://schemas.microsoft.com/office/drawing/2014/main" id="{7151BFB6-C558-1CC8-ECB5-87368CCD9769}"/>
              </a:ext>
            </a:extLst>
          </p:cNvPr>
          <p:cNvSpPr txBox="1">
            <a:spLocks/>
          </p:cNvSpPr>
          <p:nvPr/>
        </p:nvSpPr>
        <p:spPr>
          <a:xfrm>
            <a:off x="652887" y="617921"/>
            <a:ext cx="3482041" cy="9060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Front-End</a:t>
            </a:r>
          </a:p>
        </p:txBody>
      </p:sp>
      <p:pic>
        <p:nvPicPr>
          <p:cNvPr id="1028" name="Picture 4" descr="The Building Blocks of Web Development: HTML, CSS, and JavaScript">
            <a:extLst>
              <a:ext uri="{FF2B5EF4-FFF2-40B4-BE49-F238E27FC236}">
                <a16:creationId xmlns:a16="http://schemas.microsoft.com/office/drawing/2014/main" id="{61A78A5A-C15B-6B09-A832-B89483720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3758" y="617921"/>
            <a:ext cx="5980732" cy="571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51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572AA-2B92-4260-3294-C274C94F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5F2F07-856E-CC37-B01D-317A72CC698A}"/>
              </a:ext>
            </a:extLst>
          </p:cNvPr>
          <p:cNvSpPr txBox="1">
            <a:spLocks/>
          </p:cNvSpPr>
          <p:nvPr/>
        </p:nvSpPr>
        <p:spPr>
          <a:xfrm>
            <a:off x="1027751" y="418325"/>
            <a:ext cx="10133447" cy="1306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Hyper Text Markup Language </a:t>
            </a:r>
            <a:r>
              <a:rPr kumimoji="0" lang="he-IL" sz="320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he-IL" sz="320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2"/>
              </a:rPr>
              <a:t>שפת תגיות</a:t>
            </a:r>
            <a:endParaRPr lang="en-US" sz="320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0" indent="0" algn="ctr" rtl="0">
              <a:spcBef>
                <a:spcPct val="0"/>
              </a:spcBef>
              <a:spcAft>
                <a:spcPts val="600"/>
              </a:spcAft>
              <a:buNone/>
            </a:pPr>
            <a:r>
              <a:rPr lang="he-IL" sz="240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(שפת סימני עריכה לתמליל-על)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6" descr="Html 5 Detailed Flat Circular Flat icon">
            <a:extLst>
              <a:ext uri="{FF2B5EF4-FFF2-40B4-BE49-F238E27FC236}">
                <a16:creationId xmlns:a16="http://schemas.microsoft.com/office/drawing/2014/main" id="{B0741FA7-F655-9715-803E-146913F7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1866" y="3031275"/>
            <a:ext cx="3362233" cy="336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58E3D540-D4EE-EB01-64D5-BC36E6B456FF}"/>
              </a:ext>
            </a:extLst>
          </p:cNvPr>
          <p:cNvSpPr txBox="1">
            <a:spLocks/>
          </p:cNvSpPr>
          <p:nvPr/>
        </p:nvSpPr>
        <p:spPr>
          <a:xfrm>
            <a:off x="4391025" y="1818295"/>
            <a:ext cx="7304522" cy="1306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Bef>
                <a:spcPct val="0"/>
              </a:spcBef>
              <a:spcAft>
                <a:spcPts val="600"/>
              </a:spcAft>
              <a:buNone/>
            </a:pPr>
            <a:r>
              <a:rPr lang="he-IL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זו שפת התגיות המרכזית בעולם האינטרנט, המהווה שלד למרבית עמודי התוכן באינטרנט. השפה מאפשרת עיצוב תוכן בצורה מהירה</a:t>
            </a:r>
            <a:endParaRPr lang="en-US" sz="1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934AD1DF-5571-5EC2-7861-B7251B2D50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08" t="3260" r="1415" b="3521"/>
          <a:stretch/>
        </p:blipFill>
        <p:spPr>
          <a:xfrm>
            <a:off x="6507804" y="3307404"/>
            <a:ext cx="3822970" cy="2548647"/>
          </a:xfrm>
          <a:prstGeom prst="roundRect">
            <a:avLst>
              <a:gd name="adj" fmla="val 18802"/>
            </a:avLst>
          </a:prstGeom>
        </p:spPr>
      </p:pic>
    </p:spTree>
    <p:extLst>
      <p:ext uri="{BB962C8B-B14F-4D97-AF65-F5344CB8AC3E}">
        <p14:creationId xmlns:p14="http://schemas.microsoft.com/office/powerpoint/2010/main" val="4118040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1BF35-64BD-B736-EBEE-1CE29C2F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BA4AAC56-04A1-6268-D6FC-78CD02CF2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C39AF2-A026-CEA7-2017-2D1926559E87}"/>
              </a:ext>
            </a:extLst>
          </p:cNvPr>
          <p:cNvSpPr txBox="1">
            <a:spLocks/>
          </p:cNvSpPr>
          <p:nvPr/>
        </p:nvSpPr>
        <p:spPr>
          <a:xfrm>
            <a:off x="1027751" y="396474"/>
            <a:ext cx="10133447" cy="1306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he-IL" sz="320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גיליונות סגנון מדורגים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\CSS</a:t>
            </a:r>
            <a:r>
              <a:rPr lang="en-US" sz="32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(</a:t>
            </a:r>
            <a:r>
              <a:rPr lang="en-US" sz="2000" b="0" i="0" dirty="0">
                <a:solidFill>
                  <a:srgbClr val="1B1B1B"/>
                </a:solidFill>
                <a:effectLst/>
                <a:latin typeface="Inter" panose="02000503000000020004" pitchFamily="2" charset="0"/>
              </a:rPr>
              <a:t>Cascading Style Sheets</a:t>
            </a:r>
            <a:r>
              <a:rPr lang="en-US" sz="2000" b="0" dirty="0">
                <a:solidFill>
                  <a:srgbClr val="202122"/>
                </a:solidFill>
                <a:latin typeface="Arial" panose="020B0604020202020204" pitchFamily="34" charset="0"/>
              </a:rPr>
              <a:t>)</a:t>
            </a:r>
            <a:endParaRPr lang="en-US" sz="200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F903F90E-A5D9-965E-22F1-671496FEF46B}"/>
              </a:ext>
            </a:extLst>
          </p:cNvPr>
          <p:cNvSpPr txBox="1">
            <a:spLocks/>
          </p:cNvSpPr>
          <p:nvPr/>
        </p:nvSpPr>
        <p:spPr>
          <a:xfrm>
            <a:off x="3773315" y="1554849"/>
            <a:ext cx="7901760" cy="1306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CSS</a:t>
            </a:r>
            <a:r>
              <a:rPr lang="he-IL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היא השפה בה אנו משתמשים לשנות עיצוב מסמך 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HTML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he-IL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ע"י בחירה של אלמנטים והגדרת העיצוב שלהם</a:t>
            </a: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4" descr="Css 3 - Free technology icons">
            <a:extLst>
              <a:ext uri="{FF2B5EF4-FFF2-40B4-BE49-F238E27FC236}">
                <a16:creationId xmlns:a16="http://schemas.microsoft.com/office/drawing/2014/main" id="{A455590C-F812-80FC-1DD3-8D4093E7B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34913">
            <a:off x="8586481" y="3588917"/>
            <a:ext cx="2541490" cy="254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SS p declaration color red">
            <a:extLst>
              <a:ext uri="{FF2B5EF4-FFF2-40B4-BE49-F238E27FC236}">
                <a16:creationId xmlns:a16="http://schemas.microsoft.com/office/drawing/2014/main" id="{917DBC31-4B2C-45D9-7B1A-867CF6B70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97" y="3279649"/>
            <a:ext cx="5576298" cy="3148968"/>
          </a:xfrm>
          <a:prstGeom prst="roundRect">
            <a:avLst>
              <a:gd name="adj" fmla="val 1079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628540B-5968-E65E-0E36-2B70841249DC}"/>
              </a:ext>
            </a:extLst>
          </p:cNvPr>
          <p:cNvSpPr txBox="1"/>
          <p:nvPr/>
        </p:nvSpPr>
        <p:spPr>
          <a:xfrm>
            <a:off x="700825" y="4651274"/>
            <a:ext cx="1682452" cy="1328023"/>
          </a:xfrm>
          <a:prstGeom prst="roundRect">
            <a:avLst/>
          </a:prstGeom>
          <a:solidFill>
            <a:schemeClr val="bg2"/>
          </a:solidFill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p {</a:t>
            </a:r>
          </a:p>
          <a:p>
            <a:pPr algn="l" rtl="0"/>
            <a:r>
              <a:rPr lang="en-US" dirty="0"/>
              <a:t>  color: red;</a:t>
            </a:r>
          </a:p>
          <a:p>
            <a:pPr algn="l" rtl="0"/>
            <a:r>
              <a:rPr lang="en-US" dirty="0"/>
              <a:t>}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34826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9E7D-1A28-F480-6C6D-9D871BCA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A024860-A353-7F23-CC8E-BED6BEF9B1BA}"/>
              </a:ext>
            </a:extLst>
          </p:cNvPr>
          <p:cNvSpPr txBox="1">
            <a:spLocks/>
          </p:cNvSpPr>
          <p:nvPr/>
        </p:nvSpPr>
        <p:spPr>
          <a:xfrm>
            <a:off x="8884596" y="678229"/>
            <a:ext cx="3236068" cy="815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200" dirty="0">
                <a:solidFill>
                  <a:srgbClr val="202122"/>
                </a:solidFill>
                <a:latin typeface="Arial" panose="020B0604020202020204" pitchFamily="34" charset="0"/>
                <a:hlinkClick r:id="rId2"/>
              </a:rPr>
              <a:t>JavaScript</a:t>
            </a:r>
            <a:endParaRPr lang="en-US" sz="200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9C46F4FF-76FB-0263-1B5A-7C020EB1B2A5}"/>
              </a:ext>
            </a:extLst>
          </p:cNvPr>
          <p:cNvSpPr txBox="1">
            <a:spLocks/>
          </p:cNvSpPr>
          <p:nvPr/>
        </p:nvSpPr>
        <p:spPr>
          <a:xfrm>
            <a:off x="4572000" y="1493601"/>
            <a:ext cx="7103075" cy="16356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he-IL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שפת תכנות ואחת מהטכנולוגיות הבסיסיות שיוצרות את האינטרנט יחד עם 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lang="he-IL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ו</a:t>
            </a:r>
            <a:r>
              <a:rPr lang="he-IL" sz="2000" dirty="0">
                <a:solidFill>
                  <a:srgbClr val="202122"/>
                </a:solidFill>
                <a:latin typeface="Arial" panose="020B0604020202020204" pitchFamily="34" charset="0"/>
              </a:rPr>
              <a:t>-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CSS</a:t>
            </a:r>
            <a:endParaRPr lang="he-IL" sz="20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he-IL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נכון ל2023, 98.7% מהאתרים משתמשים ב-</a:t>
            </a:r>
            <a:r>
              <a:rPr lang="en-US" sz="20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lang="he-IL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בצד הלקוח של האתר שלהם</a:t>
            </a:r>
            <a:endParaRPr lang="en-US" sz="20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8" descr="Js - Free logo icons">
            <a:extLst>
              <a:ext uri="{FF2B5EF4-FFF2-40B4-BE49-F238E27FC236}">
                <a16:creationId xmlns:a16="http://schemas.microsoft.com/office/drawing/2014/main" id="{A79FDABB-5834-5378-8A11-BBDF6B87F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0064" y="985781"/>
            <a:ext cx="2651277" cy="2651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0429041B-6796-622A-5537-4922A6ABCE0F}"/>
              </a:ext>
            </a:extLst>
          </p:cNvPr>
          <p:cNvSpPr/>
          <p:nvPr/>
        </p:nvSpPr>
        <p:spPr>
          <a:xfrm>
            <a:off x="2169268" y="4641670"/>
            <a:ext cx="8630318" cy="66148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document.getElementById(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).innerHTML = 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 JavaScript"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4710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9D80-54B9-92D2-E539-1311D9C5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87C0029-93F9-2097-767F-3003568259A9}"/>
              </a:ext>
            </a:extLst>
          </p:cNvPr>
          <p:cNvSpPr txBox="1"/>
          <p:nvPr/>
        </p:nvSpPr>
        <p:spPr>
          <a:xfrm>
            <a:off x="2374900" y="2767280"/>
            <a:ext cx="7442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4000" dirty="0"/>
              <a:t>בהמשך אולי נוסיף פה כמה שקופיות על </a:t>
            </a:r>
            <a:r>
              <a:rPr lang="en-US" sz="4000" dirty="0"/>
              <a:t>backend</a:t>
            </a:r>
            <a:r>
              <a:rPr lang="he-IL" sz="4000" dirty="0"/>
              <a:t>, כרגע לא דחוף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2504113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264</Words>
  <Application>Microsoft Office PowerPoint</Application>
  <PresentationFormat>מסך רחב</PresentationFormat>
  <Paragraphs>35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Inter</vt:lpstr>
      <vt:lpstr>Segoe UI</vt:lpstr>
      <vt:lpstr>ערכת נושא Office</vt:lpstr>
      <vt:lpstr>מה זה מפתח Full-stack?</vt:lpstr>
      <vt:lpstr>Full-stack Web Developer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מה זה מפתח Full-stack?</dc:title>
  <dc:creator>נתנאל סגל</dc:creator>
  <cp:lastModifiedBy>Timeless Electronix Israel</cp:lastModifiedBy>
  <cp:revision>16</cp:revision>
  <dcterms:created xsi:type="dcterms:W3CDTF">2024-02-13T18:55:14Z</dcterms:created>
  <dcterms:modified xsi:type="dcterms:W3CDTF">2024-11-24T15:30:05Z</dcterms:modified>
</cp:coreProperties>
</file>