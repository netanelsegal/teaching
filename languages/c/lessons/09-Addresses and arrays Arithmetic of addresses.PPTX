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3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7" r:id="rId9"/>
    <p:sldId id="268" r:id="rId10"/>
    <p:sldId id="278" r:id="rId11"/>
    <p:sldId id="269" r:id="rId12"/>
    <p:sldId id="271" r:id="rId13"/>
    <p:sldId id="293" r:id="rId14"/>
    <p:sldId id="324" r:id="rId15"/>
    <p:sldId id="270" r:id="rId16"/>
    <p:sldId id="272" r:id="rId17"/>
    <p:sldId id="265" r:id="rId18"/>
    <p:sldId id="314" r:id="rId19"/>
    <p:sldId id="315" r:id="rId20"/>
    <p:sldId id="316" r:id="rId21"/>
    <p:sldId id="317" r:id="rId22"/>
    <p:sldId id="260" r:id="rId23"/>
    <p:sldId id="259" r:id="rId24"/>
    <p:sldId id="273" r:id="rId25"/>
    <p:sldId id="276" r:id="rId26"/>
    <p:sldId id="280" r:id="rId27"/>
    <p:sldId id="277" r:id="rId28"/>
    <p:sldId id="275" r:id="rId29"/>
    <p:sldId id="282" r:id="rId30"/>
    <p:sldId id="325" r:id="rId31"/>
    <p:sldId id="283" r:id="rId32"/>
    <p:sldId id="281" r:id="rId33"/>
    <p:sldId id="286" r:id="rId34"/>
    <p:sldId id="285" r:id="rId35"/>
    <p:sldId id="291" r:id="rId36"/>
    <p:sldId id="292" r:id="rId37"/>
    <p:sldId id="302" r:id="rId38"/>
    <p:sldId id="301" r:id="rId39"/>
    <p:sldId id="303" r:id="rId40"/>
    <p:sldId id="313" r:id="rId41"/>
    <p:sldId id="287" r:id="rId42"/>
    <p:sldId id="288" r:id="rId43"/>
    <p:sldId id="290" r:id="rId44"/>
    <p:sldId id="294" r:id="rId45"/>
    <p:sldId id="295" r:id="rId46"/>
    <p:sldId id="296" r:id="rId47"/>
    <p:sldId id="297" r:id="rId48"/>
    <p:sldId id="304" r:id="rId49"/>
    <p:sldId id="305" r:id="rId50"/>
    <p:sldId id="308" r:id="rId51"/>
    <p:sldId id="311" r:id="rId52"/>
    <p:sldId id="309" r:id="rId53"/>
    <p:sldId id="310" r:id="rId54"/>
    <p:sldId id="307" r:id="rId55"/>
    <p:sldId id="312" r:id="rId56"/>
    <p:sldId id="284" r:id="rId57"/>
    <p:sldId id="320" r:id="rId58"/>
    <p:sldId id="318" r:id="rId59"/>
    <p:sldId id="319" r:id="rId60"/>
    <p:sldId id="322" r:id="rId61"/>
    <p:sldId id="323" r:id="rId6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99CC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76" autoAdjust="0"/>
  </p:normalViewPr>
  <p:slideViewPr>
    <p:cSldViewPr>
      <p:cViewPr>
        <p:scale>
          <a:sx n="70" d="100"/>
          <a:sy n="70" d="100"/>
        </p:scale>
        <p:origin x="-1084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6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12B5CC5-7B3C-4430-AC7B-19DF01D80522}" type="datetimeFigureOut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9D99B22-7AC9-4B79-8CB5-A7297A6668E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593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0E9C3A5-113D-4441-8900-C1C7504FD113}" type="slidenum">
              <a:rPr lang="he-IL" altLang="he-IL" smtClean="0">
                <a:latin typeface="Calibri" pitchFamily="34" charset="0"/>
              </a:rPr>
              <a:pPr eaLnBrk="1" hangingPunct="1"/>
              <a:t>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8766D1B-427D-4699-9EC0-C69E0FAE62E7}" type="slidenum">
              <a:rPr lang="he-IL" altLang="he-IL" smtClean="0">
                <a:latin typeface="Calibri" pitchFamily="34" charset="0"/>
              </a:rPr>
              <a:pPr eaLnBrk="1" hangingPunct="1"/>
              <a:t>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C0F8E490-9515-45BB-8C52-33A4A3F0AFF4}" type="slidenum">
              <a:rPr lang="he-IL" altLang="he-IL" smtClean="0">
                <a:latin typeface="Calibri" pitchFamily="34" charset="0"/>
              </a:rPr>
              <a:pPr eaLnBrk="1" hangingPunct="1"/>
              <a:t>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C33102F0-98F4-4BCC-9717-9E1C47B107A0}" type="slidenum">
              <a:rPr lang="he-IL" altLang="he-IL" smtClean="0">
                <a:latin typeface="Calibri" pitchFamily="34" charset="0"/>
              </a:rPr>
              <a:pPr eaLnBrk="1" hangingPunct="1"/>
              <a:t>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1D89A2A-3F5C-4E4F-AF85-23EC92ABBCC0}" type="slidenum">
              <a:rPr lang="he-IL" altLang="he-IL" smtClean="0">
                <a:latin typeface="Calibri" pitchFamily="34" charset="0"/>
              </a:rPr>
              <a:pPr eaLnBrk="1" hangingPunct="1"/>
              <a:t>5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1307542-0BD7-4EB1-AB12-FB4F0FC0A3AB}" type="slidenum">
              <a:rPr lang="he-IL" altLang="he-IL" smtClean="0">
                <a:latin typeface="Calibri" pitchFamily="34" charset="0"/>
              </a:rPr>
              <a:pPr eaLnBrk="1" hangingPunct="1"/>
              <a:t>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96BB966-7EF2-42C0-BC6B-F1853258B670}" type="slidenum">
              <a:rPr lang="he-IL" altLang="he-IL" smtClean="0">
                <a:latin typeface="Calibri" pitchFamily="34" charset="0"/>
              </a:rPr>
              <a:pPr eaLnBrk="1" hangingPunct="1"/>
              <a:t>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1B11902-B744-45B8-908F-596EF596DE78}" type="slidenum">
              <a:rPr lang="he-IL" altLang="he-IL" smtClean="0">
                <a:latin typeface="Calibri" pitchFamily="34" charset="0"/>
              </a:rPr>
              <a:pPr eaLnBrk="1" hangingPunct="1"/>
              <a:t>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684C6E1-CAAE-48D1-A710-DEF80EF1D051}" type="slidenum">
              <a:rPr lang="he-IL" altLang="he-IL" smtClean="0">
                <a:latin typeface="Calibri" pitchFamily="34" charset="0"/>
              </a:rPr>
              <a:pPr eaLnBrk="1" hangingPunct="1"/>
              <a:t>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2490FDA-E6AD-431E-9FCB-0DEAA268D7A3}" type="slidenum">
              <a:rPr lang="he-IL" altLang="he-IL" smtClean="0">
                <a:latin typeface="Calibri" pitchFamily="34" charset="0"/>
              </a:rPr>
              <a:pPr eaLnBrk="1" hangingPunct="1"/>
              <a:t>10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9E1C6ED-EB4E-429F-991C-7B471DE7B9E5}" type="slidenum">
              <a:rPr lang="he-IL" altLang="he-IL" smtClean="0">
                <a:latin typeface="Calibri" pitchFamily="34" charset="0"/>
              </a:rPr>
              <a:pPr eaLnBrk="1" hangingPunct="1"/>
              <a:t>11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D410631-E4DE-4324-86FC-580B3D16C45B}" type="slidenum">
              <a:rPr lang="he-IL" altLang="he-IL" smtClean="0">
                <a:latin typeface="Calibri" pitchFamily="34" charset="0"/>
              </a:rPr>
              <a:pPr eaLnBrk="1" hangingPunct="1"/>
              <a:t>12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2379312-44C9-4565-AEDD-647B6C283863}" type="slidenum">
              <a:rPr lang="he-IL" altLang="he-IL" smtClean="0">
                <a:latin typeface="Calibri" pitchFamily="34" charset="0"/>
              </a:rPr>
              <a:pPr eaLnBrk="1" hangingPunct="1"/>
              <a:t>13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dirty="0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2379312-44C9-4565-AEDD-647B6C283863}" type="slidenum">
              <a:rPr lang="he-IL" altLang="he-IL" smtClean="0">
                <a:latin typeface="Calibri" pitchFamily="34" charset="0"/>
              </a:rPr>
              <a:pPr eaLnBrk="1" hangingPunct="1"/>
              <a:t>14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106C6E7-AEC7-4FE2-AB3E-3A1E7DC81178}" type="slidenum">
              <a:rPr lang="he-IL" altLang="he-IL" smtClean="0">
                <a:latin typeface="Calibri" pitchFamily="34" charset="0"/>
              </a:rPr>
              <a:pPr eaLnBrk="1" hangingPunct="1"/>
              <a:t>15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323BC2F-8120-4F68-85F1-12486202B416}" type="slidenum">
              <a:rPr lang="he-IL" altLang="he-IL" smtClean="0">
                <a:latin typeface="Calibri" pitchFamily="34" charset="0"/>
              </a:rPr>
              <a:pPr eaLnBrk="1" hangingPunct="1"/>
              <a:t>16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1A97880-69CD-4E7D-888A-BA72898267F7}" type="slidenum">
              <a:rPr lang="he-IL" altLang="he-IL" smtClean="0">
                <a:latin typeface="Calibri" pitchFamily="34" charset="0"/>
              </a:rPr>
              <a:pPr eaLnBrk="1" hangingPunct="1"/>
              <a:t>17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F3CDD7B-82C7-4924-9662-6BA322F165C4}" type="slidenum">
              <a:rPr lang="he-IL" altLang="he-IL" smtClean="0">
                <a:latin typeface="Calibri" pitchFamily="34" charset="0"/>
              </a:rPr>
              <a:pPr eaLnBrk="1" hangingPunct="1"/>
              <a:t>18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D9D2801-4618-4378-8648-C492BF728A19}" type="slidenum">
              <a:rPr lang="he-IL" altLang="he-IL" smtClean="0">
                <a:latin typeface="Calibri" pitchFamily="34" charset="0"/>
              </a:rPr>
              <a:pPr eaLnBrk="1" hangingPunct="1"/>
              <a:t>19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E1B133B-E837-4EAB-888E-AAB302C62A2B}" type="slidenum">
              <a:rPr lang="he-IL" altLang="he-IL" smtClean="0">
                <a:latin typeface="Calibri" pitchFamily="34" charset="0"/>
              </a:rPr>
              <a:pPr eaLnBrk="1" hangingPunct="1"/>
              <a:t>20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A4FA96-2AB4-4906-9EC6-5CB71239A4A9}" type="slidenum">
              <a:rPr lang="he-IL" altLang="he-IL" smtClean="0">
                <a:latin typeface="Calibri" pitchFamily="34" charset="0"/>
              </a:rPr>
              <a:pPr eaLnBrk="1" hangingPunct="1"/>
              <a:t>21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33AEA55-4EBE-4717-897B-DE3299C0F5DE}" type="slidenum">
              <a:rPr lang="he-IL" altLang="he-IL" smtClean="0">
                <a:latin typeface="Calibri" pitchFamily="34" charset="0"/>
              </a:rPr>
              <a:pPr eaLnBrk="1" hangingPunct="1"/>
              <a:t>22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3804A71-14B3-453B-831C-169ABEC5BFE2}" type="slidenum">
              <a:rPr lang="he-IL" altLang="he-IL" smtClean="0">
                <a:latin typeface="Calibri" pitchFamily="34" charset="0"/>
              </a:rPr>
              <a:pPr eaLnBrk="1" hangingPunct="1"/>
              <a:t>23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72FCF7A-6444-40D5-AE1F-BE5B3D8A4AA3}" type="slidenum">
              <a:rPr lang="he-IL" altLang="he-IL" smtClean="0">
                <a:latin typeface="Calibri" pitchFamily="34" charset="0"/>
              </a:rPr>
              <a:pPr eaLnBrk="1" hangingPunct="1"/>
              <a:t>24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7210653-1C45-436E-AEB4-94AB3B237128}" type="slidenum">
              <a:rPr lang="he-IL" altLang="he-IL" smtClean="0">
                <a:latin typeface="Calibri" pitchFamily="34" charset="0"/>
              </a:rPr>
              <a:pPr eaLnBrk="1" hangingPunct="1"/>
              <a:t>25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8433FA1-2EFB-40A9-A789-F69E1EA6D57D}" type="slidenum">
              <a:rPr lang="he-IL" altLang="he-IL" smtClean="0">
                <a:latin typeface="Calibri" pitchFamily="34" charset="0"/>
              </a:rPr>
              <a:pPr eaLnBrk="1" hangingPunct="1"/>
              <a:t>26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0BEFF73-BA56-4205-9897-503AA69A3DDF}" type="slidenum">
              <a:rPr lang="he-IL" altLang="he-IL" smtClean="0">
                <a:latin typeface="Calibri" pitchFamily="34" charset="0"/>
              </a:rPr>
              <a:pPr eaLnBrk="1" hangingPunct="1"/>
              <a:t>27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52E7C18-220A-47F1-8521-E7AF7F26131A}" type="slidenum">
              <a:rPr lang="he-IL" altLang="he-IL" smtClean="0">
                <a:latin typeface="Calibri" pitchFamily="34" charset="0"/>
              </a:rPr>
              <a:pPr eaLnBrk="1" hangingPunct="1"/>
              <a:t>28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AA3386D-E0DA-4C84-8ED7-5BBF4B7BD192}" type="slidenum">
              <a:rPr lang="he-IL" altLang="he-IL" smtClean="0">
                <a:latin typeface="Calibri" pitchFamily="34" charset="0"/>
              </a:rPr>
              <a:pPr eaLnBrk="1" hangingPunct="1"/>
              <a:t>29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AA3386D-E0DA-4C84-8ED7-5BBF4B7BD192}" type="slidenum">
              <a:rPr lang="he-IL" altLang="he-IL" smtClean="0">
                <a:latin typeface="Calibri" pitchFamily="34" charset="0"/>
              </a:rPr>
              <a:pPr eaLnBrk="1" hangingPunct="1"/>
              <a:t>30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F4059C7-9B9B-4030-AC8C-011264496DD7}" type="slidenum">
              <a:rPr lang="he-IL" altLang="he-IL" smtClean="0">
                <a:latin typeface="Calibri" pitchFamily="34" charset="0"/>
              </a:rPr>
              <a:pPr eaLnBrk="1" hangingPunct="1"/>
              <a:t>31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C4F8A3D2-4C06-4101-903A-6C731B7C4D82}" type="slidenum">
              <a:rPr lang="he-IL" altLang="he-IL" smtClean="0">
                <a:latin typeface="Calibri" pitchFamily="34" charset="0"/>
              </a:rPr>
              <a:pPr eaLnBrk="1" hangingPunct="1"/>
              <a:t>32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E7494DF-8975-4A92-B247-CBD68ECA8484}" type="slidenum">
              <a:rPr lang="he-IL" altLang="he-IL" smtClean="0">
                <a:latin typeface="Calibri" pitchFamily="34" charset="0"/>
              </a:rPr>
              <a:pPr eaLnBrk="1" hangingPunct="1"/>
              <a:t>33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55A0BB3-544B-4AE4-98C8-C784BD23A8CC}" type="slidenum">
              <a:rPr lang="he-IL" altLang="he-IL" smtClean="0">
                <a:latin typeface="Calibri" pitchFamily="34" charset="0"/>
              </a:rPr>
              <a:pPr eaLnBrk="1" hangingPunct="1"/>
              <a:t>34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CD3C09E-2302-4303-B995-814EDF144689}" type="slidenum">
              <a:rPr lang="he-IL" altLang="he-IL" smtClean="0">
                <a:latin typeface="Calibri" pitchFamily="34" charset="0"/>
              </a:rPr>
              <a:pPr eaLnBrk="1" hangingPunct="1"/>
              <a:t>35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C2A43C7-B68F-422D-B408-AAA3CABD0050}" type="slidenum">
              <a:rPr lang="he-IL" altLang="he-IL" smtClean="0">
                <a:latin typeface="Calibri" pitchFamily="34" charset="0"/>
              </a:rPr>
              <a:pPr eaLnBrk="1" hangingPunct="1"/>
              <a:t>36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34CE43D-722D-43F0-B906-807215D36F71}" type="slidenum">
              <a:rPr lang="he-IL" altLang="he-IL" smtClean="0">
                <a:latin typeface="Calibri" pitchFamily="34" charset="0"/>
              </a:rPr>
              <a:pPr eaLnBrk="1" hangingPunct="1"/>
              <a:t>37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EE15360-1286-40D2-AD72-9D93B6A95258}" type="slidenum">
              <a:rPr lang="he-IL" altLang="he-IL" smtClean="0">
                <a:latin typeface="Calibri" pitchFamily="34" charset="0"/>
              </a:rPr>
              <a:pPr eaLnBrk="1" hangingPunct="1"/>
              <a:t>38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E1D7EC4-AB70-42B0-8FEA-0882CFCEA633}" type="slidenum">
              <a:rPr lang="he-IL" altLang="he-IL" smtClean="0">
                <a:latin typeface="Calibri" pitchFamily="34" charset="0"/>
              </a:rPr>
              <a:pPr eaLnBrk="1" hangingPunct="1"/>
              <a:t>39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D7C33C7-B9AF-4B6F-ACF8-8FC78D4ED2A5}" type="slidenum">
              <a:rPr lang="he-IL" altLang="he-IL" smtClean="0">
                <a:latin typeface="Calibri" pitchFamily="34" charset="0"/>
              </a:rPr>
              <a:pPr eaLnBrk="1" hangingPunct="1"/>
              <a:t>40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B1BC2F3-7EE7-43D6-BE09-D78625705B23}" type="slidenum">
              <a:rPr lang="he-IL" altLang="he-IL" smtClean="0">
                <a:latin typeface="Calibri" pitchFamily="34" charset="0"/>
              </a:rPr>
              <a:pPr eaLnBrk="1" hangingPunct="1"/>
              <a:t>41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dirty="0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8934301-F5EB-4433-B21D-FB5F17E1C5F6}" type="slidenum">
              <a:rPr lang="he-IL" altLang="he-IL" smtClean="0">
                <a:latin typeface="Calibri" pitchFamily="34" charset="0"/>
              </a:rPr>
              <a:pPr eaLnBrk="1" hangingPunct="1"/>
              <a:t>42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6E6965C-C2AE-4992-8023-DB6566FC7B5A}" type="slidenum">
              <a:rPr lang="he-IL" altLang="he-IL" smtClean="0">
                <a:latin typeface="Calibri" pitchFamily="34" charset="0"/>
              </a:rPr>
              <a:pPr eaLnBrk="1" hangingPunct="1"/>
              <a:t>43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611E939-D711-44F8-B56C-AAC5CA21A123}" type="slidenum">
              <a:rPr lang="he-IL" altLang="he-IL" smtClean="0">
                <a:latin typeface="Calibri" pitchFamily="34" charset="0"/>
              </a:rPr>
              <a:pPr eaLnBrk="1" hangingPunct="1"/>
              <a:t>44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C00045B-2EEC-494A-AC69-C5E0F55C50D1}" type="slidenum">
              <a:rPr lang="he-IL" altLang="he-IL" smtClean="0">
                <a:latin typeface="Calibri" pitchFamily="34" charset="0"/>
              </a:rPr>
              <a:pPr eaLnBrk="1" hangingPunct="1"/>
              <a:t>45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7D043C6-695B-4FC7-87CC-D0C371AF5A45}" type="slidenum">
              <a:rPr lang="he-IL" altLang="he-IL" smtClean="0">
                <a:latin typeface="Calibri" pitchFamily="34" charset="0"/>
              </a:rPr>
              <a:pPr eaLnBrk="1" hangingPunct="1"/>
              <a:t>46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0C42AB2-4E86-4865-837F-99E56BFEE2B0}" type="slidenum">
              <a:rPr lang="he-IL" altLang="he-IL" smtClean="0">
                <a:latin typeface="Calibri" pitchFamily="34" charset="0"/>
              </a:rPr>
              <a:pPr eaLnBrk="1" hangingPunct="1"/>
              <a:t>47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D1C4463-18C8-4F22-A171-F1086F9E2A91}" type="slidenum">
              <a:rPr lang="he-IL" altLang="he-IL" smtClean="0">
                <a:latin typeface="Calibri" pitchFamily="34" charset="0"/>
              </a:rPr>
              <a:pPr eaLnBrk="1" hangingPunct="1"/>
              <a:t>48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BB4A8A2-2BE0-486D-AFB4-9653301BD91D}" type="slidenum">
              <a:rPr lang="he-IL" altLang="he-IL" smtClean="0">
                <a:latin typeface="Calibri" pitchFamily="34" charset="0"/>
              </a:rPr>
              <a:pPr eaLnBrk="1" hangingPunct="1"/>
              <a:t>49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2DC8444-58F9-4A14-AC21-20BE4034578F}" type="slidenum">
              <a:rPr lang="he-IL" altLang="he-IL" smtClean="0">
                <a:latin typeface="Calibri" pitchFamily="34" charset="0"/>
              </a:rPr>
              <a:pPr eaLnBrk="1" hangingPunct="1"/>
              <a:t>50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C461566-D62B-4136-9FE2-A0400D1415DA}" type="slidenum">
              <a:rPr lang="he-IL" altLang="he-IL" smtClean="0">
                <a:latin typeface="Calibri" pitchFamily="34" charset="0"/>
              </a:rPr>
              <a:pPr eaLnBrk="1" hangingPunct="1"/>
              <a:t>51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27D4528-886D-4A61-834B-E201EFA8B3DF}" type="slidenum">
              <a:rPr lang="he-IL" altLang="he-IL" smtClean="0">
                <a:latin typeface="Calibri" pitchFamily="34" charset="0"/>
              </a:rPr>
              <a:pPr eaLnBrk="1" hangingPunct="1"/>
              <a:t>52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B8A3558-2AF2-4DCC-8CB2-B881B838E8AC}" type="slidenum">
              <a:rPr lang="he-IL" altLang="he-IL" smtClean="0">
                <a:latin typeface="Calibri" pitchFamily="34" charset="0"/>
              </a:rPr>
              <a:pPr eaLnBrk="1" hangingPunct="1"/>
              <a:t>53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5839D99-BC91-49B5-8B6E-18306C556E2D}" type="slidenum">
              <a:rPr lang="he-IL" altLang="he-IL" smtClean="0">
                <a:latin typeface="Calibri" pitchFamily="34" charset="0"/>
              </a:rPr>
              <a:pPr eaLnBrk="1" hangingPunct="1"/>
              <a:t>54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B5D853F-B2C5-4D82-926B-1528FA4423B2}" type="slidenum">
              <a:rPr lang="he-IL" altLang="he-IL" smtClean="0">
                <a:latin typeface="Calibri" pitchFamily="34" charset="0"/>
              </a:rPr>
              <a:pPr eaLnBrk="1" hangingPunct="1"/>
              <a:t>55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7AF84DC7-C526-45F1-883E-8030B5DE530F}" type="slidenum">
              <a:rPr lang="he-IL" altLang="he-IL" smtClean="0">
                <a:latin typeface="Calibri" pitchFamily="34" charset="0"/>
              </a:rPr>
              <a:pPr eaLnBrk="1" hangingPunct="1"/>
              <a:t>56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B5BF54B-9531-498B-9A33-95FB178003AA}" type="slidenum">
              <a:rPr lang="he-IL" altLang="he-IL" smtClean="0">
                <a:latin typeface="Calibri" pitchFamily="34" charset="0"/>
              </a:rPr>
              <a:pPr eaLnBrk="1" hangingPunct="1"/>
              <a:t>57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22A5E77-4484-4D54-84A0-9A502D7D988E}" type="slidenum">
              <a:rPr lang="he-IL" altLang="he-IL" smtClean="0">
                <a:latin typeface="Calibri" pitchFamily="34" charset="0"/>
              </a:rPr>
              <a:pPr eaLnBrk="1" hangingPunct="1"/>
              <a:t>58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249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66A1E86-4E27-423B-A753-EEBBE04F7762}" type="slidenum">
              <a:rPr lang="he-IL" altLang="he-IL" smtClean="0">
                <a:latin typeface="Calibri" pitchFamily="34" charset="0"/>
              </a:rPr>
              <a:pPr eaLnBrk="1" hangingPunct="1"/>
              <a:t>59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6C9048F-2F6B-4452-96F2-B8326ED1931A}" type="slidenum">
              <a:rPr lang="he-IL" altLang="he-IL" smtClean="0">
                <a:latin typeface="Calibri" pitchFamily="34" charset="0"/>
              </a:rPr>
              <a:pPr eaLnBrk="1" hangingPunct="1"/>
              <a:t>60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E8BA9F1-1E92-48B7-B160-15E0BDFFC87C}" type="slidenum">
              <a:rPr lang="he-IL" altLang="he-IL" smtClean="0">
                <a:latin typeface="Calibri" pitchFamily="34" charset="0"/>
              </a:rPr>
              <a:pPr eaLnBrk="1" hangingPunct="1"/>
              <a:t>61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270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 smtClean="0"/>
              <a:t>Click to edit Master subtitle style</a:t>
            </a:r>
            <a:endParaRPr lang="he-IL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C364F-7320-4634-BB72-E5AF558D5F1D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714BD-23D1-4AF6-96E9-38BC38E0CDF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25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F7093-A6B7-4BF5-B14C-EBC35F981DF0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C6BA29-C759-4BA5-AA90-BA8E40E4C25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2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4CADAA-871E-4637-86AB-40ACDCB4AD30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7CACD-DFEB-4340-8D08-D298EA48C0FE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8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C5CC11-9116-4AE2-99DF-6F53826741C2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EF4E5-AE7A-46B8-A847-A1EB5F32F7D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8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13F67-3A8B-4C40-AA66-FB0EB7D99121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57F8F-A224-4A8D-87E3-0D5036FDC24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6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C1B0D-057B-4F6B-A5AF-CD26EDA8663C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FF5BB-907C-4A19-A743-D261B9E5A8C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27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BBDD9-6148-4C5E-BF20-D2213D6A0C53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063FF-E5BF-4B1B-9DF4-330CE2C71E0E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8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60666-1D97-4AF3-B87C-0B9ECC320F7A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8080E-3799-4322-8843-5F2E89A6F0C3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9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B8C9A-0E87-48CF-9DD9-30D23462E25C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D11C4-1154-41B9-85EE-9EE4ADDA096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7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89069-5AE9-45E6-82FD-B7A96AA3FE4D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1D3311-DB67-4933-8260-8B03A052FC0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5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EA22E-2031-46E0-9FA5-594C685A4206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D52AE-5C7F-4F8A-A775-803582BE62E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16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92DA8-7D40-468D-8E2B-A962D155AAEB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1F351-829F-4803-AFAD-8909131624A5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11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228600"/>
            <a:ext cx="7772400" cy="1143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066800" y="1143000"/>
            <a:ext cx="7772400" cy="4572000"/>
          </a:xfrm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7315200" y="6324600"/>
            <a:ext cx="3962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</a:t>
            </a:r>
            <a:r>
              <a:rPr lang="en-US" dirty="0" err="1" smtClean="0"/>
              <a:t>Sagie</a:t>
            </a:r>
            <a:r>
              <a:rPr lang="en-US" dirty="0" smtClean="0"/>
              <a:t> </a:t>
            </a:r>
            <a:r>
              <a:rPr lang="en-US" dirty="0" err="1" smtClean="0"/>
              <a:t>Feigin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4899BE-9B61-4B38-A25C-BAE90A5B7C9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31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228600"/>
            <a:ext cx="7772400" cy="1143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066800" y="1143000"/>
            <a:ext cx="7772400" cy="4572000"/>
          </a:xfrm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7315200" y="6324600"/>
            <a:ext cx="3962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</a:t>
            </a:r>
            <a:r>
              <a:rPr lang="en-US" dirty="0" err="1" smtClean="0"/>
              <a:t>Sagie</a:t>
            </a:r>
            <a:r>
              <a:rPr lang="en-US" dirty="0" smtClean="0"/>
              <a:t> </a:t>
            </a:r>
            <a:r>
              <a:rPr lang="en-US" dirty="0" err="1" smtClean="0"/>
              <a:t>Feigin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3829-9B7F-4745-A139-FC1D3E3D114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22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228600"/>
            <a:ext cx="7772400" cy="1143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066800" y="1143000"/>
            <a:ext cx="7772400" cy="4572000"/>
          </a:xfrm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7315200" y="6324600"/>
            <a:ext cx="3962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</a:t>
            </a:r>
            <a:r>
              <a:rPr lang="en-US" dirty="0" err="1" smtClean="0"/>
              <a:t>Sagie</a:t>
            </a:r>
            <a:r>
              <a:rPr lang="en-US" dirty="0" smtClean="0"/>
              <a:t> </a:t>
            </a:r>
            <a:r>
              <a:rPr lang="en-US" dirty="0" err="1" smtClean="0"/>
              <a:t>Feigin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3C04B1-17A8-4272-947C-34ABFDE13CB3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3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 smtClean="0"/>
              <a:t>לחץ כדי לערוך סגנון כותרת של תבנית בסיס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 smtClean="0"/>
              <a:t>לחץ כדי לערוך סגנונות טקסט של תבנית בסיס</a:t>
            </a:r>
          </a:p>
          <a:p>
            <a:pPr lvl="1"/>
            <a:r>
              <a:rPr lang="he-IL" altLang="he-IL" smtClean="0"/>
              <a:t>רמה שנייה</a:t>
            </a:r>
          </a:p>
          <a:p>
            <a:pPr lvl="2"/>
            <a:r>
              <a:rPr lang="he-IL" altLang="he-IL" smtClean="0"/>
              <a:t>רמה שלישית</a:t>
            </a:r>
          </a:p>
          <a:p>
            <a:pPr lvl="3"/>
            <a:r>
              <a:rPr lang="he-IL" altLang="he-IL" smtClean="0"/>
              <a:t>רמה רביעית</a:t>
            </a:r>
          </a:p>
          <a:p>
            <a:pPr lvl="4"/>
            <a:r>
              <a:rPr lang="he-IL" altLang="he-IL" smtClean="0"/>
              <a:t>רמה חמישית</a:t>
            </a:r>
          </a:p>
        </p:txBody>
      </p:sp>
      <p:sp>
        <p:nvSpPr>
          <p:cNvPr id="2693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cs typeface="+mn-cs"/>
              </a:defRPr>
            </a:lvl1pPr>
          </a:lstStyle>
          <a:p>
            <a:pPr>
              <a:defRPr/>
            </a:pPr>
            <a:fld id="{2D93E399-C66D-4E80-9597-08D209347129}" type="datetime1">
              <a:rPr lang="en-US"/>
              <a:pPr>
                <a:defRPr/>
              </a:pPr>
              <a:t>5/1/2022</a:t>
            </a:fld>
            <a:endParaRPr lang="en-US"/>
          </a:p>
        </p:txBody>
      </p:sp>
      <p:sp>
        <p:nvSpPr>
          <p:cNvPr id="2693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93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792162E-8C5F-4B2C-8794-11C4DC0AD26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269319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Times New Roman" pitchFamily="18" charset="0"/>
              <a:cs typeface="+mn-cs"/>
            </a:endParaRPr>
          </a:p>
        </p:txBody>
      </p:sp>
      <p:sp>
        <p:nvSpPr>
          <p:cNvPr id="269320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69321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Times New Roman" pitchFamily="18" charset="0"/>
              <a:cs typeface="+mn-cs"/>
            </a:endParaRPr>
          </a:p>
        </p:txBody>
      </p:sp>
      <p:sp>
        <p:nvSpPr>
          <p:cNvPr id="269322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Times New Roman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42" r:id="rId2"/>
    <p:sldLayoutId id="2147484043" r:id="rId3"/>
    <p:sldLayoutId id="2147484044" r:id="rId4"/>
    <p:sldLayoutId id="2147484045" r:id="rId5"/>
    <p:sldLayoutId id="2147484046" r:id="rId6"/>
    <p:sldLayoutId id="2147484047" r:id="rId7"/>
    <p:sldLayoutId id="2147484048" r:id="rId8"/>
    <p:sldLayoutId id="2147484049" r:id="rId9"/>
    <p:sldLayoutId id="2147484050" r:id="rId10"/>
    <p:sldLayoutId id="2147484051" r:id="rId11"/>
    <p:sldLayoutId id="2147484052" r:id="rId12"/>
    <p:sldLayoutId id="2147484054" r:id="rId13"/>
    <p:sldLayoutId id="2147484055" r:id="rId14"/>
    <p:sldLayoutId id="2147484056" r:id="rId1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2pPr>
      <a:lvl3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3pPr>
      <a:lvl4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4pPr>
      <a:lvl5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he-IL" altLang="he-IL" smtClean="0"/>
              <a:t>כתובות ומערכים </a:t>
            </a:r>
            <a:br>
              <a:rPr lang="he-IL" altLang="he-IL" smtClean="0"/>
            </a:br>
            <a:r>
              <a:rPr lang="he-IL" altLang="he-IL" smtClean="0"/>
              <a:t>אריתמטיקה של כתובות</a:t>
            </a:r>
            <a:endParaRPr lang="en-US" altLang="he-IL" smtClean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he-IL" altLang="he-IL" dirty="0" smtClean="0"/>
              <a:t>שגיא </a:t>
            </a:r>
            <a:r>
              <a:rPr lang="he-IL" altLang="he-IL" dirty="0" err="1" smtClean="0"/>
              <a:t>פייגין</a:t>
            </a:r>
            <a:endParaRPr lang="en-US" altLang="he-IL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ביחידה זו נלמד:</a:t>
            </a:r>
            <a:endParaRPr lang="en-US" altLang="he-IL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הקשר בין מערך לכתובת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פעולות חיבור וחיסור עם כתובות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מצביע מטייל על מערך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הפונקציות </a:t>
            </a:r>
            <a:r>
              <a:rPr lang="en-US" altLang="he-IL" smtClean="0"/>
              <a:t>strstr</a:t>
            </a:r>
            <a:r>
              <a:rPr lang="he-IL" altLang="he-IL" smtClean="0"/>
              <a:t> ו- </a:t>
            </a:r>
            <a:r>
              <a:rPr lang="en-US" altLang="he-IL" smtClean="0"/>
              <a:t>strchr</a:t>
            </a:r>
            <a:endParaRPr lang="he-IL" altLang="he-IL" smtClean="0"/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העברת מערך לפונקציה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הבעייתיות בהחזרת מערך מפונקציה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מערך של כתובות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איתחול מצביע למחרוזת קבועה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העברת מצביע לפונקציה לצורך שינוי הצבעתו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הפונקציה </a:t>
            </a:r>
            <a:r>
              <a:rPr lang="en-US" altLang="he-IL" smtClean="0"/>
              <a:t>strtok</a:t>
            </a:r>
            <a:endParaRPr lang="he-IL" altLang="he-IL" smtClean="0"/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הפונקציה </a:t>
            </a:r>
            <a:r>
              <a:rPr lang="en-US" altLang="he-IL" smtClean="0"/>
              <a:t>memcpy</a:t>
            </a:r>
            <a:endParaRPr lang="he-IL" altLang="he-IL" smtClean="0"/>
          </a:p>
          <a:p>
            <a:pPr eaLnBrk="1" hangingPunct="1">
              <a:lnSpc>
                <a:spcPct val="90000"/>
              </a:lnSpc>
            </a:pPr>
            <a:endParaRPr lang="he-IL" altLang="he-IL" smtClean="0"/>
          </a:p>
          <a:p>
            <a:pPr eaLnBrk="1" hangingPunct="1">
              <a:lnSpc>
                <a:spcPct val="90000"/>
              </a:lnSpc>
            </a:pPr>
            <a:endParaRPr lang="he-IL" altLang="he-IL" smtClean="0"/>
          </a:p>
        </p:txBody>
      </p:sp>
      <p:sp>
        <p:nvSpPr>
          <p:cNvPr id="7172" name="Slide Number Placeholder 3"/>
          <p:cNvSpPr txBox="1">
            <a:spLocks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2CA44BE6-E653-461F-B13D-19B79B4BD8ED}" type="slidenum">
              <a:rPr lang="he-IL" altLang="he-IL" sz="1000">
                <a:latin typeface="Verdana" pitchFamily="34" charset="0"/>
              </a:rPr>
              <a:pPr algn="r" rtl="1" eaLnBrk="1" hangingPunct="1"/>
              <a:t>2</a:t>
            </a:fld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>
                <a:latin typeface="Verdana" pitchFamily="34" charset="0"/>
              </a:rPr>
              <a:t>© </a:t>
            </a:r>
            <a:r>
              <a:rPr lang="en-US" altLang="he-IL" sz="1000" dirty="0" err="1" smtClean="0">
                <a:latin typeface="Verdana" pitchFamily="34" charset="0"/>
              </a:rPr>
              <a:t>Sagie</a:t>
            </a:r>
            <a:r>
              <a:rPr lang="en-US" altLang="he-IL" sz="1000" dirty="0" smtClean="0">
                <a:latin typeface="Verdana" pitchFamily="34" charset="0"/>
              </a:rPr>
              <a:t> </a:t>
            </a:r>
            <a:r>
              <a:rPr lang="en-US" altLang="he-IL" sz="1000" dirty="0" err="1" smtClean="0">
                <a:latin typeface="Verdana" pitchFamily="34" charset="0"/>
              </a:rPr>
              <a:t>Feigin</a:t>
            </a:r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13" name="Rectangle 77"/>
          <p:cNvSpPr>
            <a:spLocks noChangeArrowheads="1"/>
          </p:cNvSpPr>
          <p:nvPr/>
        </p:nvSpPr>
        <p:spPr bwMode="auto">
          <a:xfrm>
            <a:off x="228600" y="2209800"/>
            <a:ext cx="7391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he-IL" altLang="he-IL" sz="2800">
              <a:latin typeface="Verdana" pitchFamily="34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2000" noProof="1">
                <a:latin typeface="Verdana" pitchFamily="34" charset="0"/>
              </a:rPr>
              <a:t>void main()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2000" noProof="1">
                <a:latin typeface="Verdana" pitchFamily="34" charset="0"/>
              </a:rPr>
              <a:t>{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2000" noProof="1">
                <a:latin typeface="Verdana" pitchFamily="34" charset="0"/>
              </a:rPr>
              <a:t>	int arr[] = {4,2,8};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2000" noProof="1">
                <a:latin typeface="Verdana" pitchFamily="34" charset="0"/>
              </a:rPr>
              <a:t>	printf("In main</a:t>
            </a:r>
            <a:r>
              <a:rPr lang="en-US" altLang="he-IL" sz="2000">
                <a:latin typeface="Verdana" pitchFamily="34" charset="0"/>
              </a:rPr>
              <a:t>1</a:t>
            </a:r>
            <a:r>
              <a:rPr lang="en-US" altLang="he-IL" sz="2000" noProof="1">
                <a:latin typeface="Verdana" pitchFamily="34" charset="0"/>
              </a:rPr>
              <a:t>: The array starts at %p\n", arr);</a:t>
            </a:r>
            <a:endParaRPr lang="en-US" altLang="he-IL" sz="2000">
              <a:latin typeface="Verdana" pitchFamily="34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2000">
                <a:latin typeface="Verdana" pitchFamily="34" charset="0"/>
              </a:rPr>
              <a:t>	</a:t>
            </a:r>
            <a:r>
              <a:rPr lang="en-US" altLang="he-IL" sz="2000" noProof="1">
                <a:latin typeface="Verdana" pitchFamily="34" charset="0"/>
              </a:rPr>
              <a:t>printf("In main2: The array starts at %p\n", &amp;arr);</a:t>
            </a:r>
            <a:endParaRPr lang="en-US" altLang="he-IL" noProof="1">
              <a:latin typeface="Verdana" pitchFamily="34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2000" noProof="1">
                <a:latin typeface="Verdana" pitchFamily="34" charset="0"/>
              </a:rPr>
              <a:t>}</a:t>
            </a:r>
            <a:endParaRPr lang="he-IL" altLang="he-IL" sz="2000">
              <a:latin typeface="Verdana" pitchFamily="34" charset="0"/>
            </a:endParaRPr>
          </a:p>
          <a:p>
            <a: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endParaRPr lang="he-IL" altLang="he-IL" sz="2400">
              <a:latin typeface="Verdana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הקשר בין מערך וכתובת</a:t>
            </a:r>
            <a:endParaRPr lang="en-US" altLang="he-IL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r>
              <a:rPr lang="he-IL" altLang="he-IL" dirty="0" smtClean="0"/>
              <a:t>כאשר פונים למשתנה רגיל מקבלים את הערך בתא.</a:t>
            </a:r>
          </a:p>
          <a:p>
            <a:r>
              <a:rPr lang="he-IL" altLang="he-IL" dirty="0" smtClean="0"/>
              <a:t>כאשר פונים למערך, מקבלים את כתובת תחילת המערך</a:t>
            </a:r>
          </a:p>
          <a:p>
            <a:pPr algn="l" rtl="0">
              <a:buFont typeface="Wingdings" pitchFamily="2" charset="2"/>
              <a:buNone/>
            </a:pPr>
            <a:endParaRPr lang="he-IL" altLang="he-IL" sz="2000" noProof="1" smtClean="0"/>
          </a:p>
        </p:txBody>
      </p:sp>
      <p:sp>
        <p:nvSpPr>
          <p:cNvPr id="65568" name="Rectangle 32"/>
          <p:cNvSpPr>
            <a:spLocks noChangeArrowheads="1"/>
          </p:cNvSpPr>
          <p:nvPr/>
        </p:nvSpPr>
        <p:spPr bwMode="auto">
          <a:xfrm>
            <a:off x="3733800" y="3124200"/>
            <a:ext cx="5105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פניה לשם המערך נותנת לנו את כתובת ההתחלה שלו!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65569" name="Line 33"/>
          <p:cNvSpPr>
            <a:spLocks noChangeShapeType="1"/>
          </p:cNvSpPr>
          <p:nvPr/>
        </p:nvSpPr>
        <p:spPr bwMode="auto">
          <a:xfrm>
            <a:off x="6248400" y="3581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5570" name="Line 34"/>
          <p:cNvSpPr>
            <a:spLocks noChangeShapeType="1"/>
          </p:cNvSpPr>
          <p:nvPr/>
        </p:nvSpPr>
        <p:spPr bwMode="auto">
          <a:xfrm flipH="1">
            <a:off x="5715000" y="35814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graphicFrame>
        <p:nvGraphicFramePr>
          <p:cNvPr id="65606" name="Group 70"/>
          <p:cNvGraphicFramePr>
            <a:graphicFrameLocks noGrp="1"/>
          </p:cNvGraphicFramePr>
          <p:nvPr>
            <p:ph sz="half" idx="2"/>
          </p:nvPr>
        </p:nvGraphicFramePr>
        <p:xfrm>
          <a:off x="6858000" y="5257800"/>
          <a:ext cx="2133600" cy="1097202"/>
        </p:xfrm>
        <a:graphic>
          <a:graphicData uri="http://schemas.openxmlformats.org/drawingml/2006/table">
            <a:tbl>
              <a:tblPr/>
              <a:tblGrid>
                <a:gridCol w="990600"/>
                <a:gridCol w="533400"/>
                <a:gridCol w="6096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5607" name="Text Box 71"/>
          <p:cNvSpPr txBox="1">
            <a:spLocks noChangeArrowheads="1"/>
          </p:cNvSpPr>
          <p:nvPr/>
        </p:nvSpPr>
        <p:spPr bwMode="auto">
          <a:xfrm>
            <a:off x="76200" y="5105400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 noProof="1"/>
              <a:t>In main: The array starts at </a:t>
            </a:r>
            <a:r>
              <a:rPr lang="en-US" altLang="he-IL"/>
              <a:t>1000</a:t>
            </a:r>
          </a:p>
        </p:txBody>
      </p:sp>
      <p:pic>
        <p:nvPicPr>
          <p:cNvPr id="65608" name="Picture 7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513388"/>
            <a:ext cx="5638800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609" name="Text Box 73"/>
          <p:cNvSpPr txBox="1">
            <a:spLocks noChangeArrowheads="1"/>
          </p:cNvSpPr>
          <p:nvPr/>
        </p:nvSpPr>
        <p:spPr bwMode="auto">
          <a:xfrm>
            <a:off x="7315200" y="42052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 b="1"/>
              <a:t>ואפשר גם כך:</a:t>
            </a:r>
            <a:endParaRPr lang="en-US" altLang="he-IL" b="1"/>
          </a:p>
        </p:txBody>
      </p:sp>
      <p:sp>
        <p:nvSpPr>
          <p:cNvPr id="65610" name="Rectangle 74"/>
          <p:cNvSpPr>
            <a:spLocks noChangeArrowheads="1"/>
          </p:cNvSpPr>
          <p:nvPr/>
        </p:nvSpPr>
        <p:spPr bwMode="auto">
          <a:xfrm>
            <a:off x="4724400" y="4724400"/>
            <a:ext cx="2209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פניה לכתובת של </a:t>
            </a:r>
            <a:r>
              <a:rPr lang="en-US" altLang="he-IL" b="1">
                <a:solidFill>
                  <a:schemeClr val="bg1"/>
                </a:solidFill>
              </a:rPr>
              <a:t>arr</a:t>
            </a:r>
          </a:p>
        </p:txBody>
      </p:sp>
      <p:sp>
        <p:nvSpPr>
          <p:cNvPr id="65611" name="Line 75"/>
          <p:cNvSpPr>
            <a:spLocks noChangeShapeType="1"/>
          </p:cNvSpPr>
          <p:nvPr/>
        </p:nvSpPr>
        <p:spPr bwMode="auto">
          <a:xfrm flipH="1" flipV="1">
            <a:off x="5791200" y="4495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5612" name="Line 76"/>
          <p:cNvSpPr>
            <a:spLocks noChangeShapeType="1"/>
          </p:cNvSpPr>
          <p:nvPr/>
        </p:nvSpPr>
        <p:spPr bwMode="auto">
          <a:xfrm flipV="1">
            <a:off x="6019800" y="44958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822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06AFE55A-5B82-4260-83AC-0338C65EC6B2}" type="slidenum">
              <a:rPr lang="he-IL" altLang="he-IL" smtClean="0">
                <a:latin typeface="Verdana" pitchFamily="34" charset="0"/>
              </a:rPr>
              <a:pPr algn="r" rtl="1" eaLnBrk="1" hangingPunct="1"/>
              <a:t>3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הקשר בין מערך וכתובת (2)</a:t>
            </a:r>
            <a:endParaRPr lang="en-US" altLang="he-IL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he-IL" dirty="0" smtClean="0"/>
              <a:t>מאחר ושם המערך הוא למעשה </a:t>
            </a:r>
            <a:r>
              <a:rPr lang="he-IL" altLang="he-IL" b="1" dirty="0" smtClean="0"/>
              <a:t>כתובת</a:t>
            </a:r>
            <a:r>
              <a:rPr lang="he-IL" altLang="he-IL" dirty="0" smtClean="0"/>
              <a:t> תחילת המערך, ניתן להפעיל עליו את </a:t>
            </a:r>
            <a:r>
              <a:rPr lang="he-IL" altLang="he-IL" b="1" dirty="0" smtClean="0"/>
              <a:t>האופרטור *.</a:t>
            </a:r>
          </a:p>
          <a:p>
            <a:endParaRPr lang="he-IL" altLang="he-IL" b="1" dirty="0" smtClean="0"/>
          </a:p>
          <a:p>
            <a:r>
              <a:rPr lang="he-IL" altLang="he-IL" dirty="0" smtClean="0"/>
              <a:t>ראינו כי כאשר מפעילים את האופרטור * על משתנה המכיל כתובת של </a:t>
            </a:r>
            <a:r>
              <a:rPr lang="en-US" altLang="he-IL" dirty="0" err="1" smtClean="0"/>
              <a:t>int</a:t>
            </a:r>
            <a:r>
              <a:rPr lang="he-IL" altLang="he-IL" dirty="0" smtClean="0"/>
              <a:t>, אנו מקבלים את הערך שבתוך התא של הכתובת, כלומר </a:t>
            </a:r>
            <a:r>
              <a:rPr lang="en-US" altLang="he-IL" dirty="0" err="1" smtClean="0"/>
              <a:t>int</a:t>
            </a:r>
            <a:r>
              <a:rPr lang="he-IL" altLang="he-IL" dirty="0" smtClean="0"/>
              <a:t> כלשהו.</a:t>
            </a:r>
          </a:p>
          <a:p>
            <a:endParaRPr lang="he-IL" altLang="he-IL" dirty="0" smtClean="0"/>
          </a:p>
          <a:p>
            <a:r>
              <a:rPr lang="he-IL" altLang="he-IL" dirty="0" smtClean="0"/>
              <a:t>במערך, כתובת ההתחלה מכילה את האיבר הראשון במערך, לכן הפעלת האופרטור * על שם המערך תחזיר את הערך של האיבר הראשון במערך.</a:t>
            </a:r>
            <a:endParaRPr lang="en-US" altLang="he-IL" dirty="0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A8218FF6-0241-4358-A9E3-A7D849CEC388}" type="slidenum">
              <a:rPr lang="he-IL" altLang="he-IL" smtClean="0">
                <a:latin typeface="Verdana" pitchFamily="34" charset="0"/>
              </a:rPr>
              <a:pPr algn="r" rtl="1" eaLnBrk="1" hangingPunct="1"/>
              <a:t>4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הקשר בין מערך וכתובת (3)</a:t>
            </a:r>
            <a:endParaRPr lang="en-US" altLang="he-IL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#include &lt;stdio.h&gt;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 arr[] = {4,2,8};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printf("value of first element is %d\n", *arr);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  <a:endParaRPr lang="en-US" altLang="he-IL" sz="2000" smtClean="0"/>
          </a:p>
        </p:txBody>
      </p:sp>
      <p:pic>
        <p:nvPicPr>
          <p:cNvPr id="716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24400"/>
            <a:ext cx="52578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1685" name="Group 5"/>
          <p:cNvGraphicFramePr>
            <a:graphicFrameLocks noGrp="1"/>
          </p:cNvGraphicFramePr>
          <p:nvPr>
            <p:ph sz="half" idx="2"/>
          </p:nvPr>
        </p:nvGraphicFramePr>
        <p:xfrm>
          <a:off x="6172200" y="4724400"/>
          <a:ext cx="2438400" cy="1177926"/>
        </p:xfrm>
        <a:graphic>
          <a:graphicData uri="http://schemas.openxmlformats.org/drawingml/2006/table">
            <a:tbl>
              <a:tblPr/>
              <a:tblGrid>
                <a:gridCol w="1131888"/>
                <a:gridCol w="609600"/>
                <a:gridCol w="696912"/>
              </a:tblGrid>
              <a:tr h="392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1704" name="AutoShape 24"/>
          <p:cNvSpPr>
            <a:spLocks/>
          </p:cNvSpPr>
          <p:nvPr/>
        </p:nvSpPr>
        <p:spPr bwMode="auto">
          <a:xfrm rot="-5400000">
            <a:off x="6172200" y="2971800"/>
            <a:ext cx="266700" cy="419100"/>
          </a:xfrm>
          <a:prstGeom prst="rightBrace">
            <a:avLst>
              <a:gd name="adj1" fmla="val 1309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71705" name="Text Box 25"/>
          <p:cNvSpPr txBox="1">
            <a:spLocks noChangeArrowheads="1"/>
          </p:cNvSpPr>
          <p:nvPr/>
        </p:nvSpPr>
        <p:spPr bwMode="auto">
          <a:xfrm>
            <a:off x="5638800" y="2757488"/>
            <a:ext cx="1447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e-IL" altLang="he-IL"/>
              <a:t>כתובת 1000</a:t>
            </a:r>
            <a:endParaRPr lang="en-US" altLang="he-IL"/>
          </a:p>
        </p:txBody>
      </p:sp>
      <p:sp>
        <p:nvSpPr>
          <p:cNvPr id="71706" name="AutoShape 26"/>
          <p:cNvSpPr>
            <a:spLocks/>
          </p:cNvSpPr>
          <p:nvPr/>
        </p:nvSpPr>
        <p:spPr bwMode="auto">
          <a:xfrm rot="5400000">
            <a:off x="6057900" y="3390900"/>
            <a:ext cx="266700" cy="571500"/>
          </a:xfrm>
          <a:prstGeom prst="rightBrace">
            <a:avLst>
              <a:gd name="adj1" fmla="val 178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71707" name="Text Box 27"/>
          <p:cNvSpPr txBox="1">
            <a:spLocks noChangeArrowheads="1"/>
          </p:cNvSpPr>
          <p:nvPr/>
        </p:nvSpPr>
        <p:spPr bwMode="auto">
          <a:xfrm>
            <a:off x="5181600" y="3671888"/>
            <a:ext cx="2209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e-IL" altLang="he-IL"/>
              <a:t>התוכן שבכתובת 1000</a:t>
            </a:r>
            <a:endParaRPr lang="en-US" altLang="he-IL"/>
          </a:p>
        </p:txBody>
      </p:sp>
      <p:sp>
        <p:nvSpPr>
          <p:cNvPr id="71708" name="Text Box 28"/>
          <p:cNvSpPr txBox="1">
            <a:spLocks noChangeArrowheads="1"/>
          </p:cNvSpPr>
          <p:nvPr/>
        </p:nvSpPr>
        <p:spPr bwMode="auto">
          <a:xfrm>
            <a:off x="6858000" y="3581400"/>
            <a:ext cx="22098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כתובת ההתחלה מכילה את האיבר הראשון במערך</a:t>
            </a:r>
            <a:endParaRPr lang="en-US" altLang="he-IL"/>
          </a:p>
        </p:txBody>
      </p:sp>
      <p:sp>
        <p:nvSpPr>
          <p:cNvPr id="71709" name="Line 29"/>
          <p:cNvSpPr>
            <a:spLocks noChangeShapeType="1"/>
          </p:cNvSpPr>
          <p:nvPr/>
        </p:nvSpPr>
        <p:spPr bwMode="auto">
          <a:xfrm flipH="1">
            <a:off x="8153400" y="44958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268" name="Slide Number Placeholder 3"/>
          <p:cNvSpPr txBox="1">
            <a:spLocks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3F42EF0A-7D10-4685-8FD0-432449EA51EB}" type="slidenum">
              <a:rPr lang="he-IL" altLang="he-IL" sz="1000">
                <a:latin typeface="Verdana" pitchFamily="34" charset="0"/>
              </a:rPr>
              <a:pPr algn="r" rtl="1" eaLnBrk="1" hangingPunct="1"/>
              <a:t>5</a:t>
            </a:fld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>
                <a:latin typeface="Verdana" pitchFamily="34" charset="0"/>
              </a:rPr>
              <a:t>© </a:t>
            </a:r>
            <a:r>
              <a:rPr lang="en-US" altLang="he-IL" sz="1000" dirty="0" err="1" smtClean="0">
                <a:latin typeface="Verdana" pitchFamily="34" charset="0"/>
              </a:rPr>
              <a:t>Sagie</a:t>
            </a:r>
            <a:r>
              <a:rPr lang="en-US" altLang="he-IL" sz="1000" dirty="0" smtClean="0">
                <a:latin typeface="Verdana" pitchFamily="34" charset="0"/>
              </a:rPr>
              <a:t> </a:t>
            </a:r>
            <a:r>
              <a:rPr lang="en-US" altLang="he-IL" sz="1000" dirty="0" err="1" smtClean="0">
                <a:latin typeface="Verdana" pitchFamily="34" charset="0"/>
              </a:rPr>
              <a:t>Feigin</a:t>
            </a:r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>
              <a:defRPr/>
            </a:pPr>
            <a:r>
              <a:rPr lang="he-IL" dirty="0" smtClean="0"/>
              <a:t>מוגדרות 3 פעולות אריתמטיות לפעולות עם כתובות: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he-IL" dirty="0" smtClean="0"/>
              <a:t>כתובת + מספר שלם </a:t>
            </a:r>
            <a:r>
              <a:rPr lang="en-US" dirty="0" smtClean="0">
                <a:sym typeface="Wingdings" pitchFamily="2" charset="2"/>
              </a:rPr>
              <a:t></a:t>
            </a:r>
            <a:r>
              <a:rPr lang="he-IL" dirty="0" smtClean="0">
                <a:sym typeface="Wingdings" pitchFamily="2" charset="2"/>
              </a:rPr>
              <a:t> </a:t>
            </a:r>
            <a:r>
              <a:rPr lang="he-IL" dirty="0" smtClean="0"/>
              <a:t>כתובת </a:t>
            </a:r>
          </a:p>
          <a:p>
            <a:pPr lvl="1">
              <a:defRPr/>
            </a:pPr>
            <a:r>
              <a:rPr lang="he-IL" dirty="0" smtClean="0"/>
              <a:t>כאשר מחברים כתובת </a:t>
            </a:r>
            <a:r>
              <a:rPr lang="en-US" dirty="0" smtClean="0"/>
              <a:t>p</a:t>
            </a:r>
            <a:r>
              <a:rPr lang="he-IL" dirty="0" smtClean="0"/>
              <a:t> לטיפוס </a:t>
            </a:r>
            <a:r>
              <a:rPr lang="en-US" dirty="0" smtClean="0"/>
              <a:t>type</a:t>
            </a:r>
            <a:r>
              <a:rPr lang="he-IL" dirty="0" smtClean="0"/>
              <a:t> מספר שלם </a:t>
            </a:r>
            <a:r>
              <a:rPr lang="en-US" dirty="0" smtClean="0"/>
              <a:t>k</a:t>
            </a:r>
            <a:r>
              <a:rPr lang="he-IL" dirty="0" smtClean="0"/>
              <a:t> התוצאה:</a:t>
            </a:r>
          </a:p>
          <a:p>
            <a:pPr algn="l" rtl="0">
              <a:buFont typeface="Wingdings" pitchFamily="2" charset="2"/>
              <a:buNone/>
              <a:defRPr/>
            </a:pPr>
            <a:r>
              <a:rPr lang="he-IL" sz="2400" dirty="0" smtClean="0"/>
              <a:t>  </a:t>
            </a:r>
            <a:r>
              <a:rPr lang="en-US" sz="2400" dirty="0" err="1" smtClean="0"/>
              <a:t>p+k</a:t>
            </a:r>
            <a:r>
              <a:rPr lang="en-US" sz="2400" dirty="0" smtClean="0"/>
              <a:t> =p + k*</a:t>
            </a:r>
            <a:r>
              <a:rPr lang="en-US" sz="2400" dirty="0" err="1" smtClean="0"/>
              <a:t>sizeof</a:t>
            </a:r>
            <a:r>
              <a:rPr lang="en-US" sz="2400" dirty="0" smtClean="0"/>
              <a:t>(type)</a:t>
            </a:r>
          </a:p>
          <a:p>
            <a:pPr marL="914400" lvl="1" indent="-457200">
              <a:buFont typeface="Wingdings" pitchFamily="2" charset="2"/>
              <a:buNone/>
              <a:defRPr/>
            </a:pPr>
            <a:endParaRPr lang="he-IL" dirty="0" smtClean="0"/>
          </a:p>
          <a:p>
            <a:pPr marL="914400" lvl="1" indent="-457200">
              <a:buFont typeface="+mj-lt"/>
              <a:buAutoNum type="arabicPeriod" startAt="2"/>
              <a:defRPr/>
            </a:pPr>
            <a:r>
              <a:rPr lang="he-IL" dirty="0" smtClean="0"/>
              <a:t>כתובת - מספר שלם </a:t>
            </a:r>
            <a:r>
              <a:rPr lang="en-US" dirty="0" smtClean="0">
                <a:sym typeface="Wingdings" pitchFamily="2" charset="2"/>
              </a:rPr>
              <a:t></a:t>
            </a:r>
            <a:r>
              <a:rPr lang="he-IL" dirty="0" smtClean="0">
                <a:sym typeface="Wingdings" pitchFamily="2" charset="2"/>
              </a:rPr>
              <a:t> </a:t>
            </a:r>
            <a:r>
              <a:rPr lang="he-IL" dirty="0" smtClean="0"/>
              <a:t>כתובת </a:t>
            </a:r>
          </a:p>
          <a:p>
            <a:pPr lvl="1">
              <a:defRPr/>
            </a:pPr>
            <a:r>
              <a:rPr lang="he-IL" sz="2000" dirty="0" smtClean="0"/>
              <a:t>כאשר מחסרים מכתובת </a:t>
            </a:r>
            <a:r>
              <a:rPr lang="en-US" sz="2000" dirty="0" smtClean="0"/>
              <a:t>p</a:t>
            </a:r>
            <a:r>
              <a:rPr lang="he-IL" sz="2000" dirty="0" smtClean="0"/>
              <a:t> לטיפוס </a:t>
            </a:r>
            <a:r>
              <a:rPr lang="en-US" sz="2000" dirty="0" smtClean="0"/>
              <a:t>type</a:t>
            </a:r>
            <a:r>
              <a:rPr lang="he-IL" sz="2000" dirty="0" smtClean="0"/>
              <a:t> מספר שלם </a:t>
            </a:r>
            <a:r>
              <a:rPr lang="en-US" sz="2000" dirty="0" smtClean="0"/>
              <a:t>k</a:t>
            </a:r>
            <a:r>
              <a:rPr lang="he-IL" sz="2000" dirty="0" smtClean="0"/>
              <a:t> התוצאה:</a:t>
            </a:r>
          </a:p>
          <a:p>
            <a:pPr algn="l" rtl="0">
              <a:buFont typeface="Wingdings" pitchFamily="2" charset="2"/>
              <a:buNone/>
              <a:defRPr/>
            </a:pPr>
            <a:r>
              <a:rPr lang="he-IL" sz="2400" dirty="0" smtClean="0"/>
              <a:t>  </a:t>
            </a:r>
            <a:r>
              <a:rPr lang="en-US" sz="2400" dirty="0" smtClean="0"/>
              <a:t>p-k =p - k*</a:t>
            </a:r>
            <a:r>
              <a:rPr lang="en-US" sz="2400" dirty="0" err="1" smtClean="0"/>
              <a:t>sizeof</a:t>
            </a:r>
            <a:r>
              <a:rPr lang="en-US" sz="2400" dirty="0" smtClean="0"/>
              <a:t>(type)</a:t>
            </a:r>
            <a:endParaRPr lang="he-IL" sz="2400" dirty="0" smtClean="0"/>
          </a:p>
          <a:p>
            <a:pPr marL="914400" lvl="1" indent="-457200">
              <a:buFont typeface="+mj-lt"/>
              <a:buAutoNum type="arabicPeriod"/>
              <a:defRPr/>
            </a:pPr>
            <a:endParaRPr lang="he-IL" dirty="0" smtClean="0"/>
          </a:p>
          <a:p>
            <a:pPr marL="914400" lvl="1" indent="-457200">
              <a:buFont typeface="+mj-lt"/>
              <a:buAutoNum type="arabicPeriod" startAt="3"/>
              <a:defRPr/>
            </a:pPr>
            <a:r>
              <a:rPr lang="he-IL" dirty="0" smtClean="0"/>
              <a:t>כתובת– כתובת </a:t>
            </a:r>
            <a:r>
              <a:rPr lang="en-US" dirty="0" smtClean="0">
                <a:sym typeface="Wingdings" pitchFamily="2" charset="2"/>
              </a:rPr>
              <a:t></a:t>
            </a:r>
            <a:r>
              <a:rPr lang="he-IL" dirty="0" smtClean="0">
                <a:sym typeface="Wingdings" pitchFamily="2" charset="2"/>
              </a:rPr>
              <a:t> מספר שלם</a:t>
            </a:r>
          </a:p>
          <a:p>
            <a:pPr>
              <a:defRPr/>
            </a:pPr>
            <a:endParaRPr lang="he-IL" sz="2400" dirty="0" smtClean="0"/>
          </a:p>
          <a:p>
            <a:pPr>
              <a:defRPr/>
            </a:pPr>
            <a:endParaRPr lang="he-IL" sz="2400" dirty="0" smtClean="0"/>
          </a:p>
          <a:p>
            <a:pPr algn="l" rtl="0">
              <a:buFont typeface="Wingdings" pitchFamily="2" charset="2"/>
              <a:buNone/>
              <a:defRPr/>
            </a:pPr>
            <a:endParaRPr lang="he-IL" sz="2400" dirty="0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פעולות אריתמטיות על כתובות</a:t>
            </a:r>
            <a:endParaRPr lang="en-US" altLang="he-IL" smtClean="0"/>
          </a:p>
        </p:txBody>
      </p:sp>
      <p:sp>
        <p:nvSpPr>
          <p:cNvPr id="11268" name="Slide Number Placeholder 3"/>
          <p:cNvSpPr txBox="1">
            <a:spLocks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76D35194-B882-4E03-9A44-D713E84B3C1C}" type="slidenum">
              <a:rPr lang="he-IL" altLang="he-IL" sz="1000">
                <a:latin typeface="Verdana" pitchFamily="34" charset="0"/>
              </a:rPr>
              <a:pPr algn="r" rtl="1" eaLnBrk="1" hangingPunct="1"/>
              <a:t>6</a:t>
            </a:fld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>
                <a:latin typeface="Verdana" pitchFamily="34" charset="0"/>
              </a:rPr>
              <a:t>© </a:t>
            </a:r>
            <a:r>
              <a:rPr lang="en-US" altLang="he-IL" sz="1000" dirty="0" err="1" smtClean="0">
                <a:latin typeface="Verdana" pitchFamily="34" charset="0"/>
              </a:rPr>
              <a:t>Sagie</a:t>
            </a:r>
            <a:r>
              <a:rPr lang="en-US" altLang="he-IL" sz="1000" dirty="0" smtClean="0">
                <a:latin typeface="Verdana" pitchFamily="34" charset="0"/>
              </a:rPr>
              <a:t> </a:t>
            </a:r>
            <a:r>
              <a:rPr lang="en-US" altLang="he-IL" sz="1000" dirty="0" err="1" smtClean="0">
                <a:latin typeface="Verdana" pitchFamily="34" charset="0"/>
              </a:rPr>
              <a:t>Feigin</a:t>
            </a:r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877" name="Group 125"/>
          <p:cNvGraphicFramePr>
            <a:graphicFrameLocks noGrp="1"/>
          </p:cNvGraphicFramePr>
          <p:nvPr/>
        </p:nvGraphicFramePr>
        <p:xfrm>
          <a:off x="533400" y="5008563"/>
          <a:ext cx="2667000" cy="1620838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פעולות אריתמטיות על כתובות – </a:t>
            </a:r>
            <a:r>
              <a:rPr lang="he-IL" altLang="he-IL" sz="3200" smtClean="0"/>
              <a:t>דוגמא 1</a:t>
            </a:r>
            <a:endParaRPr lang="en-US" altLang="he-IL" sz="3200" smtClean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smtClean="0"/>
              <a:t>	</a:t>
            </a:r>
            <a:r>
              <a:rPr lang="en-US" altLang="he-IL" sz="2000" noProof="1" smtClean="0"/>
              <a:t>int arr[] = {4,2,8};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int* p = arr;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printf("&amp;arr=%p, p=%p\n", arr, p);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p++;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printf("&amp;(arr+1)=%p, p=%p\n", arr+1, p);</a:t>
            </a:r>
            <a:endParaRPr lang="he-IL" altLang="he-IL" sz="20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sz="2000" smtClean="0"/>
              <a:t>	</a:t>
            </a:r>
            <a:r>
              <a:rPr lang="en-US" altLang="he-IL" sz="2000" noProof="1" smtClean="0"/>
              <a:t>printf("*(arr+1)=%d, *p=%d\n", *(arr+1), *p);</a:t>
            </a:r>
            <a:endParaRPr lang="en-US" altLang="he-IL" sz="18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smtClean="0"/>
          </a:p>
        </p:txBody>
      </p:sp>
      <p:graphicFrame>
        <p:nvGraphicFramePr>
          <p:cNvPr id="74788" name="Group 36"/>
          <p:cNvGraphicFramePr>
            <a:graphicFrameLocks noGrp="1"/>
          </p:cNvGraphicFramePr>
          <p:nvPr>
            <p:ph sz="half" idx="2"/>
          </p:nvPr>
        </p:nvGraphicFramePr>
        <p:xfrm>
          <a:off x="533400" y="5008563"/>
          <a:ext cx="2667000" cy="1620838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4812" name="Group 60"/>
          <p:cNvGraphicFramePr>
            <a:graphicFrameLocks noGrp="1"/>
          </p:cNvGraphicFramePr>
          <p:nvPr/>
        </p:nvGraphicFramePr>
        <p:xfrm>
          <a:off x="533400" y="5008563"/>
          <a:ext cx="2667000" cy="1620838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4854" name="Group 102"/>
          <p:cNvGraphicFramePr>
            <a:graphicFrameLocks noGrp="1"/>
          </p:cNvGraphicFramePr>
          <p:nvPr/>
        </p:nvGraphicFramePr>
        <p:xfrm>
          <a:off x="533400" y="5008563"/>
          <a:ext cx="2667000" cy="1620838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4875" name="Text Box 123"/>
          <p:cNvSpPr txBox="1">
            <a:spLocks noChangeArrowheads="1"/>
          </p:cNvSpPr>
          <p:nvPr/>
        </p:nvSpPr>
        <p:spPr bwMode="auto">
          <a:xfrm>
            <a:off x="4267200" y="4357688"/>
            <a:ext cx="464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&amp;arr=1000, p=1000</a:t>
            </a:r>
          </a:p>
        </p:txBody>
      </p:sp>
      <p:sp>
        <p:nvSpPr>
          <p:cNvPr id="74876" name="Text Box 124"/>
          <p:cNvSpPr txBox="1">
            <a:spLocks noChangeArrowheads="1"/>
          </p:cNvSpPr>
          <p:nvPr/>
        </p:nvSpPr>
        <p:spPr bwMode="auto">
          <a:xfrm>
            <a:off x="4267200" y="4724400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&amp;(arr+1)=1004, p=1004</a:t>
            </a:r>
          </a:p>
        </p:txBody>
      </p:sp>
      <p:sp>
        <p:nvSpPr>
          <p:cNvPr id="74901" name="Line 149"/>
          <p:cNvSpPr>
            <a:spLocks noChangeShapeType="1"/>
          </p:cNvSpPr>
          <p:nvPr/>
        </p:nvSpPr>
        <p:spPr bwMode="auto">
          <a:xfrm flipH="1">
            <a:off x="1676400" y="2590800"/>
            <a:ext cx="3048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74903" name="Text Box 151"/>
          <p:cNvSpPr txBox="1">
            <a:spLocks noChangeArrowheads="1"/>
          </p:cNvSpPr>
          <p:nvPr/>
        </p:nvSpPr>
        <p:spPr bwMode="auto">
          <a:xfrm>
            <a:off x="4267200" y="5043488"/>
            <a:ext cx="464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*(arr+1)=2, *p=2</a:t>
            </a:r>
          </a:p>
        </p:txBody>
      </p:sp>
      <p:pic>
        <p:nvPicPr>
          <p:cNvPr id="74904" name="Picture 1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527675"/>
            <a:ext cx="4267200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900" name="Text Box 148"/>
          <p:cNvSpPr txBox="1">
            <a:spLocks noChangeArrowheads="1"/>
          </p:cNvSpPr>
          <p:nvPr/>
        </p:nvSpPr>
        <p:spPr bwMode="auto">
          <a:xfrm>
            <a:off x="4648200" y="1695450"/>
            <a:ext cx="4343400" cy="923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מאחר וזוהי כתובת של  </a:t>
            </a:r>
            <a:r>
              <a:rPr lang="en-US" altLang="he-IL" b="1">
                <a:solidFill>
                  <a:schemeClr val="bg1"/>
                </a:solidFill>
              </a:rPr>
              <a:t>int</a:t>
            </a:r>
            <a:r>
              <a:rPr lang="he-IL" altLang="he-IL" b="1">
                <a:solidFill>
                  <a:schemeClr val="bg1"/>
                </a:solidFill>
              </a:rPr>
              <a:t>, קידום ב- 1 ייתן: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 </a:t>
            </a:r>
            <a:r>
              <a:rPr lang="en-US" altLang="he-IL" b="1">
                <a:solidFill>
                  <a:schemeClr val="bg1"/>
                </a:solidFill>
              </a:rPr>
              <a:t>p+k =p + k*sizeof(type)</a:t>
            </a:r>
            <a:endParaRPr lang="he-IL" altLang="he-IL" b="1">
              <a:solidFill>
                <a:schemeClr val="bg1"/>
              </a:solidFill>
            </a:endParaRPr>
          </a:p>
          <a:p>
            <a:pPr algn="ctr" eaLnBrk="1" hangingPunct="1"/>
            <a:r>
              <a:rPr lang="en-US" altLang="he-IL" b="1">
                <a:solidFill>
                  <a:schemeClr val="bg1"/>
                </a:solidFill>
              </a:rPr>
              <a:t>1000 + 1*4 = 1004</a:t>
            </a:r>
          </a:p>
        </p:txBody>
      </p:sp>
      <p:sp>
        <p:nvSpPr>
          <p:cNvPr id="1238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7CE197F0-0AC1-4B6A-963E-29C38AE8A88E}" type="slidenum">
              <a:rPr lang="he-IL" altLang="he-IL" smtClean="0">
                <a:latin typeface="Verdana" pitchFamily="34" charset="0"/>
              </a:rPr>
              <a:pPr algn="r" rtl="1" eaLnBrk="1" hangingPunct="1"/>
              <a:t>7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פעולות אריתמטיות על כתובות – </a:t>
            </a:r>
            <a:r>
              <a:rPr lang="he-IL" altLang="he-IL" sz="3200" smtClean="0"/>
              <a:t>דוגמא 2</a:t>
            </a:r>
            <a:endParaRPr lang="en-US" altLang="he-IL" sz="3200" smtClean="0"/>
          </a:p>
        </p:txBody>
      </p:sp>
      <p:sp>
        <p:nvSpPr>
          <p:cNvPr id="79896" name="Rectangle 2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smtClean="0"/>
              <a:t>{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smtClean="0"/>
              <a:t>	</a:t>
            </a:r>
            <a:r>
              <a:rPr lang="en-US" altLang="he-IL" sz="1800" noProof="1" smtClean="0"/>
              <a:t>int arr[] = {4,2,8};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int* p = NULL;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printf("arr+0=%p, *(arr+0)=%d\n", (arr+0), *(arr+0));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printf("arr+1=%p, *(arr+1)=%d\n", (arr+1), *(arr+1));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printf("arr+2=%p, *(arr+2)=%d\n", (arr+2), *(arr+2));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 = arr + 2;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printf("p=%p, *p=%d\n", p, *p);</a:t>
            </a:r>
            <a:endParaRPr lang="en-US" altLang="he-IL" sz="18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1800" smtClean="0"/>
          </a:p>
        </p:txBody>
      </p:sp>
      <p:graphicFrame>
        <p:nvGraphicFramePr>
          <p:cNvPr id="79966" name="Group 94"/>
          <p:cNvGraphicFramePr>
            <a:graphicFrameLocks noGrp="1"/>
          </p:cNvGraphicFramePr>
          <p:nvPr/>
        </p:nvGraphicFramePr>
        <p:xfrm>
          <a:off x="533400" y="5257800"/>
          <a:ext cx="2667000" cy="1463676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9960" name="Text Box 88"/>
          <p:cNvSpPr txBox="1">
            <a:spLocks noChangeArrowheads="1"/>
          </p:cNvSpPr>
          <p:nvPr/>
        </p:nvSpPr>
        <p:spPr bwMode="auto">
          <a:xfrm>
            <a:off x="4267200" y="4967288"/>
            <a:ext cx="464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arr+0=1000, *(arr+0)=4</a:t>
            </a:r>
          </a:p>
        </p:txBody>
      </p:sp>
      <p:graphicFrame>
        <p:nvGraphicFramePr>
          <p:cNvPr id="80033" name="Group 161"/>
          <p:cNvGraphicFramePr>
            <a:graphicFrameLocks noGrp="1"/>
          </p:cNvGraphicFramePr>
          <p:nvPr/>
        </p:nvGraphicFramePr>
        <p:xfrm>
          <a:off x="533400" y="5257800"/>
          <a:ext cx="2667000" cy="1463676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0078" name="Group 206"/>
          <p:cNvGraphicFramePr>
            <a:graphicFrameLocks noGrp="1"/>
          </p:cNvGraphicFramePr>
          <p:nvPr/>
        </p:nvGraphicFramePr>
        <p:xfrm>
          <a:off x="533400" y="5257800"/>
          <a:ext cx="2667000" cy="1463676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0099" name="Text Box 227"/>
          <p:cNvSpPr txBox="1">
            <a:spLocks noChangeArrowheads="1"/>
          </p:cNvSpPr>
          <p:nvPr/>
        </p:nvSpPr>
        <p:spPr bwMode="auto">
          <a:xfrm>
            <a:off x="4267200" y="5272088"/>
            <a:ext cx="464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arr+1=1004, *(arr+1)=2</a:t>
            </a:r>
          </a:p>
        </p:txBody>
      </p:sp>
      <p:sp>
        <p:nvSpPr>
          <p:cNvPr id="80100" name="Text Box 228"/>
          <p:cNvSpPr txBox="1">
            <a:spLocks noChangeArrowheads="1"/>
          </p:cNvSpPr>
          <p:nvPr/>
        </p:nvSpPr>
        <p:spPr bwMode="auto">
          <a:xfrm>
            <a:off x="4267200" y="5562600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arr+2=1008, *(arr+2)=8</a:t>
            </a:r>
          </a:p>
        </p:txBody>
      </p:sp>
      <p:sp>
        <p:nvSpPr>
          <p:cNvPr id="80101" name="Text Box 229"/>
          <p:cNvSpPr txBox="1">
            <a:spLocks noChangeArrowheads="1"/>
          </p:cNvSpPr>
          <p:nvPr/>
        </p:nvSpPr>
        <p:spPr bwMode="auto">
          <a:xfrm>
            <a:off x="4267200" y="5881688"/>
            <a:ext cx="464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p=1008, *p=8</a:t>
            </a:r>
          </a:p>
        </p:txBody>
      </p:sp>
      <p:graphicFrame>
        <p:nvGraphicFramePr>
          <p:cNvPr id="80012" name="Group 140"/>
          <p:cNvGraphicFramePr>
            <a:graphicFrameLocks noGrp="1"/>
          </p:cNvGraphicFramePr>
          <p:nvPr/>
        </p:nvGraphicFramePr>
        <p:xfrm>
          <a:off x="533400" y="5257800"/>
          <a:ext cx="2667000" cy="1463676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0102" name="Picture 2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200"/>
            <a:ext cx="3886200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0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0CDD945C-D24C-42DF-8721-68C913761651}" type="slidenum">
              <a:rPr lang="he-IL" altLang="he-IL" smtClean="0">
                <a:latin typeface="Verdana" pitchFamily="34" charset="0"/>
              </a:rPr>
              <a:pPr algn="r" rtl="1" eaLnBrk="1" hangingPunct="1"/>
              <a:t>8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פעולות אריתמטיות על כתובות – </a:t>
            </a:r>
            <a:r>
              <a:rPr lang="he-IL" altLang="he-IL" sz="3200" smtClean="0"/>
              <a:t>דוגמא 3</a:t>
            </a:r>
            <a:endParaRPr lang="en-US" altLang="he-IL" sz="3200" smtClean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6868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smtClean="0"/>
              <a:t>{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smtClean="0"/>
              <a:t>	</a:t>
            </a:r>
            <a:r>
              <a:rPr lang="en-US" altLang="he-IL" sz="1800" noProof="1" smtClean="0"/>
              <a:t>int arr[] = {4,2,8}</a:t>
            </a:r>
            <a:r>
              <a:rPr lang="en-US" altLang="he-IL" sz="1800" smtClean="0"/>
              <a:t>, i</a:t>
            </a:r>
            <a:r>
              <a:rPr lang="en-US" altLang="he-IL" sz="1800" noProof="1" smtClean="0"/>
              <a:t>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int* p = NULL;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smtClean="0"/>
              <a:t>	</a:t>
            </a:r>
            <a:r>
              <a:rPr lang="en-US" altLang="he-IL" sz="1800" noProof="1" smtClean="0">
                <a:solidFill>
                  <a:schemeClr val="hlink"/>
                </a:solidFill>
              </a:rPr>
              <a:t>for (i=0 ; i &lt; sizeof(arr)/sizeof(arr[0]) ; i++)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>
                <a:solidFill>
                  <a:schemeClr val="hlink"/>
                </a:solidFill>
              </a:rPr>
              <a:t>		printf("arr+%d=%p, *(arr+%d)=%d\n", i, (arr+i), i,*(arr+i));</a:t>
            </a:r>
            <a:endParaRPr lang="en-US" altLang="he-IL" sz="1800" smtClean="0">
              <a:solidFill>
                <a:schemeClr val="hlink"/>
              </a:solidFill>
            </a:endParaRPr>
          </a:p>
          <a:p>
            <a:pPr algn="l" rtl="0">
              <a:buFont typeface="Wingdings" pitchFamily="2" charset="2"/>
              <a:buNone/>
            </a:pPr>
            <a:endParaRPr lang="en-US" altLang="he-IL" sz="1800" noProof="1" smtClean="0">
              <a:solidFill>
                <a:schemeClr val="hlink"/>
              </a:solidFill>
            </a:endParaRP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 = arr + 2;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printf("p=%p, *p=%d\n", p, *p);</a:t>
            </a:r>
            <a:endParaRPr lang="en-US" altLang="he-IL" sz="18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1800" smtClean="0"/>
          </a:p>
        </p:txBody>
      </p:sp>
      <p:graphicFrame>
        <p:nvGraphicFramePr>
          <p:cNvPr id="80900" name="Group 4"/>
          <p:cNvGraphicFramePr>
            <a:graphicFrameLocks noGrp="1"/>
          </p:cNvGraphicFramePr>
          <p:nvPr/>
        </p:nvGraphicFramePr>
        <p:xfrm>
          <a:off x="533400" y="5257800"/>
          <a:ext cx="2667000" cy="1463676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0921" name="Text Box 25"/>
          <p:cNvSpPr txBox="1">
            <a:spLocks noChangeArrowheads="1"/>
          </p:cNvSpPr>
          <p:nvPr/>
        </p:nvSpPr>
        <p:spPr bwMode="auto">
          <a:xfrm>
            <a:off x="4267200" y="4967288"/>
            <a:ext cx="464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arr+0=1000, *(arr+0)=4</a:t>
            </a:r>
          </a:p>
        </p:txBody>
      </p:sp>
      <p:graphicFrame>
        <p:nvGraphicFramePr>
          <p:cNvPr id="80922" name="Group 26"/>
          <p:cNvGraphicFramePr>
            <a:graphicFrameLocks noGrp="1"/>
          </p:cNvGraphicFramePr>
          <p:nvPr/>
        </p:nvGraphicFramePr>
        <p:xfrm>
          <a:off x="533400" y="5257800"/>
          <a:ext cx="2667000" cy="1463676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0943" name="Group 47"/>
          <p:cNvGraphicFramePr>
            <a:graphicFrameLocks noGrp="1"/>
          </p:cNvGraphicFramePr>
          <p:nvPr/>
        </p:nvGraphicFramePr>
        <p:xfrm>
          <a:off x="533400" y="5257800"/>
          <a:ext cx="2667000" cy="1463676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0964" name="Text Box 68"/>
          <p:cNvSpPr txBox="1">
            <a:spLocks noChangeArrowheads="1"/>
          </p:cNvSpPr>
          <p:nvPr/>
        </p:nvSpPr>
        <p:spPr bwMode="auto">
          <a:xfrm>
            <a:off x="4267200" y="5272088"/>
            <a:ext cx="464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arr+1=1004, *(arr+1)=2</a:t>
            </a:r>
          </a:p>
        </p:txBody>
      </p:sp>
      <p:sp>
        <p:nvSpPr>
          <p:cNvPr id="80965" name="Text Box 69"/>
          <p:cNvSpPr txBox="1">
            <a:spLocks noChangeArrowheads="1"/>
          </p:cNvSpPr>
          <p:nvPr/>
        </p:nvSpPr>
        <p:spPr bwMode="auto">
          <a:xfrm>
            <a:off x="4267200" y="5562600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arr+2=1008, *(arr+2)=8</a:t>
            </a:r>
          </a:p>
        </p:txBody>
      </p:sp>
      <p:sp>
        <p:nvSpPr>
          <p:cNvPr id="80966" name="Text Box 70"/>
          <p:cNvSpPr txBox="1">
            <a:spLocks noChangeArrowheads="1"/>
          </p:cNvSpPr>
          <p:nvPr/>
        </p:nvSpPr>
        <p:spPr bwMode="auto">
          <a:xfrm>
            <a:off x="4267200" y="5881688"/>
            <a:ext cx="464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p=1008, *p=8</a:t>
            </a:r>
          </a:p>
        </p:txBody>
      </p:sp>
      <p:graphicFrame>
        <p:nvGraphicFramePr>
          <p:cNvPr id="80967" name="Group 71"/>
          <p:cNvGraphicFramePr>
            <a:graphicFrameLocks noGrp="1"/>
          </p:cNvGraphicFramePr>
          <p:nvPr/>
        </p:nvGraphicFramePr>
        <p:xfrm>
          <a:off x="533400" y="5257800"/>
          <a:ext cx="2667000" cy="1463676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0988" name="Picture 9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200"/>
            <a:ext cx="3886200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29" name="Rectangle 93"/>
          <p:cNvSpPr>
            <a:spLocks noChangeArrowheads="1"/>
          </p:cNvSpPr>
          <p:nvPr/>
        </p:nvSpPr>
        <p:spPr bwMode="auto">
          <a:xfrm>
            <a:off x="5638800" y="4038600"/>
            <a:ext cx="3048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וכמובן שניתן גם עם לולאה...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443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11F7E775-0F1D-44CD-A9B3-C7393E6EA566}" type="slidenum">
              <a:rPr lang="he-IL" altLang="he-IL" smtClean="0">
                <a:latin typeface="Verdana" pitchFamily="34" charset="0"/>
              </a:rPr>
              <a:pPr algn="r" rtl="1" eaLnBrk="1" hangingPunct="1"/>
              <a:t>9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חיסור בין כתובות</a:t>
            </a:r>
            <a:endParaRPr lang="en-US" altLang="he-IL" smtClean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sz="2400" smtClean="0"/>
              <a:t>חיסור בין כתובות נותן את מספר התאים ביניהם (ולא את הפרש הכתובות!)</a:t>
            </a:r>
          </a:p>
          <a:p>
            <a:pPr>
              <a:lnSpc>
                <a:spcPct val="90000"/>
              </a:lnSpc>
            </a:pPr>
            <a:endParaRPr lang="he-IL" altLang="he-IL" sz="24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 arr[] = {4,2,8};</a:t>
            </a:r>
            <a:endParaRPr lang="he-IL" altLang="he-IL" sz="18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sz="1800" smtClean="0"/>
              <a:t>	</a:t>
            </a:r>
            <a:r>
              <a:rPr lang="en-US" altLang="he-IL" sz="1800" noProof="1" smtClean="0"/>
              <a:t>int* p;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 size = sizeof(arr)/sizeof(arr[0]);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printf("The values in the array: ");</a:t>
            </a:r>
            <a:endParaRPr lang="en-US" altLang="he-IL" sz="18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18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for (</a:t>
            </a:r>
            <a:r>
              <a:rPr lang="en-US" altLang="he-IL" sz="1800" smtClean="0"/>
              <a:t>        </a:t>
            </a:r>
            <a:r>
              <a:rPr lang="en-US" altLang="he-IL" sz="1800" noProof="1" smtClean="0"/>
              <a:t> ; </a:t>
            </a:r>
            <a:r>
              <a:rPr lang="en-US" altLang="he-IL" sz="1800" smtClean="0"/>
              <a:t>                  </a:t>
            </a:r>
            <a:r>
              <a:rPr lang="en-US" altLang="he-IL" sz="1800" noProof="1" smtClean="0"/>
              <a:t> ;</a:t>
            </a:r>
            <a:r>
              <a:rPr lang="en-US" altLang="he-IL" sz="1800" smtClean="0"/>
              <a:t>       </a:t>
            </a:r>
            <a:r>
              <a:rPr lang="en-US" altLang="he-IL" sz="1800" noProof="1" smtClean="0"/>
              <a:t>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	printf("%d ", *p);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printf("\n");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}</a:t>
            </a:r>
            <a:endParaRPr lang="en-US" altLang="he-IL" sz="1800" smtClean="0"/>
          </a:p>
        </p:txBody>
      </p:sp>
      <p:graphicFrame>
        <p:nvGraphicFramePr>
          <p:cNvPr id="99358" name="Group 30"/>
          <p:cNvGraphicFramePr>
            <a:graphicFrameLocks noGrp="1"/>
          </p:cNvGraphicFramePr>
          <p:nvPr>
            <p:ph sz="half" idx="2"/>
          </p:nvPr>
        </p:nvGraphicFramePr>
        <p:xfrm>
          <a:off x="5715000" y="3279775"/>
          <a:ext cx="2743200" cy="1828800"/>
        </p:xfrm>
        <a:graphic>
          <a:graphicData uri="http://schemas.openxmlformats.org/drawingml/2006/table">
            <a:tbl>
              <a:tblPr/>
              <a:tblGrid>
                <a:gridCol w="1273175"/>
                <a:gridCol w="950913"/>
                <a:gridCol w="519112"/>
              </a:tblGrid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9467" name="Rectangle 139"/>
          <p:cNvSpPr>
            <a:spLocks noChangeArrowheads="1"/>
          </p:cNvSpPr>
          <p:nvPr/>
        </p:nvSpPr>
        <p:spPr bwMode="auto">
          <a:xfrm>
            <a:off x="1371600" y="5105400"/>
            <a:ext cx="723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noProof="1"/>
              <a:t>p=arr</a:t>
            </a:r>
            <a:endParaRPr lang="en-US" altLang="he-IL"/>
          </a:p>
        </p:txBody>
      </p:sp>
      <p:sp>
        <p:nvSpPr>
          <p:cNvPr id="99468" name="Rectangle 140"/>
          <p:cNvSpPr>
            <a:spLocks noChangeArrowheads="1"/>
          </p:cNvSpPr>
          <p:nvPr/>
        </p:nvSpPr>
        <p:spPr bwMode="auto">
          <a:xfrm>
            <a:off x="2362200" y="51054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/>
              <a:t>p-arr &lt; size</a:t>
            </a:r>
          </a:p>
        </p:txBody>
      </p:sp>
      <p:sp>
        <p:nvSpPr>
          <p:cNvPr id="99469" name="Rectangle 141"/>
          <p:cNvSpPr>
            <a:spLocks noChangeArrowheads="1"/>
          </p:cNvSpPr>
          <p:nvPr/>
        </p:nvSpPr>
        <p:spPr bwMode="auto">
          <a:xfrm>
            <a:off x="3962400" y="5119688"/>
            <a:ext cx="577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/>
              <a:t>p++</a:t>
            </a:r>
          </a:p>
        </p:txBody>
      </p:sp>
      <p:graphicFrame>
        <p:nvGraphicFramePr>
          <p:cNvPr id="99572" name="Group 244"/>
          <p:cNvGraphicFramePr>
            <a:graphicFrameLocks noGrp="1"/>
          </p:cNvGraphicFramePr>
          <p:nvPr/>
        </p:nvGraphicFramePr>
        <p:xfrm>
          <a:off x="5715000" y="3276600"/>
          <a:ext cx="2743200" cy="1828800"/>
        </p:xfrm>
        <a:graphic>
          <a:graphicData uri="http://schemas.openxmlformats.org/drawingml/2006/table">
            <a:tbl>
              <a:tblPr/>
              <a:tblGrid>
                <a:gridCol w="1273175"/>
                <a:gridCol w="936625"/>
                <a:gridCol w="533400"/>
              </a:tblGrid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412" name="Group 84"/>
          <p:cNvGraphicFramePr>
            <a:graphicFrameLocks noGrp="1"/>
          </p:cNvGraphicFramePr>
          <p:nvPr/>
        </p:nvGraphicFramePr>
        <p:xfrm>
          <a:off x="5715000" y="3276600"/>
          <a:ext cx="2743200" cy="1828800"/>
        </p:xfrm>
        <a:graphic>
          <a:graphicData uri="http://schemas.openxmlformats.org/drawingml/2006/table">
            <a:tbl>
              <a:tblPr/>
              <a:tblGrid>
                <a:gridCol w="1273175"/>
                <a:gridCol w="950913"/>
                <a:gridCol w="519112"/>
              </a:tblGrid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438" name="Group 110"/>
          <p:cNvGraphicFramePr>
            <a:graphicFrameLocks noGrp="1"/>
          </p:cNvGraphicFramePr>
          <p:nvPr/>
        </p:nvGraphicFramePr>
        <p:xfrm>
          <a:off x="5715000" y="3276600"/>
          <a:ext cx="2743200" cy="1828800"/>
        </p:xfrm>
        <a:graphic>
          <a:graphicData uri="http://schemas.openxmlformats.org/drawingml/2006/table">
            <a:tbl>
              <a:tblPr/>
              <a:tblGrid>
                <a:gridCol w="1273175"/>
                <a:gridCol w="950913"/>
                <a:gridCol w="519112"/>
              </a:tblGrid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470" name="Group 142"/>
          <p:cNvGraphicFramePr>
            <a:graphicFrameLocks noGrp="1"/>
          </p:cNvGraphicFramePr>
          <p:nvPr/>
        </p:nvGraphicFramePr>
        <p:xfrm>
          <a:off x="5715000" y="3276600"/>
          <a:ext cx="2743200" cy="1828800"/>
        </p:xfrm>
        <a:graphic>
          <a:graphicData uri="http://schemas.openxmlformats.org/drawingml/2006/table">
            <a:tbl>
              <a:tblPr/>
              <a:tblGrid>
                <a:gridCol w="1273175"/>
                <a:gridCol w="950913"/>
                <a:gridCol w="519112"/>
              </a:tblGrid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520" name="Group 192"/>
          <p:cNvGraphicFramePr>
            <a:graphicFrameLocks noGrp="1"/>
          </p:cNvGraphicFramePr>
          <p:nvPr/>
        </p:nvGraphicFramePr>
        <p:xfrm>
          <a:off x="5715000" y="3263900"/>
          <a:ext cx="2743200" cy="1841499"/>
        </p:xfrm>
        <a:graphic>
          <a:graphicData uri="http://schemas.openxmlformats.org/drawingml/2006/table">
            <a:tbl>
              <a:tblPr/>
              <a:tblGrid>
                <a:gridCol w="1273175"/>
                <a:gridCol w="950913"/>
                <a:gridCol w="519112"/>
              </a:tblGrid>
              <a:tr h="37795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8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8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8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p</a:t>
                      </a:r>
                    </a:p>
                  </a:txBody>
                  <a:tcPr marT="45736" marB="45736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8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marT="45736" marB="45736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6" marB="4573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521" name="Group 193"/>
          <p:cNvGraphicFramePr>
            <a:graphicFrameLocks noGrp="1"/>
          </p:cNvGraphicFramePr>
          <p:nvPr/>
        </p:nvGraphicFramePr>
        <p:xfrm>
          <a:off x="5715000" y="3276600"/>
          <a:ext cx="2743200" cy="1828800"/>
        </p:xfrm>
        <a:graphic>
          <a:graphicData uri="http://schemas.openxmlformats.org/drawingml/2006/table">
            <a:tbl>
              <a:tblPr/>
              <a:tblGrid>
                <a:gridCol w="1273175"/>
                <a:gridCol w="950913"/>
                <a:gridCol w="519112"/>
              </a:tblGrid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9574" name="AutoShape 246"/>
          <p:cNvSpPr>
            <a:spLocks/>
          </p:cNvSpPr>
          <p:nvPr/>
        </p:nvSpPr>
        <p:spPr bwMode="auto">
          <a:xfrm rot="-5400000">
            <a:off x="2571750" y="4887913"/>
            <a:ext cx="266700" cy="5334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>
              <a:solidFill>
                <a:schemeClr val="tx2"/>
              </a:solidFill>
            </a:endParaRPr>
          </a:p>
        </p:txBody>
      </p:sp>
      <p:sp>
        <p:nvSpPr>
          <p:cNvPr id="1554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05C89B3-EE22-4C4C-9695-A9413C81E472}" type="slidenum">
              <a:rPr lang="he-IL" altLang="he-IL" smtClean="0">
                <a:latin typeface="Verdana" pitchFamily="34" charset="0"/>
              </a:rPr>
              <a:pPr algn="r" rtl="1" eaLnBrk="1" hangingPunct="1"/>
              <a:t>10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sz="2400" dirty="0" smtClean="0"/>
              <a:t>ניתן לראות כי אם </a:t>
            </a:r>
            <a:r>
              <a:rPr lang="en-US" altLang="he-IL" sz="2400" dirty="0" err="1" smtClean="0"/>
              <a:t>arr</a:t>
            </a:r>
            <a:r>
              <a:rPr lang="he-IL" altLang="he-IL" sz="2400" dirty="0" smtClean="0"/>
              <a:t> הינו שם של מערך אזי ערך הביטוי </a:t>
            </a:r>
            <a:r>
              <a:rPr lang="en-US" altLang="he-IL" sz="2400" dirty="0" smtClean="0"/>
              <a:t>(</a:t>
            </a:r>
            <a:r>
              <a:rPr lang="en-US" altLang="he-IL" sz="2400" dirty="0" err="1" smtClean="0"/>
              <a:t>arr+i</a:t>
            </a:r>
            <a:r>
              <a:rPr lang="en-US" altLang="he-IL" sz="2400" dirty="0" smtClean="0"/>
              <a:t>)</a:t>
            </a:r>
            <a:r>
              <a:rPr lang="he-IL" altLang="he-IL" sz="2400" dirty="0" smtClean="0"/>
              <a:t> הוא כתובת האיבר ה- </a:t>
            </a:r>
            <a:r>
              <a:rPr lang="en-US" altLang="he-IL" sz="2400" dirty="0" err="1" smtClean="0"/>
              <a:t>i</a:t>
            </a:r>
            <a:r>
              <a:rPr lang="he-IL" altLang="he-IL" sz="2400" dirty="0" smtClean="0"/>
              <a:t> במערך, והביטוי </a:t>
            </a:r>
            <a:r>
              <a:rPr lang="en-US" altLang="he-IL" sz="2400" dirty="0" smtClean="0"/>
              <a:t>*(</a:t>
            </a:r>
            <a:r>
              <a:rPr lang="en-US" altLang="he-IL" sz="2400" dirty="0" err="1" smtClean="0"/>
              <a:t>arr+i</a:t>
            </a:r>
            <a:r>
              <a:rPr lang="en-US" altLang="he-IL" sz="2400" dirty="0" smtClean="0"/>
              <a:t>)</a:t>
            </a:r>
            <a:r>
              <a:rPr lang="he-IL" altLang="he-IL" sz="2400" dirty="0" smtClean="0"/>
              <a:t> הינו תוכן האיבר ה- </a:t>
            </a:r>
            <a:r>
              <a:rPr lang="en-US" altLang="he-IL" sz="2400" dirty="0" err="1" smtClean="0"/>
              <a:t>i</a:t>
            </a:r>
            <a:r>
              <a:rPr lang="he-IL" altLang="he-IL" sz="2400" dirty="0" smtClean="0"/>
              <a:t>:</a:t>
            </a:r>
            <a:endParaRPr lang="en-US" altLang="he-IL" sz="2400" dirty="0" smtClean="0"/>
          </a:p>
          <a:p>
            <a:pPr algn="l" rtl="0">
              <a:lnSpc>
                <a:spcPct val="90000"/>
              </a:lnSpc>
            </a:pPr>
            <a:r>
              <a:rPr lang="en-US" altLang="he-IL" sz="2400" dirty="0" smtClean="0"/>
              <a:t>&amp;</a:t>
            </a:r>
            <a:r>
              <a:rPr lang="en-US" altLang="he-IL" sz="2400" dirty="0" err="1" smtClean="0"/>
              <a:t>arr</a:t>
            </a:r>
            <a:r>
              <a:rPr lang="en-US" altLang="he-IL" sz="2400" dirty="0" smtClean="0"/>
              <a:t>[</a:t>
            </a:r>
            <a:r>
              <a:rPr lang="en-US" altLang="he-IL" sz="2400" dirty="0" err="1" smtClean="0"/>
              <a:t>i</a:t>
            </a:r>
            <a:r>
              <a:rPr lang="en-US" altLang="he-IL" sz="2400" dirty="0" smtClean="0"/>
              <a:t>] ≡  (</a:t>
            </a:r>
            <a:r>
              <a:rPr lang="en-US" altLang="he-IL" sz="2400" dirty="0" err="1" smtClean="0"/>
              <a:t>arr+i</a:t>
            </a:r>
            <a:r>
              <a:rPr lang="en-US" altLang="he-IL" sz="2400" dirty="0" smtClean="0"/>
              <a:t>)</a:t>
            </a:r>
          </a:p>
          <a:p>
            <a:pPr algn="l" rtl="0">
              <a:lnSpc>
                <a:spcPct val="90000"/>
              </a:lnSpc>
            </a:pPr>
            <a:r>
              <a:rPr lang="en-US" altLang="he-IL" sz="2400" dirty="0" err="1" smtClean="0"/>
              <a:t>arr</a:t>
            </a:r>
            <a:r>
              <a:rPr lang="en-US" altLang="he-IL" sz="2400" dirty="0" smtClean="0"/>
              <a:t>[</a:t>
            </a:r>
            <a:r>
              <a:rPr lang="en-US" altLang="he-IL" sz="2400" dirty="0" err="1" smtClean="0"/>
              <a:t>i</a:t>
            </a:r>
            <a:r>
              <a:rPr lang="en-US" altLang="he-IL" sz="2400" dirty="0" smtClean="0"/>
              <a:t>]   ≡ *(</a:t>
            </a:r>
            <a:r>
              <a:rPr lang="en-US" altLang="he-IL" sz="2400" dirty="0" err="1" smtClean="0"/>
              <a:t>arr+i</a:t>
            </a:r>
            <a:r>
              <a:rPr lang="en-US" altLang="he-IL" sz="2400" dirty="0" smtClean="0"/>
              <a:t>) 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400" dirty="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 arr[] = {4,2,8};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printf("arr+1=%p, &amp;arr[1]=%p\n", (arr+1), &amp;arr[1]);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printf("*(arr+1)=%d, arr[1]=%d\n", *(arr+1), arr[1]);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dirty="0" smtClean="0"/>
          </a:p>
          <a:p>
            <a:pPr algn="l" rtl="0">
              <a:lnSpc>
                <a:spcPct val="90000"/>
              </a:lnSpc>
            </a:pPr>
            <a:endParaRPr lang="en-US" altLang="he-IL" sz="2000" dirty="0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פעולות אריתמטיות על שם מערך</a:t>
            </a:r>
            <a:endParaRPr lang="en-US" altLang="he-IL" smtClean="0"/>
          </a:p>
        </p:txBody>
      </p:sp>
      <p:pic>
        <p:nvPicPr>
          <p:cNvPr id="819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867400"/>
            <a:ext cx="4595813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3011488"/>
            <a:ext cx="2386013" cy="185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588" y="2997200"/>
            <a:ext cx="1981200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D5B51883-8753-4BB3-A135-D84972F375F1}" type="slidenum">
              <a:rPr lang="he-IL" altLang="he-IL" smtClean="0">
                <a:latin typeface="Verdana" pitchFamily="34" charset="0"/>
              </a:rPr>
              <a:pPr algn="r" rtl="1" eaLnBrk="1" hangingPunct="1"/>
              <a:t>11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פעולות אריתמטיות על כתובות – </a:t>
            </a:r>
            <a:r>
              <a:rPr lang="he-IL" altLang="he-IL" sz="3200" smtClean="0"/>
              <a:t>דוגמא 4</a:t>
            </a:r>
            <a:endParaRPr lang="en-US" altLang="he-IL" sz="3200" smtClean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686800" cy="4530725"/>
          </a:xfrm>
        </p:spPr>
        <p:txBody>
          <a:bodyPr/>
          <a:lstStyle/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void main()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{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int* p;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int size;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int arr[] = {4,2,8};</a:t>
            </a:r>
          </a:p>
          <a:p>
            <a:pPr algn="l" rtl="0">
              <a:buFont typeface="Wingdings" pitchFamily="2" charset="2"/>
              <a:buNone/>
            </a:pPr>
            <a:endParaRPr lang="en-US" altLang="he-IL" sz="1800" noProof="1" smtClean="0"/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size = sizeof(arr)/sizeof(arr[0]);</a:t>
            </a:r>
          </a:p>
          <a:p>
            <a:pPr algn="l" rtl="0">
              <a:buFont typeface="Wingdings" pitchFamily="2" charset="2"/>
              <a:buNone/>
            </a:pPr>
            <a:endParaRPr lang="en-US" altLang="he-IL" sz="1800" noProof="1" smtClean="0"/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 = arr + size;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printf("p=%p, *p=%d\n", p, *p);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 = p - 2;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printf("After p=p-2:\n");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printf("p=%p, *p=%d\n", p, *p);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}</a:t>
            </a:r>
            <a:endParaRPr lang="en-US" altLang="he-IL" sz="1800" dirty="0" smtClean="0"/>
          </a:p>
        </p:txBody>
      </p:sp>
      <p:sp>
        <p:nvSpPr>
          <p:cNvPr id="86041" name="Text Box 25"/>
          <p:cNvSpPr txBox="1">
            <a:spLocks noChangeArrowheads="1"/>
          </p:cNvSpPr>
          <p:nvPr/>
        </p:nvSpPr>
        <p:spPr bwMode="auto">
          <a:xfrm>
            <a:off x="5562600" y="45720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p=1020, *p=???</a:t>
            </a:r>
          </a:p>
        </p:txBody>
      </p:sp>
      <p:graphicFrame>
        <p:nvGraphicFramePr>
          <p:cNvPr id="86176" name="Group 160"/>
          <p:cNvGraphicFramePr>
            <a:graphicFrameLocks noGrp="1"/>
          </p:cNvGraphicFramePr>
          <p:nvPr/>
        </p:nvGraphicFramePr>
        <p:xfrm>
          <a:off x="5867400" y="1752600"/>
          <a:ext cx="2667000" cy="2194404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177" name="Text Box 161"/>
          <p:cNvSpPr txBox="1">
            <a:spLocks noChangeArrowheads="1"/>
          </p:cNvSpPr>
          <p:nvPr/>
        </p:nvSpPr>
        <p:spPr bwMode="auto">
          <a:xfrm>
            <a:off x="5334000" y="5500688"/>
            <a:ext cx="3581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יודפס: </a:t>
            </a:r>
            <a:r>
              <a:rPr lang="en-US" altLang="he-IL"/>
              <a:t>p=1012, *p=2</a:t>
            </a:r>
          </a:p>
        </p:txBody>
      </p:sp>
      <p:graphicFrame>
        <p:nvGraphicFramePr>
          <p:cNvPr id="86209" name="Group 193"/>
          <p:cNvGraphicFramePr>
            <a:graphicFrameLocks noGrp="1"/>
          </p:cNvGraphicFramePr>
          <p:nvPr/>
        </p:nvGraphicFramePr>
        <p:xfrm>
          <a:off x="5867400" y="1752600"/>
          <a:ext cx="2667000" cy="2194404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6267" name="Group 251"/>
          <p:cNvGraphicFramePr>
            <a:graphicFrameLocks noGrp="1"/>
          </p:cNvGraphicFramePr>
          <p:nvPr/>
        </p:nvGraphicFramePr>
        <p:xfrm>
          <a:off x="5867400" y="1752600"/>
          <a:ext cx="2667000" cy="2194404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6238" name="Group 222"/>
          <p:cNvGraphicFramePr>
            <a:graphicFrameLocks noGrp="1"/>
          </p:cNvGraphicFramePr>
          <p:nvPr/>
        </p:nvGraphicFramePr>
        <p:xfrm>
          <a:off x="5867400" y="1752600"/>
          <a:ext cx="2667000" cy="2194404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1020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6327" name="Group 311"/>
          <p:cNvGraphicFramePr>
            <a:graphicFrameLocks noGrp="1"/>
          </p:cNvGraphicFramePr>
          <p:nvPr/>
        </p:nvGraphicFramePr>
        <p:xfrm>
          <a:off x="5867400" y="1752600"/>
          <a:ext cx="2667000" cy="2194404"/>
        </p:xfrm>
        <a:graphic>
          <a:graphicData uri="http://schemas.openxmlformats.org/drawingml/2006/table">
            <a:tbl>
              <a:tblPr/>
              <a:tblGrid>
                <a:gridCol w="1238250"/>
                <a:gridCol w="782638"/>
                <a:gridCol w="646112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6356" name="Picture 3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76400"/>
            <a:ext cx="3486150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6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4432E45C-B8D7-45F1-A3E2-A0B5B0D9865D}" type="slidenum">
              <a:rPr lang="he-IL" altLang="he-IL" smtClean="0">
                <a:latin typeface="Verdana" pitchFamily="34" charset="0"/>
              </a:rPr>
              <a:pPr algn="r" rtl="1" eaLnBrk="1" hangingPunct="1"/>
              <a:t>12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305800" cy="5105400"/>
          </a:xfrm>
        </p:spPr>
        <p:txBody>
          <a:bodyPr/>
          <a:lstStyle/>
          <a:p>
            <a:r>
              <a:rPr lang="he-IL" altLang="he-IL" dirty="0" smtClean="0"/>
              <a:t>מה תהייה התוצאה של הפעולות הבאות: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2000" noProof="1" smtClean="0"/>
              <a:t>int x=3;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2000" noProof="1" smtClean="0"/>
              <a:t>int* pX = &amp;x;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2000" noProof="1" smtClean="0"/>
              <a:t>*++pX;</a:t>
            </a:r>
            <a:endParaRPr lang="he-IL" altLang="he-IL" sz="2000" dirty="0" smtClean="0"/>
          </a:p>
          <a:p>
            <a:pPr>
              <a:buFont typeface="Wingdings" panose="05000000000000000000" pitchFamily="2" charset="2"/>
              <a:buChar char="q"/>
            </a:pPr>
            <a:endParaRPr lang="he-IL" altLang="he-IL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he-IL" altLang="he-IL" dirty="0" smtClean="0"/>
              <a:t>כאשר מופעלים כמה אופרטורים </a:t>
            </a:r>
            <a:r>
              <a:rPr lang="he-IL" altLang="he-IL" dirty="0" err="1" smtClean="0"/>
              <a:t>אונריים</a:t>
            </a:r>
            <a:r>
              <a:rPr lang="he-IL" altLang="he-IL" dirty="0" smtClean="0"/>
              <a:t> על משתנה סדר הפעולות הוא </a:t>
            </a:r>
            <a:r>
              <a:rPr lang="he-IL" altLang="he-IL" b="1" dirty="0" smtClean="0"/>
              <a:t>מימין לשמאל</a:t>
            </a:r>
            <a:r>
              <a:rPr lang="he-IL" altLang="he-IL" dirty="0" smtClean="0"/>
              <a:t>. כלומר: </a:t>
            </a:r>
            <a:r>
              <a:rPr lang="en-US" altLang="he-IL" noProof="1" smtClean="0"/>
              <a:t> *(++pX)</a:t>
            </a:r>
            <a:endParaRPr lang="he-IL" altLang="he-IL" noProof="1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dirty="0" smtClean="0"/>
              <a:t>סדר פעולות (</a:t>
            </a:r>
            <a:r>
              <a:rPr lang="en-US" altLang="he-IL" dirty="0" smtClean="0"/>
              <a:t>I</a:t>
            </a:r>
            <a:r>
              <a:rPr lang="he-IL" altLang="he-IL" dirty="0" smtClean="0"/>
              <a:t>)</a:t>
            </a:r>
            <a:endParaRPr lang="en-US" altLang="he-IL" dirty="0" smtClean="0"/>
          </a:p>
        </p:txBody>
      </p:sp>
      <p:graphicFrame>
        <p:nvGraphicFramePr>
          <p:cNvPr id="125956" name="Group 4"/>
          <p:cNvGraphicFramePr>
            <a:graphicFrameLocks noGrp="1"/>
          </p:cNvGraphicFramePr>
          <p:nvPr>
            <p:ph sz="half" idx="2"/>
          </p:nvPr>
        </p:nvGraphicFramePr>
        <p:xfrm>
          <a:off x="4495800" y="2317750"/>
          <a:ext cx="2209800" cy="731838"/>
        </p:xfrm>
        <a:graphic>
          <a:graphicData uri="http://schemas.openxmlformats.org/drawingml/2006/table">
            <a:tbl>
              <a:tblPr/>
              <a:tblGrid>
                <a:gridCol w="914400"/>
                <a:gridCol w="7620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x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pX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44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C3EBEB55-FF38-4BA0-8F42-704E645B3EAC}" type="slidenum">
              <a:rPr lang="he-IL" altLang="he-IL" smtClean="0">
                <a:latin typeface="Verdana" pitchFamily="34" charset="0"/>
              </a:rPr>
              <a:pPr algn="r" rtl="1" eaLnBrk="1" hangingPunct="1"/>
              <a:t>13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305800" cy="5105400"/>
          </a:xfrm>
        </p:spPr>
        <p:txBody>
          <a:bodyPr/>
          <a:lstStyle/>
          <a:p>
            <a:r>
              <a:rPr lang="he-IL" altLang="he-IL" dirty="0" smtClean="0"/>
              <a:t>מה תהייה התוצאה של הפעולות הבאות: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2000" noProof="1" smtClean="0"/>
              <a:t>int x=3;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2000" noProof="1" smtClean="0"/>
              <a:t>int* pX = &amp;x;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2000" noProof="1" smtClean="0"/>
              <a:t>*pX++;</a:t>
            </a:r>
          </a:p>
          <a:p>
            <a:r>
              <a:rPr lang="he-IL" altLang="he-IL" dirty="0" smtClean="0"/>
              <a:t>מה קורה מבחינת סדר הפעולות?</a:t>
            </a:r>
          </a:p>
          <a:p>
            <a:pPr lvl="1"/>
            <a:r>
              <a:rPr lang="he-IL" altLang="he-IL" dirty="0" smtClean="0"/>
              <a:t> </a:t>
            </a:r>
            <a:r>
              <a:rPr lang="en-US" altLang="he-IL" noProof="1"/>
              <a:t>*pX</a:t>
            </a:r>
            <a:r>
              <a:rPr lang="en-US" altLang="he-IL" noProof="1" smtClean="0"/>
              <a:t>++</a:t>
            </a:r>
            <a:r>
              <a:rPr lang="he-IL" altLang="he-IL" noProof="1" smtClean="0"/>
              <a:t> - החזר את ה-</a:t>
            </a:r>
            <a:r>
              <a:rPr lang="en-US" altLang="he-IL" noProof="1" smtClean="0"/>
              <a:t>Dereference</a:t>
            </a:r>
            <a:r>
              <a:rPr lang="he-IL" altLang="he-IL" noProof="1" smtClean="0"/>
              <a:t>, קדם את המצביע.</a:t>
            </a:r>
          </a:p>
          <a:p>
            <a:pPr lvl="1"/>
            <a:r>
              <a:rPr lang="en-US" altLang="he-IL" noProof="1" smtClean="0"/>
              <a:t>(*pX)++</a:t>
            </a:r>
            <a:r>
              <a:rPr lang="he-IL" altLang="he-IL" noProof="1" smtClean="0"/>
              <a:t> </a:t>
            </a:r>
            <a:r>
              <a:rPr lang="he-IL" altLang="he-IL" noProof="1"/>
              <a:t>- </a:t>
            </a:r>
            <a:r>
              <a:rPr lang="he-IL" altLang="he-IL" noProof="1" smtClean="0"/>
              <a:t>קדם את </a:t>
            </a:r>
            <a:r>
              <a:rPr lang="he-IL" altLang="he-IL" noProof="1"/>
              <a:t>ה-</a:t>
            </a:r>
            <a:r>
              <a:rPr lang="en-US" altLang="he-IL" noProof="1" smtClean="0"/>
              <a:t>Dereference</a:t>
            </a:r>
            <a:r>
              <a:rPr lang="he-IL" altLang="he-IL" noProof="1" smtClean="0"/>
              <a:t> והחזר אותו.</a:t>
            </a:r>
            <a:endParaRPr lang="he-IL" altLang="he-IL" noProof="1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dirty="0" smtClean="0"/>
              <a:t>סדר פעולות (</a:t>
            </a:r>
            <a:r>
              <a:rPr lang="en-US" altLang="he-IL" dirty="0" smtClean="0"/>
              <a:t>II</a:t>
            </a:r>
            <a:r>
              <a:rPr lang="he-IL" altLang="he-IL" dirty="0" smtClean="0"/>
              <a:t>)</a:t>
            </a:r>
            <a:endParaRPr lang="en-US" altLang="he-IL" dirty="0" smtClean="0"/>
          </a:p>
        </p:txBody>
      </p:sp>
      <p:graphicFrame>
        <p:nvGraphicFramePr>
          <p:cNvPr id="125956" name="Group 4"/>
          <p:cNvGraphicFramePr>
            <a:graphicFrameLocks noGrp="1"/>
          </p:cNvGraphicFramePr>
          <p:nvPr>
            <p:ph sz="half" idx="2"/>
          </p:nvPr>
        </p:nvGraphicFramePr>
        <p:xfrm>
          <a:off x="4495800" y="2317750"/>
          <a:ext cx="2209800" cy="731838"/>
        </p:xfrm>
        <a:graphic>
          <a:graphicData uri="http://schemas.openxmlformats.org/drawingml/2006/table">
            <a:tbl>
              <a:tblPr/>
              <a:tblGrid>
                <a:gridCol w="914400"/>
                <a:gridCol w="7620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x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pX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44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C3EBEB55-FF38-4BA0-8F42-704E645B3EAC}" type="slidenum">
              <a:rPr lang="he-IL" altLang="he-IL" smtClean="0">
                <a:latin typeface="Verdana" pitchFamily="34" charset="0"/>
              </a:rPr>
              <a:pPr algn="r" rtl="1" eaLnBrk="1" hangingPunct="1"/>
              <a:t>14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92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632075"/>
            <a:ext cx="80772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 arr[] = {4,2,8};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int* p;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 size = sizeof(arr)/sizeof(arr[0]);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18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printf("Values in the array: ");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for (</a:t>
            </a:r>
            <a:r>
              <a:rPr lang="en-US" altLang="he-IL" sz="1800" smtClean="0"/>
              <a:t>        </a:t>
            </a:r>
            <a:r>
              <a:rPr lang="en-US" altLang="he-IL" sz="1800" noProof="1" smtClean="0"/>
              <a:t> ; </a:t>
            </a:r>
            <a:r>
              <a:rPr lang="en-US" altLang="he-IL" sz="1800" smtClean="0"/>
              <a:t>                  </a:t>
            </a:r>
            <a:r>
              <a:rPr lang="en-US" altLang="he-IL" sz="1800" noProof="1" smtClean="0"/>
              <a:t> ; </a:t>
            </a:r>
            <a:r>
              <a:rPr lang="en-US" altLang="he-IL" sz="1800" smtClean="0"/>
              <a:t>         </a:t>
            </a:r>
            <a:r>
              <a:rPr lang="en-US" altLang="he-IL" sz="1800" noProof="1" smtClean="0"/>
              <a:t>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	printf("%d ", *p);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printf("\n");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1800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dirty="0" smtClean="0"/>
              <a:t>מעבר עולה על איברי מערך עם מצביע </a:t>
            </a:r>
            <a:r>
              <a:rPr lang="he-IL" altLang="he-IL" sz="3600" dirty="0" smtClean="0"/>
              <a:t>(ולא עם אינדקס) – </a:t>
            </a:r>
            <a:r>
              <a:rPr lang="he-IL" altLang="he-IL" sz="4000" dirty="0" smtClean="0"/>
              <a:t>מצביע מטייל</a:t>
            </a:r>
            <a:endParaRPr lang="en-US" altLang="he-IL" sz="3600" dirty="0" smtClean="0"/>
          </a:p>
        </p:txBody>
      </p:sp>
      <p:graphicFrame>
        <p:nvGraphicFramePr>
          <p:cNvPr id="82987" name="Group 43"/>
          <p:cNvGraphicFramePr>
            <a:graphicFrameLocks noGrp="1"/>
          </p:cNvGraphicFramePr>
          <p:nvPr>
            <p:ph sz="half" idx="2"/>
          </p:nvPr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3015" name="Group 71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3065" name="Group 121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3090" name="Picture 1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464820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092" name="Rectangle 148"/>
          <p:cNvSpPr>
            <a:spLocks noChangeArrowheads="1"/>
          </p:cNvSpPr>
          <p:nvPr/>
        </p:nvSpPr>
        <p:spPr bwMode="auto">
          <a:xfrm>
            <a:off x="1219200" y="4738688"/>
            <a:ext cx="723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noProof="1"/>
              <a:t>p=arr</a:t>
            </a:r>
            <a:endParaRPr lang="en-US" altLang="he-IL"/>
          </a:p>
        </p:txBody>
      </p:sp>
      <p:sp>
        <p:nvSpPr>
          <p:cNvPr id="83093" name="Rectangle 149"/>
          <p:cNvSpPr>
            <a:spLocks noChangeArrowheads="1"/>
          </p:cNvSpPr>
          <p:nvPr/>
        </p:nvSpPr>
        <p:spPr bwMode="auto">
          <a:xfrm>
            <a:off x="2209800" y="4738688"/>
            <a:ext cx="1390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/>
              <a:t>p &lt; arr+size</a:t>
            </a:r>
          </a:p>
        </p:txBody>
      </p:sp>
      <p:sp>
        <p:nvSpPr>
          <p:cNvPr id="83094" name="Rectangle 150"/>
          <p:cNvSpPr>
            <a:spLocks noChangeArrowheads="1"/>
          </p:cNvSpPr>
          <p:nvPr/>
        </p:nvSpPr>
        <p:spPr bwMode="auto">
          <a:xfrm>
            <a:off x="3886200" y="4738688"/>
            <a:ext cx="577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/>
              <a:t>p++</a:t>
            </a:r>
          </a:p>
        </p:txBody>
      </p:sp>
      <p:graphicFrame>
        <p:nvGraphicFramePr>
          <p:cNvPr id="83040" name="Group 96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095" name="Rectangle 151"/>
          <p:cNvSpPr>
            <a:spLocks noChangeArrowheads="1"/>
          </p:cNvSpPr>
          <p:nvPr/>
        </p:nvSpPr>
        <p:spPr bwMode="auto">
          <a:xfrm>
            <a:off x="4800600" y="4191000"/>
            <a:ext cx="39624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תזכורת:</a:t>
            </a:r>
            <a:endParaRPr lang="en-US" altLang="he-IL" b="1">
              <a:solidFill>
                <a:schemeClr val="bg1"/>
              </a:solidFill>
            </a:endParaRPr>
          </a:p>
          <a:p>
            <a:pPr algn="ctr" eaLnBrk="1" hangingPunct="1"/>
            <a:r>
              <a:rPr lang="en-US" altLang="he-IL" b="1">
                <a:solidFill>
                  <a:schemeClr val="bg1"/>
                </a:solidFill>
              </a:rPr>
              <a:t>arr+size = &amp;arr + size*sizeof(int) = </a:t>
            </a:r>
          </a:p>
          <a:p>
            <a:pPr algn="ctr" eaLnBrk="1" hangingPunct="1"/>
            <a:r>
              <a:rPr lang="en-US" altLang="he-IL" b="1">
                <a:solidFill>
                  <a:schemeClr val="bg1"/>
                </a:solidFill>
              </a:rPr>
              <a:t>1000 + 3*4 = 1012</a:t>
            </a:r>
          </a:p>
        </p:txBody>
      </p:sp>
      <p:graphicFrame>
        <p:nvGraphicFramePr>
          <p:cNvPr id="83096" name="Group 152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3122" name="Group 178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3148" name="Group 204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174" name="Rectangle 230"/>
          <p:cNvSpPr>
            <a:spLocks noChangeArrowheads="1"/>
          </p:cNvSpPr>
          <p:nvPr/>
        </p:nvSpPr>
        <p:spPr bwMode="auto">
          <a:xfrm>
            <a:off x="3733800" y="5105400"/>
            <a:ext cx="5257800" cy="1524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en-US" altLang="he-IL" b="1" dirty="0">
                <a:solidFill>
                  <a:schemeClr val="bg1"/>
                </a:solidFill>
              </a:rPr>
              <a:t>p</a:t>
            </a:r>
            <a:r>
              <a:rPr lang="he-IL" altLang="he-IL" b="1" dirty="0">
                <a:solidFill>
                  <a:schemeClr val="bg1"/>
                </a:solidFill>
              </a:rPr>
              <a:t> הוא משתנה שמחזיק כל פעם את </a:t>
            </a:r>
          </a:p>
          <a:p>
            <a:pPr algn="ctr" rtl="1" eaLnBrk="1" hangingPunct="1"/>
            <a:r>
              <a:rPr lang="he-IL" altLang="he-IL" b="1" dirty="0">
                <a:solidFill>
                  <a:schemeClr val="bg1"/>
                </a:solidFill>
              </a:rPr>
              <a:t>הכתובת של האיבר הבא במערך אותו רוצים להדפיס, </a:t>
            </a:r>
          </a:p>
          <a:p>
            <a:pPr algn="ctr" rtl="1" eaLnBrk="1" hangingPunct="1"/>
            <a:r>
              <a:rPr lang="he-IL" altLang="he-IL" b="1" dirty="0">
                <a:solidFill>
                  <a:schemeClr val="bg1"/>
                </a:solidFill>
              </a:rPr>
              <a:t>ומאחר והוא מכיל כתובת ל- </a:t>
            </a:r>
            <a:r>
              <a:rPr lang="en-US" altLang="he-IL" b="1" dirty="0" err="1">
                <a:solidFill>
                  <a:schemeClr val="bg1"/>
                </a:solidFill>
              </a:rPr>
              <a:t>int</a:t>
            </a:r>
            <a:r>
              <a:rPr lang="he-IL" altLang="he-IL" b="1" dirty="0">
                <a:solidFill>
                  <a:schemeClr val="bg1"/>
                </a:solidFill>
              </a:rPr>
              <a:t> הוא מטיפוס </a:t>
            </a:r>
            <a:r>
              <a:rPr lang="en-US" altLang="he-IL" b="1" dirty="0" err="1">
                <a:solidFill>
                  <a:schemeClr val="bg1"/>
                </a:solidFill>
              </a:rPr>
              <a:t>int</a:t>
            </a:r>
            <a:r>
              <a:rPr lang="en-US" altLang="he-IL" b="1" dirty="0">
                <a:solidFill>
                  <a:schemeClr val="bg1"/>
                </a:solidFill>
              </a:rPr>
              <a:t>*</a:t>
            </a:r>
            <a:r>
              <a:rPr lang="he-IL" altLang="he-IL" b="1" dirty="0">
                <a:solidFill>
                  <a:schemeClr val="bg1"/>
                </a:solidFill>
              </a:rPr>
              <a:t>.</a:t>
            </a:r>
          </a:p>
          <a:p>
            <a:pPr algn="ctr" rtl="1" eaLnBrk="1" hangingPunct="1"/>
            <a:r>
              <a:rPr lang="he-IL" altLang="he-IL" b="1" dirty="0">
                <a:solidFill>
                  <a:schemeClr val="bg1"/>
                </a:solidFill>
              </a:rPr>
              <a:t>צריך לרוץ </a:t>
            </a:r>
            <a:r>
              <a:rPr lang="he-IL" altLang="he-IL" b="1" dirty="0" err="1">
                <a:solidFill>
                  <a:schemeClr val="bg1"/>
                </a:solidFill>
              </a:rPr>
              <a:t>איתו</a:t>
            </a:r>
            <a:r>
              <a:rPr lang="he-IL" altLang="he-IL" b="1" dirty="0">
                <a:solidFill>
                  <a:schemeClr val="bg1"/>
                </a:solidFill>
              </a:rPr>
              <a:t> עד אשר הוא יכיל את </a:t>
            </a:r>
          </a:p>
          <a:p>
            <a:pPr algn="ctr" rtl="1" eaLnBrk="1" hangingPunct="1"/>
            <a:r>
              <a:rPr lang="he-IL" altLang="he-IL" b="1" dirty="0">
                <a:solidFill>
                  <a:schemeClr val="bg1"/>
                </a:solidFill>
              </a:rPr>
              <a:t>הכתובת </a:t>
            </a:r>
            <a:r>
              <a:rPr lang="he-IL" altLang="he-IL" b="1" dirty="0" smtClean="0">
                <a:solidFill>
                  <a:schemeClr val="bg1"/>
                </a:solidFill>
              </a:rPr>
              <a:t>אחר סיום </a:t>
            </a:r>
            <a:r>
              <a:rPr lang="he-IL" altLang="he-IL" b="1" dirty="0">
                <a:solidFill>
                  <a:schemeClr val="bg1"/>
                </a:solidFill>
              </a:rPr>
              <a:t>המערך (התנאי לסיום הלולאה)</a:t>
            </a:r>
            <a:endParaRPr lang="en-US" altLang="he-IL" b="1" dirty="0">
              <a:solidFill>
                <a:schemeClr val="bg1"/>
              </a:solidFill>
            </a:endParaRPr>
          </a:p>
        </p:txBody>
      </p:sp>
      <p:sp>
        <p:nvSpPr>
          <p:cNvPr id="19641" name="Slide Number Placeholder 3"/>
          <p:cNvSpPr txBox="1">
            <a:spLocks/>
          </p:cNvSpPr>
          <p:nvPr/>
        </p:nvSpPr>
        <p:spPr bwMode="auto">
          <a:xfrm>
            <a:off x="2286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rtl="1" eaLnBrk="1" hangingPunct="1"/>
            <a:fld id="{CDE71306-5808-45F4-8BFF-79329F82D1E8}" type="slidenum">
              <a:rPr lang="he-IL" altLang="he-IL" sz="1000">
                <a:latin typeface="Verdana" pitchFamily="34" charset="0"/>
              </a:rPr>
              <a:pPr rtl="1" eaLnBrk="1" hangingPunct="1"/>
              <a:t>15</a:t>
            </a:fld>
            <a:endParaRPr lang="he-IL" altLang="he-IL" sz="1000" dirty="0">
              <a:latin typeface="Verdana" pitchFamily="34" charset="0"/>
            </a:endParaRPr>
          </a:p>
          <a:p>
            <a:pPr rtl="1" eaLnBrk="1" hangingPunct="1"/>
            <a:r>
              <a:rPr lang="en-US" altLang="he-IL" sz="1000" dirty="0">
                <a:latin typeface="Verdana" pitchFamily="34" charset="0"/>
              </a:rPr>
              <a:t>© </a:t>
            </a:r>
            <a:r>
              <a:rPr lang="en-US" altLang="he-IL" sz="1000" dirty="0" err="1" smtClean="0">
                <a:latin typeface="Verdana" pitchFamily="34" charset="0"/>
              </a:rPr>
              <a:t>Sagie</a:t>
            </a:r>
            <a:r>
              <a:rPr lang="en-US" altLang="he-IL" sz="1000" dirty="0" smtClean="0">
                <a:latin typeface="Verdana" pitchFamily="34" charset="0"/>
              </a:rPr>
              <a:t> </a:t>
            </a:r>
            <a:r>
              <a:rPr lang="en-US" altLang="he-IL" sz="1000" dirty="0" err="1" smtClean="0">
                <a:latin typeface="Verdana" pitchFamily="34" charset="0"/>
              </a:rPr>
              <a:t>Feigin</a:t>
            </a:r>
            <a:endParaRPr lang="en-US" altLang="he-IL" sz="1000" dirty="0">
              <a:latin typeface="Verdana" pitchFamily="34" charset="0"/>
            </a:endParaRPr>
          </a:p>
          <a:p>
            <a:pPr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dirty="0" smtClean="0"/>
              <a:t>מעבר יורד על איברי מערך עם מצביע </a:t>
            </a:r>
            <a:r>
              <a:rPr lang="he-IL" altLang="he-IL" sz="3600" dirty="0" smtClean="0"/>
              <a:t>(ולא עם אינדקס) – </a:t>
            </a:r>
            <a:r>
              <a:rPr lang="he-IL" altLang="he-IL" sz="4000" dirty="0" smtClean="0"/>
              <a:t>מצביע מטייל</a:t>
            </a:r>
            <a:endParaRPr lang="en-US" altLang="he-IL" sz="3600" dirty="0" smtClean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 arr[] = {4,2,8};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int* p;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 size = sizeof(arr)/sizeof(arr[0]);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18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printf("Values in the array: ");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for (</a:t>
            </a:r>
            <a:r>
              <a:rPr lang="en-US" altLang="he-IL" sz="1800" smtClean="0"/>
              <a:t>                </a:t>
            </a:r>
            <a:r>
              <a:rPr lang="en-US" altLang="he-IL" sz="1800" noProof="1" smtClean="0"/>
              <a:t> ; </a:t>
            </a:r>
            <a:r>
              <a:rPr lang="en-US" altLang="he-IL" sz="1800" smtClean="0"/>
              <a:t>             </a:t>
            </a:r>
            <a:r>
              <a:rPr lang="en-US" altLang="he-IL" sz="1800" noProof="1" smtClean="0"/>
              <a:t> ; </a:t>
            </a:r>
            <a:r>
              <a:rPr lang="en-US" altLang="he-IL" sz="1800" smtClean="0"/>
              <a:t>        </a:t>
            </a:r>
            <a:r>
              <a:rPr lang="en-US" altLang="he-IL" sz="1800" noProof="1" smtClean="0"/>
              <a:t>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	printf("%d ", *p);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printf("\n");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1800" smtClean="0"/>
          </a:p>
        </p:txBody>
      </p:sp>
      <p:graphicFrame>
        <p:nvGraphicFramePr>
          <p:cNvPr id="87044" name="Group 4"/>
          <p:cNvGraphicFramePr>
            <a:graphicFrameLocks noGrp="1"/>
          </p:cNvGraphicFramePr>
          <p:nvPr>
            <p:ph sz="half" idx="2"/>
          </p:nvPr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7069" name="Group 29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7094" name="Group 54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7120" name="Rectangle 80"/>
          <p:cNvSpPr>
            <a:spLocks noChangeArrowheads="1"/>
          </p:cNvSpPr>
          <p:nvPr/>
        </p:nvSpPr>
        <p:spPr bwMode="auto">
          <a:xfrm>
            <a:off x="1371600" y="3671888"/>
            <a:ext cx="146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noProof="1"/>
              <a:t>p=arr</a:t>
            </a:r>
            <a:r>
              <a:rPr lang="en-US" altLang="he-IL"/>
              <a:t>+size-1</a:t>
            </a:r>
          </a:p>
        </p:txBody>
      </p:sp>
      <p:sp>
        <p:nvSpPr>
          <p:cNvPr id="87121" name="Rectangle 81"/>
          <p:cNvSpPr>
            <a:spLocks noChangeArrowheads="1"/>
          </p:cNvSpPr>
          <p:nvPr/>
        </p:nvSpPr>
        <p:spPr bwMode="auto">
          <a:xfrm>
            <a:off x="2978150" y="3671888"/>
            <a:ext cx="98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/>
              <a:t>p &gt;= arr</a:t>
            </a:r>
          </a:p>
        </p:txBody>
      </p:sp>
      <p:sp>
        <p:nvSpPr>
          <p:cNvPr id="87122" name="Rectangle 82"/>
          <p:cNvSpPr>
            <a:spLocks noChangeArrowheads="1"/>
          </p:cNvSpPr>
          <p:nvPr/>
        </p:nvSpPr>
        <p:spPr bwMode="auto">
          <a:xfrm>
            <a:off x="4184650" y="365760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/>
              <a:t>p--</a:t>
            </a:r>
          </a:p>
        </p:txBody>
      </p:sp>
      <p:graphicFrame>
        <p:nvGraphicFramePr>
          <p:cNvPr id="87123" name="Group 83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7148" name="Rectangle 108"/>
          <p:cNvSpPr>
            <a:spLocks noChangeArrowheads="1"/>
          </p:cNvSpPr>
          <p:nvPr/>
        </p:nvSpPr>
        <p:spPr bwMode="auto">
          <a:xfrm>
            <a:off x="4114800" y="4191000"/>
            <a:ext cx="4648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תזכורת:</a:t>
            </a:r>
            <a:endParaRPr lang="en-US" altLang="he-IL" b="1">
              <a:solidFill>
                <a:schemeClr val="bg1"/>
              </a:solidFill>
            </a:endParaRPr>
          </a:p>
          <a:p>
            <a:pPr algn="ctr" eaLnBrk="1" hangingPunct="1"/>
            <a:r>
              <a:rPr lang="en-US" altLang="he-IL" b="1">
                <a:solidFill>
                  <a:schemeClr val="bg1"/>
                </a:solidFill>
              </a:rPr>
              <a:t>arr+size-1 = &amp;arr + (size-1)*sizeof(int) = </a:t>
            </a:r>
          </a:p>
          <a:p>
            <a:pPr algn="ctr" eaLnBrk="1" hangingPunct="1"/>
            <a:r>
              <a:rPr lang="en-US" altLang="he-IL" b="1">
                <a:solidFill>
                  <a:schemeClr val="bg1"/>
                </a:solidFill>
              </a:rPr>
              <a:t>1000 + (3-1)*4 = 1008</a:t>
            </a:r>
          </a:p>
        </p:txBody>
      </p:sp>
      <p:graphicFrame>
        <p:nvGraphicFramePr>
          <p:cNvPr id="87149" name="Group 109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7174" name="Group 134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7199" name="Group 159"/>
          <p:cNvGraphicFramePr>
            <a:graphicFrameLocks noGrp="1"/>
          </p:cNvGraphicFramePr>
          <p:nvPr/>
        </p:nvGraphicFramePr>
        <p:xfrm>
          <a:off x="5791200" y="1828800"/>
          <a:ext cx="2819400" cy="2043114"/>
        </p:xfrm>
        <a:graphic>
          <a:graphicData uri="http://schemas.openxmlformats.org/drawingml/2006/table">
            <a:tbl>
              <a:tblPr/>
              <a:tblGrid>
                <a:gridCol w="1308100"/>
                <a:gridCol w="977900"/>
                <a:gridCol w="533400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996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7225" name="Picture 1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257800"/>
            <a:ext cx="5334000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6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2B126665-9987-4888-ACDA-9E4514D39851}" type="slidenum">
              <a:rPr lang="he-IL" altLang="he-IL" smtClean="0">
                <a:latin typeface="Verdana" pitchFamily="34" charset="0"/>
              </a:rPr>
              <a:pPr algn="r" rtl="1" eaLnBrk="1" hangingPunct="1"/>
              <a:t>16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נשים לב...</a:t>
            </a:r>
            <a:endParaRPr lang="en-US" altLang="he-IL" smtClean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8153400" cy="5029200"/>
          </a:xfrm>
        </p:spPr>
        <p:txBody>
          <a:bodyPr/>
          <a:lstStyle/>
          <a:p>
            <a:r>
              <a:rPr lang="he-IL" altLang="he-IL" dirty="0" smtClean="0"/>
              <a:t>ראינו שניתן לבצע את הפעולה ++ על משתנה מטיפוס כתובת.</a:t>
            </a:r>
          </a:p>
          <a:p>
            <a:r>
              <a:rPr lang="he-IL" altLang="he-IL" dirty="0" smtClean="0"/>
              <a:t>אבל אסור לקדם מערך (</a:t>
            </a:r>
            <a:r>
              <a:rPr lang="en-US" altLang="he-IL" dirty="0" err="1" smtClean="0"/>
              <a:t>arr</a:t>
            </a:r>
            <a:r>
              <a:rPr lang="en-US" altLang="he-IL" dirty="0" smtClean="0"/>
              <a:t>++</a:t>
            </a:r>
            <a:r>
              <a:rPr lang="he-IL" altLang="he-IL" dirty="0" smtClean="0"/>
              <a:t>) אפילו ש- </a:t>
            </a:r>
            <a:r>
              <a:rPr lang="en-US" altLang="he-IL" dirty="0" err="1" smtClean="0"/>
              <a:t>arr</a:t>
            </a:r>
            <a:r>
              <a:rPr lang="en-US" altLang="he-IL" dirty="0" smtClean="0"/>
              <a:t> </a:t>
            </a:r>
            <a:r>
              <a:rPr lang="he-IL" altLang="he-IL" dirty="0" smtClean="0"/>
              <a:t> הוא כתובת תחילת המערך.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void main()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{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int arr[] = {4,2,8};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    int* p = arr;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     p++;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arr++;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}</a:t>
            </a:r>
            <a:endParaRPr lang="en-US" altLang="he-IL" sz="1800" dirty="0" smtClean="0"/>
          </a:p>
        </p:txBody>
      </p:sp>
      <p:graphicFrame>
        <p:nvGraphicFramePr>
          <p:cNvPr id="77860" name="Group 36"/>
          <p:cNvGraphicFramePr>
            <a:graphicFrameLocks noGrp="1"/>
          </p:cNvGraphicFramePr>
          <p:nvPr>
            <p:ph sz="half" idx="2"/>
          </p:nvPr>
        </p:nvGraphicFramePr>
        <p:xfrm>
          <a:off x="6324600" y="3733800"/>
          <a:ext cx="2362200" cy="1546226"/>
        </p:xfrm>
        <a:graphic>
          <a:graphicData uri="http://schemas.openxmlformats.org/drawingml/2006/table">
            <a:tbl>
              <a:tblPr/>
              <a:tblGrid>
                <a:gridCol w="1066800"/>
                <a:gridCol w="762000"/>
                <a:gridCol w="5334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7946" name="Group 122"/>
          <p:cNvGraphicFramePr>
            <a:graphicFrameLocks noGrp="1"/>
          </p:cNvGraphicFramePr>
          <p:nvPr/>
        </p:nvGraphicFramePr>
        <p:xfrm>
          <a:off x="6324600" y="3733800"/>
          <a:ext cx="2362200" cy="1546226"/>
        </p:xfrm>
        <a:graphic>
          <a:graphicData uri="http://schemas.openxmlformats.org/drawingml/2006/table">
            <a:tbl>
              <a:tblPr/>
              <a:tblGrid>
                <a:gridCol w="1066800"/>
                <a:gridCol w="762000"/>
                <a:gridCol w="5334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7948" name="Text Box 124"/>
          <p:cNvSpPr txBox="1">
            <a:spLocks noChangeArrowheads="1"/>
          </p:cNvSpPr>
          <p:nvPr/>
        </p:nvSpPr>
        <p:spPr bwMode="auto">
          <a:xfrm>
            <a:off x="1905000" y="5348288"/>
            <a:ext cx="510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b="1">
                <a:solidFill>
                  <a:srgbClr val="009900"/>
                </a:solidFill>
              </a:rPr>
              <a:t>// same as: arr = arr+1 </a:t>
            </a:r>
            <a:r>
              <a:rPr lang="en-US" altLang="he-IL" b="1">
                <a:solidFill>
                  <a:srgbClr val="009900"/>
                </a:solidFill>
                <a:sym typeface="Wingdings" pitchFamily="2" charset="2"/>
              </a:rPr>
              <a:t> arr = 1004</a:t>
            </a:r>
            <a:endParaRPr lang="en-US" altLang="he-IL" b="1">
              <a:solidFill>
                <a:srgbClr val="009900"/>
              </a:solidFill>
            </a:endParaRPr>
          </a:p>
        </p:txBody>
      </p:sp>
      <p:sp>
        <p:nvSpPr>
          <p:cNvPr id="77949" name="Line 125"/>
          <p:cNvSpPr>
            <a:spLocks noChangeShapeType="1"/>
          </p:cNvSpPr>
          <p:nvPr/>
        </p:nvSpPr>
        <p:spPr bwMode="auto">
          <a:xfrm>
            <a:off x="914400" y="5576888"/>
            <a:ext cx="838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77950" name="AutoShape 126"/>
          <p:cNvSpPr>
            <a:spLocks noChangeArrowheads="1"/>
          </p:cNvSpPr>
          <p:nvPr/>
        </p:nvSpPr>
        <p:spPr bwMode="auto">
          <a:xfrm>
            <a:off x="4953000" y="5943600"/>
            <a:ext cx="3886200" cy="685800"/>
          </a:xfrm>
          <a:prstGeom prst="wedgeRectCallout">
            <a:avLst>
              <a:gd name="adj1" fmla="val -134162"/>
              <a:gd name="adj2" fmla="val -8768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שורה זו לא תתקמפל, כי לא ניתן לשנות את מיקומם של משתנים בזיכרון!!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77951" name="Line 127"/>
          <p:cNvSpPr>
            <a:spLocks noChangeShapeType="1"/>
          </p:cNvSpPr>
          <p:nvPr/>
        </p:nvSpPr>
        <p:spPr bwMode="auto">
          <a:xfrm>
            <a:off x="914400" y="5500688"/>
            <a:ext cx="838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1554" name="Slide Number Placeholder 3"/>
          <p:cNvSpPr txBox="1">
            <a:spLocks/>
          </p:cNvSpPr>
          <p:nvPr/>
        </p:nvSpPr>
        <p:spPr bwMode="auto">
          <a:xfrm>
            <a:off x="228600" y="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rtl="1" eaLnBrk="1" hangingPunct="1"/>
            <a:fld id="{EBE07301-7841-4E14-9E56-C7D3F2703C01}" type="slidenum">
              <a:rPr lang="he-IL" altLang="he-IL" sz="1000">
                <a:latin typeface="Verdana" pitchFamily="34" charset="0"/>
              </a:rPr>
              <a:pPr rtl="1" eaLnBrk="1" hangingPunct="1"/>
              <a:t>17</a:t>
            </a:fld>
            <a:endParaRPr lang="he-IL" altLang="he-IL" sz="1000" dirty="0">
              <a:latin typeface="Verdana" pitchFamily="34" charset="0"/>
            </a:endParaRPr>
          </a:p>
          <a:p>
            <a:pPr rtl="1" eaLnBrk="1" hangingPunct="1"/>
            <a:r>
              <a:rPr lang="en-US" altLang="he-IL" sz="1000" dirty="0">
                <a:latin typeface="Verdana" pitchFamily="34" charset="0"/>
              </a:rPr>
              <a:t>© </a:t>
            </a:r>
            <a:r>
              <a:rPr lang="en-US" altLang="he-IL" sz="1000" dirty="0" err="1" smtClean="0">
                <a:latin typeface="Verdana" pitchFamily="34" charset="0"/>
              </a:rPr>
              <a:t>Sagie</a:t>
            </a:r>
            <a:r>
              <a:rPr lang="en-US" altLang="he-IL" sz="1000" dirty="0" smtClean="0">
                <a:latin typeface="Verdana" pitchFamily="34" charset="0"/>
              </a:rPr>
              <a:t> </a:t>
            </a:r>
            <a:r>
              <a:rPr lang="en-US" altLang="he-IL" sz="1000" dirty="0" err="1" smtClean="0">
                <a:latin typeface="Verdana" pitchFamily="34" charset="0"/>
              </a:rPr>
              <a:t>Feigin</a:t>
            </a:r>
            <a:endParaRPr lang="en-US" altLang="he-IL" sz="1000" dirty="0">
              <a:latin typeface="Verdana" pitchFamily="34" charset="0"/>
            </a:endParaRPr>
          </a:p>
          <a:p>
            <a:pPr rtl="1" eaLnBrk="1" hangingPunct="1"/>
            <a:endParaRPr lang="en-US" altLang="he-IL" sz="1000" dirty="0">
              <a:latin typeface="Verdana" pitchFamily="34" charset="0"/>
            </a:endParaRPr>
          </a:p>
        </p:txBody>
      </p:sp>
      <p:graphicFrame>
        <p:nvGraphicFramePr>
          <p:cNvPr id="13" name="Group 122"/>
          <p:cNvGraphicFramePr>
            <a:graphicFrameLocks noGrp="1"/>
          </p:cNvGraphicFramePr>
          <p:nvPr/>
        </p:nvGraphicFramePr>
        <p:xfrm>
          <a:off x="6324600" y="3733800"/>
          <a:ext cx="2362200" cy="1546226"/>
        </p:xfrm>
        <a:graphic>
          <a:graphicData uri="http://schemas.openxmlformats.org/drawingml/2006/table">
            <a:tbl>
              <a:tblPr/>
              <a:tblGrid>
                <a:gridCol w="1066800"/>
                <a:gridCol w="762000"/>
                <a:gridCol w="5334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906" name="Group 82"/>
          <p:cNvGraphicFramePr>
            <a:graphicFrameLocks noGrp="1"/>
          </p:cNvGraphicFramePr>
          <p:nvPr/>
        </p:nvGraphicFramePr>
        <p:xfrm>
          <a:off x="6324600" y="3733800"/>
          <a:ext cx="2362200" cy="1546226"/>
        </p:xfrm>
        <a:graphic>
          <a:graphicData uri="http://schemas.openxmlformats.org/drawingml/2006/table">
            <a:tbl>
              <a:tblPr/>
              <a:tblGrid>
                <a:gridCol w="1066800"/>
                <a:gridCol w="762000"/>
                <a:gridCol w="5334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p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הפונקציה </a:t>
            </a:r>
            <a:r>
              <a:rPr lang="en-US" altLang="he-IL" smtClean="0"/>
              <a:t>strchr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פונקציה המקבלת מחרוזת ותו, ומחזירה את הכתובת של המופע הראשון של התו במחרוזת, </a:t>
            </a:r>
            <a:r>
              <a:rPr lang="en-US" altLang="he-IL" smtClean="0"/>
              <a:t>NULL</a:t>
            </a:r>
            <a:r>
              <a:rPr lang="he-IL" altLang="he-IL" smtClean="0"/>
              <a:t> אם לא קיים</a:t>
            </a:r>
          </a:p>
          <a:p>
            <a:pPr eaLnBrk="1" hangingPunct="1">
              <a:lnSpc>
                <a:spcPct val="90000"/>
              </a:lnSpc>
            </a:pPr>
            <a:endParaRPr lang="he-IL" altLang="he-IL" smtClean="0"/>
          </a:p>
          <a:p>
            <a:pPr algn="ctr" rtl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mtClean="0"/>
              <a:t>char* strchr(const char* str, char ch)</a:t>
            </a:r>
            <a:endParaRPr lang="he-IL" altLang="he-IL" smtClean="0"/>
          </a:p>
        </p:txBody>
      </p:sp>
      <p:sp>
        <p:nvSpPr>
          <p:cNvPr id="22532" name="Slide Number Placeholder 3"/>
          <p:cNvSpPr txBox="1">
            <a:spLocks noGrp="1"/>
          </p:cNvSpPr>
          <p:nvPr/>
        </p:nvSpPr>
        <p:spPr bwMode="auto">
          <a:xfrm>
            <a:off x="7010400" y="63246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fld id="{7AB90DFA-60BB-4CE1-9653-450C3AE354B0}" type="slidenum">
              <a:rPr lang="he-IL" altLang="he-IL" sz="1000">
                <a:latin typeface="Verdana" pitchFamily="34" charset="0"/>
              </a:rPr>
              <a:pPr algn="r" rtl="1" eaLnBrk="1" hangingPunct="1"/>
              <a:t>18</a:t>
            </a:fld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>
                <a:latin typeface="Verdana" pitchFamily="34" charset="0"/>
              </a:rPr>
              <a:t>© </a:t>
            </a:r>
            <a:r>
              <a:rPr lang="en-US" altLang="he-IL" sz="1000" dirty="0" err="1" smtClean="0">
                <a:latin typeface="Verdana" pitchFamily="34" charset="0"/>
              </a:rPr>
              <a:t>Sagie</a:t>
            </a:r>
            <a:r>
              <a:rPr lang="en-US" altLang="he-IL" sz="1000" dirty="0" smtClean="0">
                <a:latin typeface="Verdana" pitchFamily="34" charset="0"/>
              </a:rPr>
              <a:t> </a:t>
            </a:r>
            <a:r>
              <a:rPr lang="en-US" altLang="he-IL" sz="1000" dirty="0" err="1" smtClean="0">
                <a:latin typeface="Verdana" pitchFamily="34" charset="0"/>
              </a:rPr>
              <a:t>Feigin</a:t>
            </a:r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"/>
          <p:cNvSpPr>
            <a:spLocks noChangeArrowheads="1"/>
          </p:cNvSpPr>
          <p:nvPr/>
        </p:nvSpPr>
        <p:spPr bwMode="auto">
          <a:xfrm>
            <a:off x="381000" y="1295400"/>
            <a:ext cx="8305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23555" name="Title 1"/>
          <p:cNvSpPr>
            <a:spLocks noGrp="1"/>
          </p:cNvSpPr>
          <p:nvPr>
            <p:ph type="title"/>
          </p:nvPr>
        </p:nvSpPr>
        <p:spPr>
          <a:xfrm>
            <a:off x="533400" y="-228600"/>
            <a:ext cx="8229600" cy="1139825"/>
          </a:xfrm>
        </p:spPr>
        <p:txBody>
          <a:bodyPr/>
          <a:lstStyle/>
          <a:p>
            <a:pPr algn="r" eaLnBrk="1" hangingPunct="1"/>
            <a:r>
              <a:rPr lang="he-IL" altLang="he-IL" smtClean="0"/>
              <a:t>הפונקציה </a:t>
            </a:r>
            <a:r>
              <a:rPr lang="en-US" altLang="he-IL" smtClean="0"/>
              <a:t>strchr</a:t>
            </a:r>
            <a:r>
              <a:rPr lang="he-IL" altLang="he-IL" smtClean="0"/>
              <a:t>  -דוגמא</a:t>
            </a:r>
            <a:endParaRPr lang="en-US" altLang="he-IL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152400" y="76200"/>
            <a:ext cx="9753600" cy="4530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void main()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{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char str[] = “abcdef";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char* pos;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char ch = ‘c';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en-US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printf("|%s| appears at address %p\n\n", str, str);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     pos = strchr(str, ch);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     if (pos != NULL)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   printf("'%c' appears first at address %p (index=%d)\n“, ch, pos, pos-str);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ch = 'm';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pos = strchr(str, ch);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if (pos == NULL)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   printf("'%c' is not in the string\n", ch);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}</a:t>
            </a:r>
            <a:endParaRPr lang="he-IL" altLang="he-IL" sz="1600" smtClean="0"/>
          </a:p>
        </p:txBody>
      </p:sp>
      <p:graphicFrame>
        <p:nvGraphicFramePr>
          <p:cNvPr id="7" name="Group 64"/>
          <p:cNvGraphicFramePr>
            <a:graphicFrameLocks/>
          </p:cNvGraphicFramePr>
          <p:nvPr/>
        </p:nvGraphicFramePr>
        <p:xfrm>
          <a:off x="6400800" y="3200400"/>
          <a:ext cx="2590800" cy="3292479"/>
        </p:xfrm>
        <a:graphic>
          <a:graphicData uri="http://schemas.openxmlformats.org/drawingml/2006/table">
            <a:tbl>
              <a:tblPr/>
              <a:tblGrid>
                <a:gridCol w="1209040"/>
                <a:gridCol w="777241"/>
                <a:gridCol w="604519"/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str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‘a’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‘b’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1003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‘e’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1004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‘f’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1005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1006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char*: pos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1007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1011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359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715000"/>
            <a:ext cx="6019800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99" name="Slide Number Placeholder 3"/>
          <p:cNvSpPr txBox="1">
            <a:spLocks noGrp="1"/>
          </p:cNvSpPr>
          <p:nvPr/>
        </p:nvSpPr>
        <p:spPr bwMode="auto">
          <a:xfrm>
            <a:off x="7010400" y="63246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fld id="{07BE833D-3243-45CC-AAC6-EED9D3DBD334}" type="slidenum">
              <a:rPr lang="he-IL" altLang="he-IL" sz="1000">
                <a:latin typeface="Verdana" pitchFamily="34" charset="0"/>
              </a:rPr>
              <a:pPr algn="r" rtl="1" eaLnBrk="1" hangingPunct="1"/>
              <a:t>19</a:t>
            </a:fld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>
                <a:latin typeface="Verdana" pitchFamily="34" charset="0"/>
              </a:rPr>
              <a:t>© </a:t>
            </a:r>
            <a:r>
              <a:rPr lang="en-US" altLang="he-IL" sz="1000" dirty="0" err="1" smtClean="0">
                <a:latin typeface="Verdana" pitchFamily="34" charset="0"/>
              </a:rPr>
              <a:t>Sagie</a:t>
            </a:r>
            <a:r>
              <a:rPr lang="en-US" altLang="he-IL" sz="1000" dirty="0" smtClean="0">
                <a:latin typeface="Verdana" pitchFamily="34" charset="0"/>
              </a:rPr>
              <a:t> </a:t>
            </a:r>
            <a:r>
              <a:rPr lang="en-US" altLang="he-IL" sz="1000" dirty="0" err="1" smtClean="0">
                <a:latin typeface="Verdana" pitchFamily="34" charset="0"/>
              </a:rPr>
              <a:t>Feigin</a:t>
            </a:r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graphicFrame>
        <p:nvGraphicFramePr>
          <p:cNvPr id="12" name="Group 64"/>
          <p:cNvGraphicFramePr>
            <a:graphicFrameLocks/>
          </p:cNvGraphicFramePr>
          <p:nvPr/>
        </p:nvGraphicFramePr>
        <p:xfrm>
          <a:off x="6400800" y="3200400"/>
          <a:ext cx="2590800" cy="3292479"/>
        </p:xfrm>
        <a:graphic>
          <a:graphicData uri="http://schemas.openxmlformats.org/drawingml/2006/table">
            <a:tbl>
              <a:tblPr/>
              <a:tblGrid>
                <a:gridCol w="1209040"/>
                <a:gridCol w="777241"/>
                <a:gridCol w="604519"/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str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‘a’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‘b’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1003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‘e’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1004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‘f’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1005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1006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char*: pos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1007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1011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Group 64"/>
          <p:cNvGraphicFramePr>
            <a:graphicFrameLocks/>
          </p:cNvGraphicFramePr>
          <p:nvPr/>
        </p:nvGraphicFramePr>
        <p:xfrm>
          <a:off x="6400800" y="3200400"/>
          <a:ext cx="2590800" cy="3292479"/>
        </p:xfrm>
        <a:graphic>
          <a:graphicData uri="http://schemas.openxmlformats.org/drawingml/2006/table">
            <a:tbl>
              <a:tblPr/>
              <a:tblGrid>
                <a:gridCol w="1209040"/>
                <a:gridCol w="777241"/>
                <a:gridCol w="604519"/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str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‘a’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‘b’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1003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‘e’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1004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‘f’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1005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1006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char*: pos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1007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‘m’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1011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Group 64"/>
          <p:cNvGraphicFramePr>
            <a:graphicFrameLocks/>
          </p:cNvGraphicFramePr>
          <p:nvPr/>
        </p:nvGraphicFramePr>
        <p:xfrm>
          <a:off x="6400800" y="3200400"/>
          <a:ext cx="2590800" cy="3292479"/>
        </p:xfrm>
        <a:graphic>
          <a:graphicData uri="http://schemas.openxmlformats.org/drawingml/2006/table">
            <a:tbl>
              <a:tblPr/>
              <a:tblGrid>
                <a:gridCol w="1209040"/>
                <a:gridCol w="777241"/>
                <a:gridCol w="604519"/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str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‘a’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‘b’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1003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‘e’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1004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‘f’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1005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1006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char*: pos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NULL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1007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‘m’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1011</a:t>
                      </a:r>
                    </a:p>
                  </a:txBody>
                  <a:tcPr marT="45729" marB="457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הפונקציה </a:t>
            </a:r>
            <a:r>
              <a:rPr lang="en-US" altLang="he-IL" smtClean="0"/>
              <a:t>strstr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פונקציה המקבלת 2 מחרוזות, ובודקת האם המחרוזת השניה היא תת-מחרוזת בראשונה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he-IL" smtClean="0"/>
              <a:t>אם כן, מחזירה את כתובת תחילת הרצף בראשונה, אחרת מחזירה </a:t>
            </a:r>
            <a:r>
              <a:rPr lang="en-US" altLang="he-IL" smtClean="0"/>
              <a:t>NULL</a:t>
            </a:r>
            <a:endParaRPr lang="he-IL" altLang="he-IL" smtClean="0"/>
          </a:p>
          <a:p>
            <a:pPr eaLnBrk="1" hangingPunct="1">
              <a:lnSpc>
                <a:spcPct val="90000"/>
              </a:lnSpc>
            </a:pPr>
            <a:endParaRPr lang="he-IL" altLang="he-IL" smtClean="0"/>
          </a:p>
          <a:p>
            <a:pPr algn="ctr" rtl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mtClean="0"/>
              <a:t>char* strstr(const char* str1, </a:t>
            </a:r>
          </a:p>
          <a:p>
            <a:pPr algn="ctr" rtl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mtClean="0"/>
              <a:t>                  const char* str2)</a:t>
            </a:r>
            <a:endParaRPr lang="he-IL" altLang="he-IL" smtClean="0"/>
          </a:p>
        </p:txBody>
      </p:sp>
      <p:sp>
        <p:nvSpPr>
          <p:cNvPr id="24580" name="Slide Number Placeholder 3"/>
          <p:cNvSpPr txBox="1">
            <a:spLocks noGrp="1"/>
          </p:cNvSpPr>
          <p:nvPr/>
        </p:nvSpPr>
        <p:spPr bwMode="auto">
          <a:xfrm>
            <a:off x="7010400" y="63246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fld id="{FF6B9473-D36B-4247-A5D3-0F3DAA143624}" type="slidenum">
              <a:rPr lang="he-IL" altLang="he-IL" sz="1000">
                <a:latin typeface="Verdana" pitchFamily="34" charset="0"/>
              </a:rPr>
              <a:pPr algn="r" rtl="1" eaLnBrk="1" hangingPunct="1"/>
              <a:t>20</a:t>
            </a:fld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>
                <a:latin typeface="Verdana" pitchFamily="34" charset="0"/>
              </a:rPr>
              <a:t>© </a:t>
            </a:r>
            <a:r>
              <a:rPr lang="en-US" altLang="he-IL" sz="1000" dirty="0" err="1" smtClean="0">
                <a:latin typeface="Verdana" pitchFamily="34" charset="0"/>
              </a:rPr>
              <a:t>Sagie</a:t>
            </a:r>
            <a:r>
              <a:rPr lang="en-US" altLang="he-IL" sz="1000" dirty="0" smtClean="0">
                <a:latin typeface="Verdana" pitchFamily="34" charset="0"/>
              </a:rPr>
              <a:t> </a:t>
            </a:r>
            <a:r>
              <a:rPr lang="en-US" altLang="he-IL" sz="1000" dirty="0" err="1" smtClean="0">
                <a:latin typeface="Verdana" pitchFamily="34" charset="0"/>
              </a:rPr>
              <a:t>Feigin</a:t>
            </a:r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ChangeArrowheads="1"/>
          </p:cNvSpPr>
          <p:nvPr/>
        </p:nvSpPr>
        <p:spPr bwMode="auto">
          <a:xfrm>
            <a:off x="0" y="1295400"/>
            <a:ext cx="8839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33795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"/>
            <a:ext cx="8839200" cy="4530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void main()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{</a:t>
            </a:r>
            <a:endParaRPr lang="he-IL" altLang="he-IL" sz="1400" smtClean="0"/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	char str[] = "abcdef“, *pos, subStr[] = "cde“;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	</a:t>
            </a:r>
            <a:r>
              <a:rPr lang="he-IL" altLang="he-IL" sz="1600" smtClean="0"/>
              <a:t>	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	printf("|%s| appears at address %p\n\n", str, str);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	pos = strstr(str, subStr);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	if (pos != NULL)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	    printf("|%s| starts at address %p (index=%d)\n\n", 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                    subStr, pos, pos-str);</a:t>
            </a:r>
          </a:p>
          <a:p>
            <a:pPr algn="l" rtl="0">
              <a:buFont typeface="Wingdings" pitchFamily="2" charset="2"/>
              <a:buNone/>
            </a:pPr>
            <a:endParaRPr lang="he-IL" altLang="he-IL" sz="1600" smtClean="0"/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	strcpy(subStr, "cdd”);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	pos = strstr(str, subStr);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	if (pos == NULL)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	     printf("|%s| is not a sub-string\n", subStr);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}</a:t>
            </a:r>
            <a:endParaRPr lang="he-IL" altLang="he-IL" sz="1600" smtClean="0"/>
          </a:p>
        </p:txBody>
      </p:sp>
      <p:sp>
        <p:nvSpPr>
          <p:cNvPr id="25604" name="Title 1"/>
          <p:cNvSpPr>
            <a:spLocks noGrp="1"/>
          </p:cNvSpPr>
          <p:nvPr>
            <p:ph type="title" idx="4294967295"/>
          </p:nvPr>
        </p:nvSpPr>
        <p:spPr>
          <a:xfrm>
            <a:off x="762000" y="-457200"/>
            <a:ext cx="8229600" cy="1139825"/>
          </a:xfrm>
        </p:spPr>
        <p:txBody>
          <a:bodyPr/>
          <a:lstStyle/>
          <a:p>
            <a:pPr algn="r" eaLnBrk="1" hangingPunct="1"/>
            <a:r>
              <a:rPr lang="he-IL" altLang="he-IL" smtClean="0"/>
              <a:t>הפונקציה </a:t>
            </a:r>
            <a:r>
              <a:rPr lang="en-US" altLang="he-IL" smtClean="0"/>
              <a:t>strstr</a:t>
            </a:r>
            <a:r>
              <a:rPr lang="he-IL" altLang="he-IL" smtClean="0"/>
              <a:t>  -דוגמא</a:t>
            </a:r>
            <a:endParaRPr lang="en-US" altLang="he-IL" smtClean="0"/>
          </a:p>
        </p:txBody>
      </p:sp>
      <p:graphicFrame>
        <p:nvGraphicFramePr>
          <p:cNvPr id="7" name="Group 64"/>
          <p:cNvGraphicFramePr>
            <a:graphicFrameLocks/>
          </p:cNvGraphicFramePr>
          <p:nvPr/>
        </p:nvGraphicFramePr>
        <p:xfrm>
          <a:off x="6477000" y="2011363"/>
          <a:ext cx="2590800" cy="4389432"/>
        </p:xfrm>
        <a:graphic>
          <a:graphicData uri="http://schemas.openxmlformats.org/drawingml/2006/table">
            <a:tbl>
              <a:tblPr/>
              <a:tblGrid>
                <a:gridCol w="1209040"/>
                <a:gridCol w="777241"/>
                <a:gridCol w="604519"/>
              </a:tblGrid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str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‘a’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‘b’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‘e’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‘f’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1006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char*: pos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1007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sub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‘e’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658" name="Slide Number Placeholder 3"/>
          <p:cNvSpPr txBox="1">
            <a:spLocks noGrp="1"/>
          </p:cNvSpPr>
          <p:nvPr/>
        </p:nvSpPr>
        <p:spPr bwMode="auto">
          <a:xfrm>
            <a:off x="7010400" y="63246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fld id="{C06EB4AF-7AC2-43B0-B0D4-4E8A22E92A5B}" type="slidenum">
              <a:rPr lang="he-IL" altLang="he-IL" sz="1000">
                <a:latin typeface="Verdana" pitchFamily="34" charset="0"/>
              </a:rPr>
              <a:pPr algn="r" rtl="1" eaLnBrk="1" hangingPunct="1"/>
              <a:t>21</a:t>
            </a:fld>
            <a:endParaRPr lang="he-IL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>
                <a:latin typeface="Verdana" pitchFamily="34" charset="0"/>
              </a:rPr>
              <a:t>© </a:t>
            </a:r>
            <a:r>
              <a:rPr lang="en-US" altLang="he-IL" sz="1000" dirty="0" err="1" smtClean="0">
                <a:latin typeface="Verdana" pitchFamily="34" charset="0"/>
              </a:rPr>
              <a:t>Sagie</a:t>
            </a:r>
            <a:r>
              <a:rPr lang="en-US" altLang="he-IL" sz="1000" dirty="0" smtClean="0">
                <a:latin typeface="Verdana" pitchFamily="34" charset="0"/>
              </a:rPr>
              <a:t> </a:t>
            </a:r>
            <a:r>
              <a:rPr lang="en-US" altLang="he-IL" sz="1000" dirty="0" err="1" smtClean="0">
                <a:latin typeface="Verdana" pitchFamily="34" charset="0"/>
              </a:rPr>
              <a:t>Feigin</a:t>
            </a:r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graphicFrame>
        <p:nvGraphicFramePr>
          <p:cNvPr id="11" name="Group 64"/>
          <p:cNvGraphicFramePr>
            <a:graphicFrameLocks/>
          </p:cNvGraphicFramePr>
          <p:nvPr/>
        </p:nvGraphicFramePr>
        <p:xfrm>
          <a:off x="6477000" y="2011363"/>
          <a:ext cx="2590800" cy="4389432"/>
        </p:xfrm>
        <a:graphic>
          <a:graphicData uri="http://schemas.openxmlformats.org/drawingml/2006/table">
            <a:tbl>
              <a:tblPr/>
              <a:tblGrid>
                <a:gridCol w="1209040"/>
                <a:gridCol w="777241"/>
                <a:gridCol w="604519"/>
              </a:tblGrid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str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‘a’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‘b’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‘e’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‘f’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1006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char*: pos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1007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sub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‘e’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Group 64"/>
          <p:cNvGraphicFramePr>
            <a:graphicFrameLocks/>
          </p:cNvGraphicFramePr>
          <p:nvPr/>
        </p:nvGraphicFramePr>
        <p:xfrm>
          <a:off x="6477000" y="2011363"/>
          <a:ext cx="2590800" cy="4389432"/>
        </p:xfrm>
        <a:graphic>
          <a:graphicData uri="http://schemas.openxmlformats.org/drawingml/2006/table">
            <a:tbl>
              <a:tblPr/>
              <a:tblGrid>
                <a:gridCol w="1209040"/>
                <a:gridCol w="777241"/>
                <a:gridCol w="604519"/>
              </a:tblGrid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str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‘a’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‘b’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‘e’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‘f’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1006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char*: pos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1007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sub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Group 64"/>
          <p:cNvGraphicFramePr>
            <a:graphicFrameLocks/>
          </p:cNvGraphicFramePr>
          <p:nvPr/>
        </p:nvGraphicFramePr>
        <p:xfrm>
          <a:off x="6477000" y="2011363"/>
          <a:ext cx="2590800" cy="4389432"/>
        </p:xfrm>
        <a:graphic>
          <a:graphicData uri="http://schemas.openxmlformats.org/drawingml/2006/table">
            <a:tbl>
              <a:tblPr/>
              <a:tblGrid>
                <a:gridCol w="1209040"/>
                <a:gridCol w="777241"/>
                <a:gridCol w="604519"/>
              </a:tblGrid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str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‘a’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‘b’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‘e’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‘f’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1006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char*: pos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NULL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1007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char[]: sub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‘c’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‘d’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charset="0"/>
                        </a:rPr>
                        <a:t>1014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5818" name="Picture 2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5257800"/>
            <a:ext cx="59959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העברת מערך לפונקציה</a:t>
            </a:r>
            <a:endParaRPr lang="en-US" altLang="he-IL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he-IL" dirty="0" smtClean="0"/>
              <a:t>ראינו שבעזרת כתובת תחילת המערך (שם המערך)</a:t>
            </a:r>
            <a:r>
              <a:rPr lang="en-US" altLang="he-IL" dirty="0" smtClean="0"/>
              <a:t> </a:t>
            </a:r>
            <a:r>
              <a:rPr lang="he-IL" altLang="he-IL" dirty="0" smtClean="0"/>
              <a:t>ניתן לגשת לכל איברי המערך.</a:t>
            </a:r>
          </a:p>
          <a:p>
            <a:r>
              <a:rPr lang="he-IL" altLang="he-IL" dirty="0" smtClean="0"/>
              <a:t>ראינו כאשר מעבירים מערך לפונקציה, הפונקציה יכולה לשנות את המערך המקורי.</a:t>
            </a:r>
          </a:p>
          <a:p>
            <a:r>
              <a:rPr lang="he-IL" altLang="he-IL" b="1" dirty="0" smtClean="0"/>
              <a:t>הסיבה היא שלא מועבר עותק של המערך לפונקציה, אלא מועברת כתובת ההתחלה שלו (שם המערך).</a:t>
            </a:r>
          </a:p>
          <a:p>
            <a:r>
              <a:rPr lang="he-IL" altLang="he-IL" dirty="0" smtClean="0"/>
              <a:t>כאשר מעבירים מערך לפונקציה יש להעביר כפרמטר גם את גודלו.</a:t>
            </a:r>
            <a:endParaRPr lang="en-US" altLang="he-IL" dirty="0" smtClean="0">
              <a:solidFill>
                <a:srgbClr val="FF0000"/>
              </a:solidFill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CC15A2E8-4768-4F02-958A-5E35B9FA6612}" type="slidenum">
              <a:rPr lang="he-IL" altLang="he-IL" smtClean="0">
                <a:latin typeface="Verdana" pitchFamily="34" charset="0"/>
              </a:rPr>
              <a:pPr algn="r" rtl="1" eaLnBrk="1" hangingPunct="1"/>
              <a:t>22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01" name="Line 117"/>
          <p:cNvSpPr>
            <a:spLocks noChangeShapeType="1"/>
          </p:cNvSpPr>
          <p:nvPr/>
        </p:nvSpPr>
        <p:spPr bwMode="auto">
          <a:xfrm flipV="1">
            <a:off x="3048000" y="1828800"/>
            <a:ext cx="3581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העברת מערך לפונקציה</a:t>
            </a:r>
            <a:endParaRPr lang="en-US" altLang="he-IL" smtClean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he-IL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he-IL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printArray(int arr[], int size)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printf("In func: The array starts at %p\n", arr);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 arr[] = {4, 2, 8};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printf("In main: The array starts at %p\n", arr);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printArray(arr, sizeof(arr)/sizeof(arr[0]));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  <a:endParaRPr lang="en-US" altLang="he-IL" sz="2000" dirty="0" smtClean="0"/>
          </a:p>
        </p:txBody>
      </p:sp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715000"/>
            <a:ext cx="4267200" cy="96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7623" name="Group 39"/>
          <p:cNvGraphicFramePr>
            <a:graphicFrameLocks noGrp="1"/>
          </p:cNvGraphicFramePr>
          <p:nvPr>
            <p:ph sz="half" idx="2"/>
          </p:nvPr>
        </p:nvGraphicFramePr>
        <p:xfrm>
          <a:off x="6705600" y="5381625"/>
          <a:ext cx="2209800" cy="1097202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624" name="Text Box 40"/>
          <p:cNvSpPr txBox="1">
            <a:spLocks noChangeArrowheads="1"/>
          </p:cNvSpPr>
          <p:nvPr/>
        </p:nvSpPr>
        <p:spPr bwMode="auto">
          <a:xfrm>
            <a:off x="6096000" y="64770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67645" name="Group 61"/>
          <p:cNvGraphicFramePr>
            <a:graphicFrameLocks noGrp="1"/>
          </p:cNvGraphicFramePr>
          <p:nvPr/>
        </p:nvGraphicFramePr>
        <p:xfrm>
          <a:off x="6553200" y="1600200"/>
          <a:ext cx="2362200" cy="731838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642" name="Text Box 58"/>
          <p:cNvSpPr txBox="1">
            <a:spLocks noChangeArrowheads="1"/>
          </p:cNvSpPr>
          <p:nvPr/>
        </p:nvSpPr>
        <p:spPr bwMode="auto">
          <a:xfrm>
            <a:off x="6019800" y="22860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printArray</a:t>
            </a:r>
          </a:p>
        </p:txBody>
      </p:sp>
      <p:graphicFrame>
        <p:nvGraphicFramePr>
          <p:cNvPr id="67683" name="Group 99"/>
          <p:cNvGraphicFramePr>
            <a:graphicFrameLocks noGrp="1"/>
          </p:cNvGraphicFramePr>
          <p:nvPr/>
        </p:nvGraphicFramePr>
        <p:xfrm>
          <a:off x="6705600" y="5381625"/>
          <a:ext cx="2209800" cy="1097202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702" name="Rectangle 118"/>
          <p:cNvSpPr>
            <a:spLocks noChangeArrowheads="1"/>
          </p:cNvSpPr>
          <p:nvPr/>
        </p:nvSpPr>
        <p:spPr bwMode="auto">
          <a:xfrm>
            <a:off x="2438400" y="3352800"/>
            <a:ext cx="66294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כאשר מעבירים מערך כפרמטר לפונקציה,</a:t>
            </a:r>
            <a:r>
              <a:rPr lang="en-US" altLang="he-IL" b="1">
                <a:solidFill>
                  <a:schemeClr val="bg1"/>
                </a:solidFill>
              </a:rPr>
              <a:t> </a:t>
            </a:r>
            <a:r>
              <a:rPr lang="he-IL" altLang="he-IL" b="1">
                <a:solidFill>
                  <a:schemeClr val="bg1"/>
                </a:solidFill>
              </a:rPr>
              <a:t>למעשה מעבירים 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את כתובת ההתחלה שלו. לכן ניתן לכתוב בהצהרה שהפרמטר 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הוא   </a:t>
            </a:r>
            <a:r>
              <a:rPr lang="en-US" altLang="he-IL" b="1" i="1">
                <a:solidFill>
                  <a:schemeClr val="bg1"/>
                </a:solidFill>
              </a:rPr>
              <a:t>int arr[]</a:t>
            </a:r>
            <a:r>
              <a:rPr lang="he-IL" altLang="he-IL" b="1" i="1">
                <a:solidFill>
                  <a:schemeClr val="bg1"/>
                </a:solidFill>
              </a:rPr>
              <a:t>   </a:t>
            </a:r>
            <a:r>
              <a:rPr lang="he-IL" altLang="he-IL" b="1">
                <a:solidFill>
                  <a:schemeClr val="bg1"/>
                </a:solidFill>
              </a:rPr>
              <a:t>או   </a:t>
            </a:r>
            <a:r>
              <a:rPr lang="en-US" altLang="he-IL" b="1">
                <a:solidFill>
                  <a:schemeClr val="bg1"/>
                </a:solidFill>
              </a:rPr>
              <a:t> </a:t>
            </a:r>
            <a:r>
              <a:rPr lang="en-US" altLang="he-IL" b="1" i="1">
                <a:solidFill>
                  <a:schemeClr val="bg1"/>
                </a:solidFill>
              </a:rPr>
              <a:t>int* arr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בכל צורת כתיבה, ההתייחסות למערך בתוך הפונקציה היא כאל מצביע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67703" name="Text Box 119"/>
          <p:cNvSpPr txBox="1">
            <a:spLocks noChangeArrowheads="1"/>
          </p:cNvSpPr>
          <p:nvPr/>
        </p:nvSpPr>
        <p:spPr bwMode="auto">
          <a:xfrm>
            <a:off x="1676400" y="1981200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 sz="2000" b="1" u="sng">
                <a:solidFill>
                  <a:srgbClr val="FF0000"/>
                </a:solidFill>
                <a:latin typeface="Verdana" pitchFamily="34" charset="0"/>
              </a:rPr>
              <a:t>או: </a:t>
            </a:r>
            <a:r>
              <a:rPr lang="en-US" altLang="he-IL" sz="2000" b="1" u="sng">
                <a:solidFill>
                  <a:srgbClr val="FF0000"/>
                </a:solidFill>
                <a:latin typeface="Verdana" pitchFamily="34" charset="0"/>
              </a:rPr>
              <a:t>int* arr</a:t>
            </a:r>
          </a:p>
        </p:txBody>
      </p:sp>
      <p:sp>
        <p:nvSpPr>
          <p:cNvPr id="27705" name="Slide Number Placeholder 3"/>
          <p:cNvSpPr txBox="1">
            <a:spLocks/>
          </p:cNvSpPr>
          <p:nvPr/>
        </p:nvSpPr>
        <p:spPr bwMode="auto">
          <a:xfrm>
            <a:off x="228600" y="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rtl="1" eaLnBrk="1" hangingPunct="1"/>
            <a:fld id="{CDB7EB4C-1131-4A2E-81D3-917815FD4A90}" type="slidenum">
              <a:rPr lang="he-IL" altLang="he-IL" sz="1000">
                <a:latin typeface="Verdana" pitchFamily="34" charset="0"/>
              </a:rPr>
              <a:pPr rtl="1" eaLnBrk="1" hangingPunct="1"/>
              <a:t>23</a:t>
            </a:fld>
            <a:endParaRPr lang="he-IL" altLang="he-IL" sz="1000" dirty="0">
              <a:latin typeface="Verdana" pitchFamily="34" charset="0"/>
            </a:endParaRPr>
          </a:p>
          <a:p>
            <a:pPr rtl="1" eaLnBrk="1" hangingPunct="1"/>
            <a:r>
              <a:rPr lang="en-US" altLang="he-IL" sz="1000" dirty="0">
                <a:latin typeface="Verdana" pitchFamily="34" charset="0"/>
              </a:rPr>
              <a:t>© </a:t>
            </a:r>
            <a:r>
              <a:rPr lang="en-US" altLang="he-IL" sz="1000" dirty="0" err="1" smtClean="0">
                <a:latin typeface="Verdana" pitchFamily="34" charset="0"/>
              </a:rPr>
              <a:t>Sagie</a:t>
            </a:r>
            <a:r>
              <a:rPr lang="en-US" altLang="he-IL" sz="1000" dirty="0" smtClean="0">
                <a:latin typeface="Verdana" pitchFamily="34" charset="0"/>
              </a:rPr>
              <a:t> </a:t>
            </a:r>
            <a:r>
              <a:rPr lang="en-US" altLang="he-IL" sz="1000" dirty="0" err="1" smtClean="0">
                <a:latin typeface="Verdana" pitchFamily="34" charset="0"/>
              </a:rPr>
              <a:t>Feigin</a:t>
            </a:r>
            <a:endParaRPr lang="en-US" altLang="he-IL" sz="1000" dirty="0">
              <a:latin typeface="Verdana" pitchFamily="34" charset="0"/>
            </a:endParaRPr>
          </a:p>
          <a:p>
            <a:pPr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דוגמא: פונקציה הסוכמת איברי מערך (1)</a:t>
            </a:r>
            <a:endParaRPr lang="en-US" altLang="he-IL" sz="4000" smtClean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9525000" cy="4800600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int sumArray(int* arr, int size)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 i;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 sum = 0;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for (</a:t>
            </a:r>
            <a:r>
              <a:rPr lang="en-US" altLang="he-IL" sz="1800" smtClean="0"/>
              <a:t>        </a:t>
            </a:r>
            <a:r>
              <a:rPr lang="en-US" altLang="he-IL" sz="1800" noProof="1" smtClean="0"/>
              <a:t>; </a:t>
            </a:r>
            <a:r>
              <a:rPr lang="en-US" altLang="he-IL" sz="1800" smtClean="0"/>
              <a:t>            </a:t>
            </a:r>
            <a:r>
              <a:rPr lang="en-US" altLang="he-IL" sz="1800" noProof="1" smtClean="0"/>
              <a:t> ; </a:t>
            </a:r>
            <a:r>
              <a:rPr lang="en-US" altLang="he-IL" sz="1800" smtClean="0"/>
              <a:t>      )</a:t>
            </a:r>
            <a:endParaRPr lang="en-US" altLang="he-IL" sz="18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	sum += arr[i];</a:t>
            </a:r>
            <a:r>
              <a:rPr lang="en-US" altLang="he-IL" sz="1800" smtClean="0"/>
              <a:t> </a:t>
            </a:r>
            <a:endParaRPr lang="en-US" altLang="he-IL" sz="18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return sum;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}</a:t>
            </a:r>
            <a:endParaRPr lang="en-US" altLang="he-IL" sz="18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18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18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 arr[] = {4,2,8};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    printf("The sum is %d\n“,                                   </a:t>
            </a:r>
            <a:r>
              <a:rPr lang="he-IL" altLang="he-IL" sz="1800" noProof="1" smtClean="0"/>
              <a:t>                            ;                         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sz="1800" noProof="1" smtClean="0"/>
              <a:t>}</a:t>
            </a:r>
            <a:endParaRPr lang="en-US" altLang="he-IL" sz="1800" smtClean="0"/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3124200" y="3138488"/>
            <a:ext cx="3429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>
                <a:solidFill>
                  <a:srgbClr val="009900"/>
                </a:solidFill>
              </a:rPr>
              <a:t>// same as:   sum += *(arr+i)</a:t>
            </a:r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5943600" y="51196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91250" name="Group 114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1155" name="Text Box 19"/>
          <p:cNvSpPr txBox="1">
            <a:spLocks noChangeArrowheads="1"/>
          </p:cNvSpPr>
          <p:nvPr/>
        </p:nvSpPr>
        <p:spPr bwMode="auto">
          <a:xfrm>
            <a:off x="6019800" y="30622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printArray</a:t>
            </a:r>
          </a:p>
        </p:txBody>
      </p:sp>
      <p:graphicFrame>
        <p:nvGraphicFramePr>
          <p:cNvPr id="91156" name="Group 20"/>
          <p:cNvGraphicFramePr>
            <a:graphicFrameLocks noGrp="1"/>
          </p:cNvGraphicFramePr>
          <p:nvPr/>
        </p:nvGraphicFramePr>
        <p:xfrm>
          <a:off x="6629400" y="4114800"/>
          <a:ext cx="2209800" cy="1097202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1227" name="Group 91"/>
          <p:cNvGraphicFramePr>
            <a:graphicFrameLocks noGrp="1"/>
          </p:cNvGraphicFramePr>
          <p:nvPr/>
        </p:nvGraphicFramePr>
        <p:xfrm>
          <a:off x="6629400" y="4114800"/>
          <a:ext cx="2209800" cy="1097202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1228" name="Text Box 92"/>
          <p:cNvSpPr txBox="1">
            <a:spLocks noChangeArrowheads="1"/>
          </p:cNvSpPr>
          <p:nvPr/>
        </p:nvSpPr>
        <p:spPr bwMode="auto">
          <a:xfrm>
            <a:off x="3657600" y="5486400"/>
            <a:ext cx="571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noProof="1">
                <a:latin typeface="Verdana" pitchFamily="34" charset="0"/>
              </a:rPr>
              <a:t>sumArray(arr, sizeof(arr)/sizeof(arr[0]))</a:t>
            </a:r>
            <a:endParaRPr lang="en-US" altLang="he-IL">
              <a:latin typeface="Verdana" pitchFamily="34" charset="0"/>
            </a:endParaRPr>
          </a:p>
        </p:txBody>
      </p:sp>
      <p:sp>
        <p:nvSpPr>
          <p:cNvPr id="91317" name="Text Box 181"/>
          <p:cNvSpPr txBox="1">
            <a:spLocks noChangeArrowheads="1"/>
          </p:cNvSpPr>
          <p:nvPr/>
        </p:nvSpPr>
        <p:spPr bwMode="auto">
          <a:xfrm>
            <a:off x="1066800" y="2757488"/>
            <a:ext cx="9144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+mn-lt"/>
              </a:rPr>
              <a:t>i=0</a:t>
            </a:r>
          </a:p>
        </p:txBody>
      </p:sp>
      <p:sp>
        <p:nvSpPr>
          <p:cNvPr id="91318" name="Text Box 182"/>
          <p:cNvSpPr txBox="1">
            <a:spLocks noChangeArrowheads="1"/>
          </p:cNvSpPr>
          <p:nvPr/>
        </p:nvSpPr>
        <p:spPr bwMode="auto">
          <a:xfrm>
            <a:off x="1828800" y="2743200"/>
            <a:ext cx="1219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+mn-lt"/>
              </a:rPr>
              <a:t>i &lt; size</a:t>
            </a:r>
          </a:p>
        </p:txBody>
      </p:sp>
      <p:sp>
        <p:nvSpPr>
          <p:cNvPr id="91319" name="Text Box 183"/>
          <p:cNvSpPr txBox="1">
            <a:spLocks noChangeArrowheads="1"/>
          </p:cNvSpPr>
          <p:nvPr/>
        </p:nvSpPr>
        <p:spPr bwMode="auto">
          <a:xfrm>
            <a:off x="3048000" y="2743200"/>
            <a:ext cx="91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+mn-lt"/>
              </a:rPr>
              <a:t>i++</a:t>
            </a:r>
          </a:p>
        </p:txBody>
      </p:sp>
      <p:graphicFrame>
        <p:nvGraphicFramePr>
          <p:cNvPr id="91295" name="Group 159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1273" name="Group 137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1341" name="Group 205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1320" name="Group 184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1425" name="Group 289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91447" name="Picture 3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038600"/>
            <a:ext cx="2590800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1362" name="Group 226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1404" name="Group 268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1470" name="Group 334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90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DF694849-A616-467A-9861-E68FA030AD6D}" type="slidenum">
              <a:rPr lang="he-IL" altLang="he-IL" smtClean="0">
                <a:latin typeface="Verdana" pitchFamily="34" charset="0"/>
              </a:rPr>
              <a:pPr algn="r" rtl="1" eaLnBrk="1" hangingPunct="1"/>
              <a:t>24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דוגמא: פונקציה הסוכמת איברי מערך (2)</a:t>
            </a:r>
            <a:endParaRPr lang="en-US" altLang="he-IL" sz="400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9448800" cy="4800600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int sumArray(int* arr, int size)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int* p;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 sum = 0;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for (</a:t>
            </a:r>
            <a:r>
              <a:rPr lang="en-US" altLang="he-IL" sz="2000" smtClean="0"/>
              <a:t>          </a:t>
            </a:r>
            <a:r>
              <a:rPr lang="en-US" altLang="he-IL" sz="2000" noProof="1" smtClean="0"/>
              <a:t>;</a:t>
            </a:r>
            <a:r>
              <a:rPr lang="en-US" altLang="he-IL" sz="2000" smtClean="0"/>
              <a:t>                   </a:t>
            </a:r>
            <a:r>
              <a:rPr lang="en-US" altLang="he-IL" sz="2000" noProof="1" smtClean="0"/>
              <a:t>; </a:t>
            </a:r>
            <a:r>
              <a:rPr lang="en-US" altLang="he-IL" sz="2000" smtClean="0"/>
              <a:t>       </a:t>
            </a:r>
            <a:r>
              <a:rPr lang="en-US" altLang="he-IL" sz="2000" noProof="1" smtClean="0"/>
              <a:t>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	sum += *p;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return sum;</a:t>
            </a:r>
            <a:endParaRPr lang="en-US" altLang="he-IL" sz="20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  <a:endParaRPr lang="en-US" altLang="he-IL" sz="20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 arr[] = {4,2,8};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printf("The sum is %d\n",</a:t>
            </a:r>
            <a:r>
              <a:rPr lang="en-US" altLang="he-IL" sz="2000" smtClean="0"/>
              <a:t>                                                      </a:t>
            </a:r>
            <a:r>
              <a:rPr lang="en-US" altLang="he-IL" sz="1800" smtClean="0"/>
              <a:t>);</a:t>
            </a:r>
            <a:r>
              <a:rPr lang="he-IL" altLang="he-IL" sz="2400" noProof="1" smtClean="0"/>
              <a:t> 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sz="2000" noProof="1" smtClean="0"/>
              <a:t>}</a:t>
            </a:r>
            <a:endParaRPr lang="en-US" altLang="he-IL" sz="2000" smtClean="0"/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5943600" y="51196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97286" name="Group 6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307" name="Text Box 27"/>
          <p:cNvSpPr txBox="1">
            <a:spLocks noChangeArrowheads="1"/>
          </p:cNvSpPr>
          <p:nvPr/>
        </p:nvSpPr>
        <p:spPr bwMode="auto">
          <a:xfrm>
            <a:off x="6019800" y="30622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printArray</a:t>
            </a:r>
          </a:p>
        </p:txBody>
      </p:sp>
      <p:graphicFrame>
        <p:nvGraphicFramePr>
          <p:cNvPr id="97308" name="Group 28"/>
          <p:cNvGraphicFramePr>
            <a:graphicFrameLocks noGrp="1"/>
          </p:cNvGraphicFramePr>
          <p:nvPr/>
        </p:nvGraphicFramePr>
        <p:xfrm>
          <a:off x="6629400" y="4114800"/>
          <a:ext cx="2209800" cy="1097202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325" name="Group 45"/>
          <p:cNvGraphicFramePr>
            <a:graphicFrameLocks noGrp="1"/>
          </p:cNvGraphicFramePr>
          <p:nvPr/>
        </p:nvGraphicFramePr>
        <p:xfrm>
          <a:off x="6629400" y="4114800"/>
          <a:ext cx="2209800" cy="1097202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342" name="Text Box 62"/>
          <p:cNvSpPr txBox="1">
            <a:spLocks noChangeArrowheads="1"/>
          </p:cNvSpPr>
          <p:nvPr/>
        </p:nvSpPr>
        <p:spPr bwMode="auto">
          <a:xfrm>
            <a:off x="3886200" y="56530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noProof="1">
                <a:latin typeface="Verdana" pitchFamily="34" charset="0"/>
              </a:rPr>
              <a:t>sumArray(arr, sizeof(arr)/sizeof(arr[0]))</a:t>
            </a:r>
            <a:endParaRPr lang="en-US" altLang="he-IL">
              <a:latin typeface="Verdana" pitchFamily="34" charset="0"/>
            </a:endParaRPr>
          </a:p>
        </p:txBody>
      </p:sp>
      <p:sp>
        <p:nvSpPr>
          <p:cNvPr id="97343" name="Text Box 63"/>
          <p:cNvSpPr txBox="1">
            <a:spLocks noChangeArrowheads="1"/>
          </p:cNvSpPr>
          <p:nvPr/>
        </p:nvSpPr>
        <p:spPr bwMode="auto">
          <a:xfrm>
            <a:off x="1143000" y="2909888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2000"/>
              <a:t>p=arr</a:t>
            </a:r>
          </a:p>
        </p:txBody>
      </p:sp>
      <p:sp>
        <p:nvSpPr>
          <p:cNvPr id="97344" name="Text Box 64"/>
          <p:cNvSpPr txBox="1">
            <a:spLocks noChangeArrowheads="1"/>
          </p:cNvSpPr>
          <p:nvPr/>
        </p:nvSpPr>
        <p:spPr bwMode="auto">
          <a:xfrm>
            <a:off x="2209800" y="2909888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2000" noProof="1"/>
              <a:t>p &lt; arr+size</a:t>
            </a:r>
            <a:endParaRPr lang="en-US" altLang="he-IL" sz="2000"/>
          </a:p>
        </p:txBody>
      </p:sp>
      <p:sp>
        <p:nvSpPr>
          <p:cNvPr id="97345" name="Text Box 65"/>
          <p:cNvSpPr txBox="1">
            <a:spLocks noChangeArrowheads="1"/>
          </p:cNvSpPr>
          <p:nvPr/>
        </p:nvSpPr>
        <p:spPr bwMode="auto">
          <a:xfrm>
            <a:off x="4114800" y="2895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2000"/>
              <a:t>p++</a:t>
            </a:r>
          </a:p>
        </p:txBody>
      </p:sp>
      <p:graphicFrame>
        <p:nvGraphicFramePr>
          <p:cNvPr id="97346" name="Group 66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367" name="Group 87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388" name="Group 108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409" name="Group 129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430" name="Group 150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97451" name="Picture 1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038600"/>
            <a:ext cx="2590800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7452" name="Group 172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473" name="Group 193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494" name="Group 214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515" name="AutoShape 235"/>
          <p:cNvSpPr>
            <a:spLocks/>
          </p:cNvSpPr>
          <p:nvPr/>
        </p:nvSpPr>
        <p:spPr bwMode="auto">
          <a:xfrm rot="-5400000">
            <a:off x="3048000" y="2438400"/>
            <a:ext cx="266700" cy="876300"/>
          </a:xfrm>
          <a:prstGeom prst="rightBrace">
            <a:avLst>
              <a:gd name="adj1" fmla="val 273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97516" name="Text Box 236"/>
          <p:cNvSpPr txBox="1">
            <a:spLocks noChangeArrowheads="1"/>
          </p:cNvSpPr>
          <p:nvPr/>
        </p:nvSpPr>
        <p:spPr bwMode="auto">
          <a:xfrm>
            <a:off x="2819400" y="2438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/>
              <a:t>1012</a:t>
            </a:r>
          </a:p>
        </p:txBody>
      </p:sp>
      <p:sp>
        <p:nvSpPr>
          <p:cNvPr id="2993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F537D7DC-2293-40C0-A9EE-4F2B172645C0}" type="slidenum">
              <a:rPr lang="he-IL" altLang="he-IL" smtClean="0">
                <a:latin typeface="Verdana" pitchFamily="34" charset="0"/>
              </a:rPr>
              <a:pPr algn="r" rtl="1" eaLnBrk="1" hangingPunct="1"/>
              <a:t>25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dirty="0" smtClean="0"/>
              <a:t>דוגמא: </a:t>
            </a:r>
            <a:r>
              <a:rPr lang="he-IL" altLang="he-IL" sz="4000" dirty="0" err="1" smtClean="0"/>
              <a:t>סכימת</a:t>
            </a:r>
            <a:r>
              <a:rPr lang="he-IL" altLang="he-IL" sz="4000" dirty="0" smtClean="0"/>
              <a:t> רק חלק מאיברי המערך</a:t>
            </a:r>
            <a:endParaRPr lang="en-US" altLang="he-IL" sz="4000" dirty="0" smtClean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839200" cy="4800600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int sumArray(int* arr, int size)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int* p;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 sum = 0;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for (</a:t>
            </a:r>
            <a:r>
              <a:rPr lang="en-US" altLang="he-IL" sz="2000" dirty="0" smtClean="0"/>
              <a:t>          </a:t>
            </a:r>
            <a:r>
              <a:rPr lang="en-US" altLang="he-IL" sz="2000" noProof="1" smtClean="0"/>
              <a:t>;</a:t>
            </a:r>
            <a:r>
              <a:rPr lang="en-US" altLang="he-IL" sz="2000" dirty="0" smtClean="0"/>
              <a:t>                   </a:t>
            </a:r>
            <a:r>
              <a:rPr lang="en-US" altLang="he-IL" sz="2000" noProof="1" smtClean="0"/>
              <a:t>; </a:t>
            </a:r>
            <a:r>
              <a:rPr lang="en-US" altLang="he-IL" sz="2000" dirty="0" smtClean="0"/>
              <a:t>       </a:t>
            </a:r>
            <a:r>
              <a:rPr lang="en-US" altLang="he-IL" sz="2000" noProof="1" smtClean="0"/>
              <a:t>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	sum += *p;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return sum;</a:t>
            </a:r>
            <a:endParaRPr lang="en-US" altLang="he-IL" sz="20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  <a:endParaRPr lang="en-US" altLang="he-IL" sz="20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20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 arr[] = {4,2,8};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printf("The sum is %d\n",</a:t>
            </a:r>
            <a:endParaRPr lang="en-US" altLang="he-IL" sz="20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2000" dirty="0" smtClean="0"/>
              <a:t>                                                                                          )</a:t>
            </a:r>
            <a:r>
              <a:rPr lang="en-US" altLang="he-IL" sz="2000" noProof="1" smtClean="0"/>
              <a:t>;</a:t>
            </a:r>
            <a:endParaRPr lang="he-IL" altLang="he-IL" sz="20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he-IL" altLang="he-IL" sz="2000" noProof="1" smtClean="0"/>
              <a:t>{ </a:t>
            </a:r>
            <a:endParaRPr lang="en-US" altLang="he-IL" sz="2000" dirty="0" smtClean="0"/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5943600" y="51196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01381" name="Group 5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1402" name="Text Box 26"/>
          <p:cNvSpPr txBox="1">
            <a:spLocks noChangeArrowheads="1"/>
          </p:cNvSpPr>
          <p:nvPr/>
        </p:nvSpPr>
        <p:spPr bwMode="auto">
          <a:xfrm>
            <a:off x="6019800" y="30622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printArray</a:t>
            </a:r>
          </a:p>
        </p:txBody>
      </p:sp>
      <p:graphicFrame>
        <p:nvGraphicFramePr>
          <p:cNvPr id="101403" name="Group 27"/>
          <p:cNvGraphicFramePr>
            <a:graphicFrameLocks noGrp="1"/>
          </p:cNvGraphicFramePr>
          <p:nvPr/>
        </p:nvGraphicFramePr>
        <p:xfrm>
          <a:off x="6629400" y="4114800"/>
          <a:ext cx="2209800" cy="1097202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420" name="Group 44"/>
          <p:cNvGraphicFramePr>
            <a:graphicFrameLocks noGrp="1"/>
          </p:cNvGraphicFramePr>
          <p:nvPr/>
        </p:nvGraphicFramePr>
        <p:xfrm>
          <a:off x="6629400" y="4114800"/>
          <a:ext cx="2209800" cy="1097202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1437" name="Text Box 61"/>
          <p:cNvSpPr txBox="1">
            <a:spLocks noChangeArrowheads="1"/>
          </p:cNvSpPr>
          <p:nvPr/>
        </p:nvSpPr>
        <p:spPr bwMode="auto">
          <a:xfrm>
            <a:off x="2362200" y="5486400"/>
            <a:ext cx="685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noProof="1">
                <a:latin typeface="Verdana" pitchFamily="34" charset="0"/>
              </a:rPr>
              <a:t>sumArray(arr</a:t>
            </a:r>
            <a:r>
              <a:rPr lang="en-US" altLang="he-IL">
                <a:solidFill>
                  <a:srgbClr val="FF0000"/>
                </a:solidFill>
                <a:latin typeface="Verdana" pitchFamily="34" charset="0"/>
              </a:rPr>
              <a:t>+1</a:t>
            </a:r>
            <a:r>
              <a:rPr lang="en-US" altLang="he-IL" noProof="1">
                <a:latin typeface="Verdana" pitchFamily="34" charset="0"/>
              </a:rPr>
              <a:t>, sizeof(arr)/sizeof(arr[0])</a:t>
            </a:r>
            <a:r>
              <a:rPr lang="en-US" altLang="he-IL">
                <a:solidFill>
                  <a:srgbClr val="FF0000"/>
                </a:solidFill>
                <a:latin typeface="Verdana" pitchFamily="34" charset="0"/>
              </a:rPr>
              <a:t>-1</a:t>
            </a:r>
            <a:r>
              <a:rPr lang="en-US" altLang="he-IL" noProof="1">
                <a:latin typeface="Verdana" pitchFamily="34" charset="0"/>
              </a:rPr>
              <a:t>)</a:t>
            </a:r>
            <a:endParaRPr lang="en-US" altLang="he-IL">
              <a:latin typeface="Verdana" pitchFamily="34" charset="0"/>
            </a:endParaRPr>
          </a:p>
        </p:txBody>
      </p:sp>
      <p:sp>
        <p:nvSpPr>
          <p:cNvPr id="101438" name="Text Box 62"/>
          <p:cNvSpPr txBox="1">
            <a:spLocks noChangeArrowheads="1"/>
          </p:cNvSpPr>
          <p:nvPr/>
        </p:nvSpPr>
        <p:spPr bwMode="auto">
          <a:xfrm>
            <a:off x="1143000" y="2803525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2000"/>
              <a:t>p=arr</a:t>
            </a:r>
          </a:p>
        </p:txBody>
      </p:sp>
      <p:sp>
        <p:nvSpPr>
          <p:cNvPr id="101439" name="Text Box 63"/>
          <p:cNvSpPr txBox="1">
            <a:spLocks noChangeArrowheads="1"/>
          </p:cNvSpPr>
          <p:nvPr/>
        </p:nvSpPr>
        <p:spPr bwMode="auto">
          <a:xfrm>
            <a:off x="2209800" y="2803525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2000" noProof="1"/>
              <a:t>p &lt; arr+size</a:t>
            </a:r>
            <a:endParaRPr lang="en-US" altLang="he-IL" sz="2000"/>
          </a:p>
        </p:txBody>
      </p:sp>
      <p:sp>
        <p:nvSpPr>
          <p:cNvPr id="101440" name="Text Box 64"/>
          <p:cNvSpPr txBox="1">
            <a:spLocks noChangeArrowheads="1"/>
          </p:cNvSpPr>
          <p:nvPr/>
        </p:nvSpPr>
        <p:spPr bwMode="auto">
          <a:xfrm>
            <a:off x="4114800" y="2789238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2000"/>
              <a:t>p++</a:t>
            </a:r>
          </a:p>
        </p:txBody>
      </p:sp>
      <p:graphicFrame>
        <p:nvGraphicFramePr>
          <p:cNvPr id="101441" name="Group 65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462" name="Group 86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483" name="Group 107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504" name="Group 128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525" name="Group 149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1610" name="AutoShape 234"/>
          <p:cNvSpPr>
            <a:spLocks/>
          </p:cNvSpPr>
          <p:nvPr/>
        </p:nvSpPr>
        <p:spPr bwMode="auto">
          <a:xfrm rot="-5400000">
            <a:off x="3048000" y="2324100"/>
            <a:ext cx="266700" cy="876300"/>
          </a:xfrm>
          <a:prstGeom prst="rightBrace">
            <a:avLst>
              <a:gd name="adj1" fmla="val 273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01611" name="Text Box 235"/>
          <p:cNvSpPr txBox="1">
            <a:spLocks noChangeArrowheads="1"/>
          </p:cNvSpPr>
          <p:nvPr/>
        </p:nvSpPr>
        <p:spPr bwMode="auto">
          <a:xfrm>
            <a:off x="2819400" y="233203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/>
              <a:t>1012</a:t>
            </a:r>
          </a:p>
        </p:txBody>
      </p:sp>
      <p:graphicFrame>
        <p:nvGraphicFramePr>
          <p:cNvPr id="101547" name="Group 171"/>
          <p:cNvGraphicFramePr>
            <a:graphicFrameLocks noGrp="1"/>
          </p:cNvGraphicFramePr>
          <p:nvPr/>
        </p:nvGraphicFramePr>
        <p:xfrm>
          <a:off x="6553200" y="16002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sum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91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2A5F99E4-00F3-43BF-A9C5-7E6F3AE248B0}" type="slidenum">
              <a:rPr lang="he-IL" altLang="he-IL" smtClean="0">
                <a:latin typeface="Verdana" pitchFamily="34" charset="0"/>
              </a:rPr>
              <a:pPr algn="r" rtl="1" eaLnBrk="1" hangingPunct="1"/>
              <a:t>26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dirty="0" smtClean="0"/>
              <a:t>דוגמא: פונקציה המגדילה את כל איברי המערך ב- 1</a:t>
            </a:r>
            <a:endParaRPr lang="en-US" altLang="he-IL" sz="4000" dirty="0" smtClean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839200" cy="4800600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incArray(int* arr, int size)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int* p;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for (</a:t>
            </a:r>
            <a:r>
              <a:rPr lang="en-US" altLang="he-IL" sz="1600" dirty="0" smtClean="0"/>
              <a:t>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     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</a:t>
            </a:r>
            <a:r>
              <a:rPr lang="en-US" altLang="he-IL" sz="1600" noProof="1" smtClean="0"/>
              <a:t>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    (*p)++;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printArray(int* arr, int size)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int* p;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for (</a:t>
            </a:r>
            <a:r>
              <a:rPr lang="en-US" altLang="he-IL" sz="1600" dirty="0" smtClean="0"/>
              <a:t>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     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 </a:t>
            </a:r>
            <a:r>
              <a:rPr lang="en-US" altLang="he-IL" sz="1600" noProof="1" smtClean="0"/>
              <a:t>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    printf("%d ", *p);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 arr[] = {4,2,8};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 size = sizeof(arr)/sizeof(arr[0]);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incArray(arr, 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printf("The array after increment is: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printArray(arr, size);</a:t>
            </a:r>
            <a:endParaRPr lang="en-US" altLang="he-IL" sz="16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  <a:endParaRPr lang="en-US" altLang="he-IL" sz="1600" dirty="0" smtClean="0"/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5867400" y="55768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98330" name="Text Box 26"/>
          <p:cNvSpPr txBox="1">
            <a:spLocks noChangeArrowheads="1"/>
          </p:cNvSpPr>
          <p:nvPr/>
        </p:nvSpPr>
        <p:spPr bwMode="auto">
          <a:xfrm>
            <a:off x="6019800" y="30622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incArray</a:t>
            </a:r>
          </a:p>
        </p:txBody>
      </p:sp>
      <p:graphicFrame>
        <p:nvGraphicFramePr>
          <p:cNvPr id="98548" name="Group 244"/>
          <p:cNvGraphicFramePr>
            <a:graphicFrameLocks noGrp="1"/>
          </p:cNvGraphicFramePr>
          <p:nvPr/>
        </p:nvGraphicFramePr>
        <p:xfrm>
          <a:off x="6629400" y="4114800"/>
          <a:ext cx="2209800" cy="1463676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555" name="Group 251"/>
          <p:cNvGraphicFramePr>
            <a:graphicFrameLocks noGrp="1"/>
          </p:cNvGraphicFramePr>
          <p:nvPr/>
        </p:nvGraphicFramePr>
        <p:xfrm>
          <a:off x="6629400" y="4114800"/>
          <a:ext cx="2209800" cy="1463676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8366" name="Text Box 62"/>
          <p:cNvSpPr txBox="1">
            <a:spLocks noChangeArrowheads="1"/>
          </p:cNvSpPr>
          <p:nvPr/>
        </p:nvSpPr>
        <p:spPr bwMode="auto">
          <a:xfrm>
            <a:off x="990600" y="228600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p=arr</a:t>
            </a:r>
          </a:p>
        </p:txBody>
      </p:sp>
      <p:sp>
        <p:nvSpPr>
          <p:cNvPr id="98367" name="Text Box 63"/>
          <p:cNvSpPr txBox="1">
            <a:spLocks noChangeArrowheads="1"/>
          </p:cNvSpPr>
          <p:nvPr/>
        </p:nvSpPr>
        <p:spPr bwMode="auto">
          <a:xfrm>
            <a:off x="1981200" y="2300288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noProof="1">
                <a:latin typeface="Verdana" pitchFamily="34" charset="0"/>
              </a:rPr>
              <a:t>p &lt; arr+size</a:t>
            </a:r>
            <a:endParaRPr lang="en-US" altLang="he-IL" sz="1600">
              <a:latin typeface="Verdana" pitchFamily="34" charset="0"/>
            </a:endParaRPr>
          </a:p>
        </p:txBody>
      </p:sp>
      <p:sp>
        <p:nvSpPr>
          <p:cNvPr id="98368" name="Text Box 64"/>
          <p:cNvSpPr txBox="1">
            <a:spLocks noChangeArrowheads="1"/>
          </p:cNvSpPr>
          <p:nvPr/>
        </p:nvSpPr>
        <p:spPr bwMode="auto">
          <a:xfrm>
            <a:off x="3733800" y="228600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p++</a:t>
            </a:r>
          </a:p>
        </p:txBody>
      </p:sp>
      <p:graphicFrame>
        <p:nvGraphicFramePr>
          <p:cNvPr id="98598" name="Group 294"/>
          <p:cNvGraphicFramePr>
            <a:graphicFrameLocks noGrp="1"/>
          </p:cNvGraphicFramePr>
          <p:nvPr/>
        </p:nvGraphicFramePr>
        <p:xfrm>
          <a:off x="6553200" y="1905000"/>
          <a:ext cx="2362200" cy="1097202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8538" name="AutoShape 234"/>
          <p:cNvSpPr>
            <a:spLocks/>
          </p:cNvSpPr>
          <p:nvPr/>
        </p:nvSpPr>
        <p:spPr bwMode="auto">
          <a:xfrm rot="-5400000">
            <a:off x="2819400" y="1828800"/>
            <a:ext cx="266700" cy="876300"/>
          </a:xfrm>
          <a:prstGeom prst="rightBrace">
            <a:avLst>
              <a:gd name="adj1" fmla="val 273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98539" name="Text Box 235"/>
          <p:cNvSpPr txBox="1">
            <a:spLocks noChangeArrowheads="1"/>
          </p:cNvSpPr>
          <p:nvPr/>
        </p:nvSpPr>
        <p:spPr bwMode="auto">
          <a:xfrm>
            <a:off x="2590800" y="187325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b="1"/>
              <a:t>1012</a:t>
            </a:r>
          </a:p>
        </p:txBody>
      </p:sp>
      <p:graphicFrame>
        <p:nvGraphicFramePr>
          <p:cNvPr id="98556" name="Group 252"/>
          <p:cNvGraphicFramePr>
            <a:graphicFrameLocks noGrp="1"/>
          </p:cNvGraphicFramePr>
          <p:nvPr/>
        </p:nvGraphicFramePr>
        <p:xfrm>
          <a:off x="6629400" y="4114800"/>
          <a:ext cx="2209800" cy="1463676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577" name="Group 273"/>
          <p:cNvGraphicFramePr>
            <a:graphicFrameLocks noGrp="1"/>
          </p:cNvGraphicFramePr>
          <p:nvPr/>
        </p:nvGraphicFramePr>
        <p:xfrm>
          <a:off x="6629400" y="4114800"/>
          <a:ext cx="2209800" cy="1463676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600" name="Group 296"/>
          <p:cNvGraphicFramePr>
            <a:graphicFrameLocks noGrp="1"/>
          </p:cNvGraphicFramePr>
          <p:nvPr/>
        </p:nvGraphicFramePr>
        <p:xfrm>
          <a:off x="6553200" y="1905000"/>
          <a:ext cx="2362200" cy="1097202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617" name="Group 313"/>
          <p:cNvGraphicFramePr>
            <a:graphicFrameLocks noGrp="1"/>
          </p:cNvGraphicFramePr>
          <p:nvPr/>
        </p:nvGraphicFramePr>
        <p:xfrm>
          <a:off x="6629400" y="4114800"/>
          <a:ext cx="2209800" cy="1463676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638" name="Group 334"/>
          <p:cNvGraphicFramePr>
            <a:graphicFrameLocks noGrp="1"/>
          </p:cNvGraphicFramePr>
          <p:nvPr/>
        </p:nvGraphicFramePr>
        <p:xfrm>
          <a:off x="6629400" y="4114800"/>
          <a:ext cx="2209800" cy="1463676"/>
        </p:xfrm>
        <a:graphic>
          <a:graphicData uri="http://schemas.openxmlformats.org/drawingml/2006/table">
            <a:tbl>
              <a:tblPr/>
              <a:tblGrid>
                <a:gridCol w="1063625"/>
                <a:gridCol w="612775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660" name="Group 356"/>
          <p:cNvGraphicFramePr>
            <a:graphicFrameLocks noGrp="1"/>
          </p:cNvGraphicFramePr>
          <p:nvPr/>
        </p:nvGraphicFramePr>
        <p:xfrm>
          <a:off x="6553200" y="1905000"/>
          <a:ext cx="2362200" cy="1097202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1004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694" name="Group 390"/>
          <p:cNvGraphicFramePr>
            <a:graphicFrameLocks noGrp="1"/>
          </p:cNvGraphicFramePr>
          <p:nvPr/>
        </p:nvGraphicFramePr>
        <p:xfrm>
          <a:off x="6553200" y="1905000"/>
          <a:ext cx="2362200" cy="1097202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677" name="Group 373"/>
          <p:cNvGraphicFramePr>
            <a:graphicFrameLocks noGrp="1"/>
          </p:cNvGraphicFramePr>
          <p:nvPr/>
        </p:nvGraphicFramePr>
        <p:xfrm>
          <a:off x="6553200" y="1905000"/>
          <a:ext cx="2362200" cy="1097202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size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8711" name="Text Box 407"/>
          <p:cNvSpPr txBox="1">
            <a:spLocks noChangeArrowheads="1"/>
          </p:cNvSpPr>
          <p:nvPr/>
        </p:nvSpPr>
        <p:spPr bwMode="auto">
          <a:xfrm>
            <a:off x="6019800" y="30480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printArray</a:t>
            </a:r>
          </a:p>
        </p:txBody>
      </p:sp>
      <p:sp>
        <p:nvSpPr>
          <p:cNvPr id="98712" name="Text Box 408"/>
          <p:cNvSpPr txBox="1">
            <a:spLocks noChangeArrowheads="1"/>
          </p:cNvSpPr>
          <p:nvPr/>
        </p:nvSpPr>
        <p:spPr bwMode="auto">
          <a:xfrm>
            <a:off x="3657600" y="373380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p++</a:t>
            </a:r>
          </a:p>
        </p:txBody>
      </p:sp>
      <p:sp>
        <p:nvSpPr>
          <p:cNvPr id="98713" name="Text Box 409"/>
          <p:cNvSpPr txBox="1">
            <a:spLocks noChangeArrowheads="1"/>
          </p:cNvSpPr>
          <p:nvPr/>
        </p:nvSpPr>
        <p:spPr bwMode="auto">
          <a:xfrm>
            <a:off x="2057400" y="3733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p &lt; arr+size</a:t>
            </a:r>
          </a:p>
        </p:txBody>
      </p:sp>
      <p:sp>
        <p:nvSpPr>
          <p:cNvPr id="98714" name="Text Box 410"/>
          <p:cNvSpPr txBox="1">
            <a:spLocks noChangeArrowheads="1"/>
          </p:cNvSpPr>
          <p:nvPr/>
        </p:nvSpPr>
        <p:spPr bwMode="auto">
          <a:xfrm>
            <a:off x="1066800" y="377825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p=arr</a:t>
            </a:r>
          </a:p>
        </p:txBody>
      </p:sp>
      <p:sp>
        <p:nvSpPr>
          <p:cNvPr id="98715" name="AutoShape 411"/>
          <p:cNvSpPr>
            <a:spLocks/>
          </p:cNvSpPr>
          <p:nvPr/>
        </p:nvSpPr>
        <p:spPr bwMode="auto">
          <a:xfrm rot="-5400000">
            <a:off x="2895600" y="3314700"/>
            <a:ext cx="266700" cy="876300"/>
          </a:xfrm>
          <a:prstGeom prst="rightBrace">
            <a:avLst>
              <a:gd name="adj1" fmla="val 273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98716" name="Text Box 412"/>
          <p:cNvSpPr txBox="1">
            <a:spLocks noChangeArrowheads="1"/>
          </p:cNvSpPr>
          <p:nvPr/>
        </p:nvSpPr>
        <p:spPr bwMode="auto">
          <a:xfrm>
            <a:off x="2667000" y="335915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b="1"/>
              <a:t>1012</a:t>
            </a:r>
          </a:p>
        </p:txBody>
      </p:sp>
      <p:pic>
        <p:nvPicPr>
          <p:cNvPr id="98717" name="Picture 4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124200"/>
            <a:ext cx="432435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973" name="AutoShape 414"/>
          <p:cNvSpPr>
            <a:spLocks noChangeArrowheads="1"/>
          </p:cNvSpPr>
          <p:nvPr/>
        </p:nvSpPr>
        <p:spPr bwMode="auto">
          <a:xfrm>
            <a:off x="304800" y="762000"/>
            <a:ext cx="914400" cy="457200"/>
          </a:xfrm>
          <a:prstGeom prst="lightningBol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3197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16D06E19-1129-49F1-AD8D-1B35622DFDB2}" type="slidenum">
              <a:rPr lang="he-IL" altLang="he-IL" smtClean="0">
                <a:latin typeface="Verdana" pitchFamily="34" charset="0"/>
              </a:rPr>
              <a:pPr algn="r" rtl="1" eaLnBrk="1" hangingPunct="1"/>
              <a:t>27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209800"/>
            <a:ext cx="92964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void printArraySize(int* arr)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{</a:t>
            </a:r>
            <a:endParaRPr lang="en-US" altLang="he-IL" sz="180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    int size;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smtClean="0"/>
              <a:t>	printf("in function: sizeof(arr)= %d\n",sizeof(arr))</a:t>
            </a:r>
            <a:endParaRPr lang="en-US" altLang="he-IL" sz="18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size = sizeof(arr)/sizeof(arr[0]);</a:t>
            </a:r>
          </a:p>
          <a:p>
            <a:pPr algn="l" rtl="0">
              <a:buFont typeface="Wingdings" pitchFamily="2" charset="2"/>
              <a:buNone/>
            </a:pPr>
            <a:endParaRPr lang="en-US" altLang="he-IL" sz="1800" noProof="1" smtClean="0"/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  <a:r>
              <a:rPr lang="en-US" altLang="he-IL" sz="1800" smtClean="0"/>
              <a:t>printf("in function: size = %d\n", size);</a:t>
            </a:r>
            <a:endParaRPr lang="en-US" altLang="he-IL" sz="1800" noProof="1" smtClean="0"/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int arr[] = {4,2,8};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  <a:r>
              <a:rPr lang="en-US" altLang="he-IL" sz="1800" smtClean="0"/>
              <a:t>printf("in main: sizeof(arr)= %d\n",sizeof(arr));</a:t>
            </a:r>
            <a:endParaRPr lang="en-US" altLang="he-IL" sz="18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printArraySize(arr);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}</a:t>
            </a:r>
            <a:endParaRPr lang="en-US" altLang="he-IL" sz="1800" smtClean="0"/>
          </a:p>
        </p:txBody>
      </p:sp>
      <p:sp>
        <p:nvSpPr>
          <p:cNvPr id="93193" name="AutoShape 9"/>
          <p:cNvSpPr>
            <a:spLocks noChangeArrowheads="1"/>
          </p:cNvSpPr>
          <p:nvPr/>
        </p:nvSpPr>
        <p:spPr bwMode="auto">
          <a:xfrm>
            <a:off x="4419600" y="1524000"/>
            <a:ext cx="4419600" cy="1828800"/>
          </a:xfrm>
          <a:prstGeom prst="wedgeRectCallout">
            <a:avLst>
              <a:gd name="adj1" fmla="val -92315"/>
              <a:gd name="adj2" fmla="val 527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en-US" altLang="he-IL" b="1">
                <a:solidFill>
                  <a:schemeClr val="bg1"/>
                </a:solidFill>
              </a:rPr>
              <a:t>arr</a:t>
            </a:r>
            <a:r>
              <a:rPr lang="he-IL" altLang="he-IL" b="1">
                <a:solidFill>
                  <a:schemeClr val="bg1"/>
                </a:solidFill>
              </a:rPr>
              <a:t> הוא מטיפוס כתובת, וגודלו של משתנה מטיפוס כתובת הוא תמיד 4 בתים...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לכן כאשר מתייחסים לשם המערך בפונקציה לא ניתן לדעת את גודלו!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רק בפונקציה שבה מוקצה שטח הזיכרון של המערך ניתן לדעת את גודלו ע"י </a:t>
            </a:r>
            <a:r>
              <a:rPr lang="en-US" altLang="he-IL" b="1">
                <a:solidFill>
                  <a:schemeClr val="bg1"/>
                </a:solidFill>
              </a:rPr>
              <a:t>sizeof</a:t>
            </a:r>
            <a:r>
              <a:rPr lang="he-IL" altLang="he-IL" b="1">
                <a:solidFill>
                  <a:schemeClr val="bg1"/>
                </a:solidFill>
              </a:rPr>
              <a:t>!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מדוע צריך להעביר לפונקציה את גודל המערך (ולא להסתמך על </a:t>
            </a:r>
            <a:r>
              <a:rPr lang="en-US" altLang="he-IL" sz="4000" smtClean="0"/>
              <a:t>sizeof</a:t>
            </a:r>
            <a:r>
              <a:rPr lang="he-IL" altLang="he-IL" sz="4000" smtClean="0"/>
              <a:t>..)</a:t>
            </a:r>
            <a:endParaRPr lang="en-US" altLang="he-IL" sz="4000" smtClean="0"/>
          </a:p>
        </p:txBody>
      </p:sp>
      <p:sp>
        <p:nvSpPr>
          <p:cNvPr id="93189" name="AutoShape 5"/>
          <p:cNvSpPr>
            <a:spLocks/>
          </p:cNvSpPr>
          <p:nvPr/>
        </p:nvSpPr>
        <p:spPr bwMode="auto">
          <a:xfrm rot="5400000">
            <a:off x="1790700" y="3314700"/>
            <a:ext cx="304800" cy="1295400"/>
          </a:xfrm>
          <a:prstGeom prst="rightBrace">
            <a:avLst>
              <a:gd name="adj1" fmla="val 3571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3190" name="Text Box 6"/>
          <p:cNvSpPr txBox="1">
            <a:spLocks noChangeArrowheads="1"/>
          </p:cNvSpPr>
          <p:nvPr/>
        </p:nvSpPr>
        <p:spPr bwMode="auto">
          <a:xfrm>
            <a:off x="1752600" y="403860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93191" name="AutoShape 7"/>
          <p:cNvSpPr>
            <a:spLocks/>
          </p:cNvSpPr>
          <p:nvPr/>
        </p:nvSpPr>
        <p:spPr bwMode="auto">
          <a:xfrm rot="16200000" flipH="1">
            <a:off x="3332162" y="3221038"/>
            <a:ext cx="269875" cy="1600200"/>
          </a:xfrm>
          <a:prstGeom prst="rightBrace">
            <a:avLst>
              <a:gd name="adj1" fmla="val 428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3192" name="Text Box 8"/>
          <p:cNvSpPr txBox="1">
            <a:spLocks noChangeArrowheads="1"/>
          </p:cNvSpPr>
          <p:nvPr/>
        </p:nvSpPr>
        <p:spPr bwMode="auto">
          <a:xfrm>
            <a:off x="3352800" y="403860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277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F736F64F-FC7F-42C9-9E93-B72E261F1305}" type="slidenum">
              <a:rPr lang="he-IL" altLang="he-IL" smtClean="0">
                <a:latin typeface="Verdana" pitchFamily="34" charset="0"/>
              </a:rPr>
              <a:pPr algn="r" rtl="1" eaLnBrk="1" hangingPunct="1"/>
              <a:t>28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pic>
        <p:nvPicPr>
          <p:cNvPr id="32780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263" y="4800600"/>
            <a:ext cx="464661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דוגמא: מימוש הפונקציה </a:t>
            </a:r>
            <a:r>
              <a:rPr lang="en-US" altLang="he-IL" smtClean="0"/>
              <a:t> strlen</a:t>
            </a:r>
            <a:r>
              <a:rPr lang="he-IL" altLang="he-IL" smtClean="0"/>
              <a:t>(1)</a:t>
            </a:r>
            <a:endParaRPr lang="en-US" altLang="he-IL" smtClean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8392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int myStrlen(char str</a:t>
            </a:r>
            <a:r>
              <a:rPr lang="en-US" altLang="he-IL" sz="2000" dirty="0" smtClean="0"/>
              <a:t>[]</a:t>
            </a:r>
            <a:r>
              <a:rPr lang="en-US" altLang="he-IL" sz="2000" noProof="1" smtClean="0"/>
              <a:t>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…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/>
              <a:t>	</a:t>
            </a:r>
            <a:r>
              <a:rPr lang="en-US" altLang="he-IL" sz="2000" noProof="1" smtClean="0"/>
              <a:t>…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noProof="1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char str[4] = "Hi";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printf("The len of |%s| is %d\n", str,</a:t>
            </a:r>
            <a:r>
              <a:rPr lang="he-IL" altLang="he-IL" sz="2000" dirty="0" smtClean="0"/>
              <a:t>                           </a:t>
            </a:r>
            <a:r>
              <a:rPr lang="en-US" altLang="he-IL" sz="2000" dirty="0" smtClean="0"/>
              <a:t>      ); </a:t>
            </a:r>
            <a:endParaRPr lang="he-IL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sz="2000" noProof="1" smtClean="0"/>
              <a:t>}</a:t>
            </a:r>
            <a:endParaRPr lang="en-US" altLang="he-IL" sz="2000" dirty="0" smtClean="0"/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5943600" y="43434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07566" name="Group 46"/>
          <p:cNvGraphicFramePr>
            <a:graphicFrameLocks noGrp="1"/>
          </p:cNvGraphicFramePr>
          <p:nvPr/>
        </p:nvGraphicFramePr>
        <p:xfrm>
          <a:off x="6477000" y="3276600"/>
          <a:ext cx="2514600" cy="1097202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586" name="Group 66"/>
          <p:cNvGraphicFramePr>
            <a:graphicFrameLocks noGrp="1"/>
          </p:cNvGraphicFramePr>
          <p:nvPr/>
        </p:nvGraphicFramePr>
        <p:xfrm>
          <a:off x="6477000" y="3276600"/>
          <a:ext cx="2514600" cy="1097202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7604" name="Text Box 84"/>
          <p:cNvSpPr txBox="1">
            <a:spLocks noChangeArrowheads="1"/>
          </p:cNvSpPr>
          <p:nvPr/>
        </p:nvSpPr>
        <p:spPr bwMode="auto">
          <a:xfrm>
            <a:off x="5676900" y="5241925"/>
            <a:ext cx="3505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2000" noProof="1">
                <a:latin typeface="Verdana" pitchFamily="34" charset="0"/>
              </a:rPr>
              <a:t>myStrlen(str)</a:t>
            </a:r>
            <a:endParaRPr lang="en-US" altLang="he-IL" sz="2000" dirty="0">
              <a:latin typeface="Verdana" pitchFamily="34" charset="0"/>
            </a:endParaRPr>
          </a:p>
        </p:txBody>
      </p:sp>
      <p:sp>
        <p:nvSpPr>
          <p:cNvPr id="107605" name="Text Box 85"/>
          <p:cNvSpPr txBox="1">
            <a:spLocks noChangeArrowheads="1"/>
          </p:cNvSpPr>
          <p:nvPr/>
        </p:nvSpPr>
        <p:spPr bwMode="auto">
          <a:xfrm>
            <a:off x="5943600" y="26050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myStrlen</a:t>
            </a:r>
          </a:p>
        </p:txBody>
      </p:sp>
      <p:graphicFrame>
        <p:nvGraphicFramePr>
          <p:cNvPr id="107779" name="Group 259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778" name="Group 258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776" name="Group 256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775" name="Group 255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774" name="Group 254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773" name="Group 253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9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5FC5D7E6-AA89-4447-8339-91095E2441CF}" type="slidenum">
              <a:rPr lang="he-IL" altLang="he-IL" smtClean="0">
                <a:latin typeface="Verdana" pitchFamily="34" charset="0"/>
              </a:rPr>
              <a:pPr algn="r" rtl="1" eaLnBrk="1" hangingPunct="1"/>
              <a:t>29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דוגמא: מימוש הפונקציה </a:t>
            </a:r>
            <a:r>
              <a:rPr lang="en-US" altLang="he-IL" smtClean="0"/>
              <a:t> strlen</a:t>
            </a:r>
            <a:r>
              <a:rPr lang="he-IL" altLang="he-IL" smtClean="0"/>
              <a:t>(1)</a:t>
            </a:r>
            <a:endParaRPr lang="en-US" altLang="he-IL" smtClean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8392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int myStrlen(char str</a:t>
            </a:r>
            <a:r>
              <a:rPr lang="en-US" altLang="he-IL" sz="2000" dirty="0" smtClean="0"/>
              <a:t>[]</a:t>
            </a:r>
            <a:r>
              <a:rPr lang="en-US" altLang="he-IL" sz="2000" noProof="1" smtClean="0"/>
              <a:t>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int len = 0;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for (</a:t>
            </a:r>
            <a:r>
              <a:rPr lang="en-US" altLang="he-IL" sz="2000" dirty="0" smtClean="0"/>
              <a:t> </a:t>
            </a:r>
            <a:r>
              <a:rPr lang="en-US" altLang="he-IL" sz="2000" noProof="1" smtClean="0"/>
              <a:t> ; </a:t>
            </a:r>
            <a:r>
              <a:rPr lang="en-US" altLang="he-IL" sz="2000" dirty="0" smtClean="0"/>
              <a:t>               </a:t>
            </a:r>
            <a:r>
              <a:rPr lang="en-US" altLang="he-IL" sz="2000" noProof="1" smtClean="0"/>
              <a:t>; </a:t>
            </a:r>
            <a:r>
              <a:rPr lang="en-US" altLang="he-IL" sz="2000" dirty="0" smtClean="0"/>
              <a:t>        )</a:t>
            </a:r>
            <a:endParaRPr lang="en-US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	len++;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return len;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char str[4] = "Hi";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printf("The len of |%s| is %d\n", str,</a:t>
            </a:r>
            <a:r>
              <a:rPr lang="he-IL" altLang="he-IL" sz="2000" dirty="0" smtClean="0"/>
              <a:t>                           </a:t>
            </a:r>
            <a:r>
              <a:rPr lang="en-US" altLang="he-IL" sz="2000" dirty="0" smtClean="0"/>
              <a:t>      ); </a:t>
            </a:r>
            <a:endParaRPr lang="he-IL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sz="2000" noProof="1" smtClean="0"/>
              <a:t>}</a:t>
            </a:r>
            <a:endParaRPr lang="en-US" altLang="he-IL" sz="2000" dirty="0" smtClean="0"/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5943600" y="43434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07566" name="Group 46"/>
          <p:cNvGraphicFramePr>
            <a:graphicFrameLocks noGrp="1"/>
          </p:cNvGraphicFramePr>
          <p:nvPr/>
        </p:nvGraphicFramePr>
        <p:xfrm>
          <a:off x="6477000" y="3276600"/>
          <a:ext cx="2514600" cy="1097202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586" name="Group 66"/>
          <p:cNvGraphicFramePr>
            <a:graphicFrameLocks noGrp="1"/>
          </p:cNvGraphicFramePr>
          <p:nvPr/>
        </p:nvGraphicFramePr>
        <p:xfrm>
          <a:off x="6477000" y="3276600"/>
          <a:ext cx="2514600" cy="1097202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7604" name="Text Box 84"/>
          <p:cNvSpPr txBox="1">
            <a:spLocks noChangeArrowheads="1"/>
          </p:cNvSpPr>
          <p:nvPr/>
        </p:nvSpPr>
        <p:spPr bwMode="auto">
          <a:xfrm>
            <a:off x="6019800" y="5241925"/>
            <a:ext cx="3505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2000" noProof="1">
                <a:latin typeface="Verdana" pitchFamily="34" charset="0"/>
              </a:rPr>
              <a:t>myStrlen(str)</a:t>
            </a:r>
            <a:endParaRPr lang="en-US" altLang="he-IL" sz="2000">
              <a:latin typeface="Verdana" pitchFamily="34" charset="0"/>
            </a:endParaRPr>
          </a:p>
        </p:txBody>
      </p:sp>
      <p:sp>
        <p:nvSpPr>
          <p:cNvPr id="107605" name="Text Box 85"/>
          <p:cNvSpPr txBox="1">
            <a:spLocks noChangeArrowheads="1"/>
          </p:cNvSpPr>
          <p:nvPr/>
        </p:nvSpPr>
        <p:spPr bwMode="auto">
          <a:xfrm>
            <a:off x="5943600" y="26050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myStrlen</a:t>
            </a:r>
          </a:p>
        </p:txBody>
      </p:sp>
      <p:graphicFrame>
        <p:nvGraphicFramePr>
          <p:cNvPr id="107779" name="Group 259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778" name="Group 258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7679" name="Text Box 159"/>
          <p:cNvSpPr txBox="1">
            <a:spLocks noChangeArrowheads="1"/>
          </p:cNvSpPr>
          <p:nvPr/>
        </p:nvSpPr>
        <p:spPr bwMode="auto">
          <a:xfrm>
            <a:off x="1600200" y="2605088"/>
            <a:ext cx="2209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>
                <a:latin typeface="Verdana" pitchFamily="34" charset="0"/>
              </a:rPr>
              <a:t>*str != ‘\0’</a:t>
            </a:r>
          </a:p>
        </p:txBody>
      </p:sp>
      <p:sp>
        <p:nvSpPr>
          <p:cNvPr id="107680" name="Text Box 160"/>
          <p:cNvSpPr txBox="1">
            <a:spLocks noChangeArrowheads="1"/>
          </p:cNvSpPr>
          <p:nvPr/>
        </p:nvSpPr>
        <p:spPr bwMode="auto">
          <a:xfrm>
            <a:off x="3200400" y="25908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>
                <a:latin typeface="Verdana" pitchFamily="34" charset="0"/>
              </a:rPr>
              <a:t>str++</a:t>
            </a:r>
          </a:p>
        </p:txBody>
      </p:sp>
      <p:graphicFrame>
        <p:nvGraphicFramePr>
          <p:cNvPr id="107776" name="Group 256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775" name="Group 255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774" name="Group 254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773" name="Group 253"/>
          <p:cNvGraphicFramePr>
            <a:graphicFrameLocks noGrp="1"/>
          </p:cNvGraphicFramePr>
          <p:nvPr/>
        </p:nvGraphicFramePr>
        <p:xfrm>
          <a:off x="6096000" y="18605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len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3913" name="Picture 2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791200"/>
            <a:ext cx="42672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780" name="AutoShape 260"/>
          <p:cNvSpPr>
            <a:spLocks noChangeArrowheads="1"/>
          </p:cNvSpPr>
          <p:nvPr/>
        </p:nvSpPr>
        <p:spPr bwMode="auto">
          <a:xfrm>
            <a:off x="2590800" y="3352800"/>
            <a:ext cx="3581400" cy="1219200"/>
          </a:xfrm>
          <a:prstGeom prst="wedgeRectCallout">
            <a:avLst>
              <a:gd name="adj1" fmla="val -17551"/>
              <a:gd name="adj2" fmla="val -84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 dirty="0">
                <a:solidFill>
                  <a:schemeClr val="bg1"/>
                </a:solidFill>
              </a:rPr>
              <a:t>בפונקציה </a:t>
            </a:r>
            <a:r>
              <a:rPr lang="he-IL" altLang="he-IL" b="1" dirty="0" smtClean="0">
                <a:solidFill>
                  <a:schemeClr val="bg1"/>
                </a:solidFill>
              </a:rPr>
              <a:t>מותר </a:t>
            </a:r>
            <a:r>
              <a:rPr lang="he-IL" altLang="he-IL" b="1" dirty="0">
                <a:solidFill>
                  <a:schemeClr val="bg1"/>
                </a:solidFill>
              </a:rPr>
              <a:t>לבצע ++ על שם המערך, שכן פה מתייחסים </a:t>
            </a:r>
            <a:r>
              <a:rPr lang="he-IL" altLang="he-IL" b="1" dirty="0" smtClean="0">
                <a:solidFill>
                  <a:schemeClr val="bg1"/>
                </a:solidFill>
              </a:rPr>
              <a:t>למצביע, </a:t>
            </a:r>
            <a:r>
              <a:rPr lang="he-IL" altLang="he-IL" b="1" dirty="0">
                <a:solidFill>
                  <a:schemeClr val="bg1"/>
                </a:solidFill>
              </a:rPr>
              <a:t>ולא משנים את כתובתו הפיזית של המערך!</a:t>
            </a:r>
            <a:endParaRPr lang="en-US" altLang="he-IL" b="1" dirty="0">
              <a:solidFill>
                <a:schemeClr val="bg1"/>
              </a:solidFill>
            </a:endParaRPr>
          </a:p>
        </p:txBody>
      </p:sp>
      <p:sp>
        <p:nvSpPr>
          <p:cNvPr id="339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5FC5D7E6-AA89-4447-8339-91095E2441CF}" type="slidenum">
              <a:rPr lang="he-IL" altLang="he-IL" smtClean="0">
                <a:latin typeface="Verdana" pitchFamily="34" charset="0"/>
              </a:rPr>
              <a:pPr algn="r" rtl="1" eaLnBrk="1" hangingPunct="1"/>
              <a:t>30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30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דוגמא: מימוש הפונקציה </a:t>
            </a:r>
            <a:r>
              <a:rPr lang="en-US" altLang="he-IL" smtClean="0"/>
              <a:t>strlen</a:t>
            </a:r>
            <a:r>
              <a:rPr lang="he-IL" altLang="he-IL" smtClean="0"/>
              <a:t> (2)</a:t>
            </a:r>
            <a:endParaRPr lang="en-US" altLang="he-IL" smtClean="0"/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5943600" y="43434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10597" name="Group 5"/>
          <p:cNvGraphicFramePr>
            <a:graphicFrameLocks noGrp="1"/>
          </p:cNvGraphicFramePr>
          <p:nvPr/>
        </p:nvGraphicFramePr>
        <p:xfrm>
          <a:off x="6477000" y="3276600"/>
          <a:ext cx="2514600" cy="1097202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0614" name="Group 22"/>
          <p:cNvGraphicFramePr>
            <a:graphicFrameLocks noGrp="1"/>
          </p:cNvGraphicFramePr>
          <p:nvPr/>
        </p:nvGraphicFramePr>
        <p:xfrm>
          <a:off x="6477000" y="3276600"/>
          <a:ext cx="2514600" cy="1097202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0631" name="Text Box 39"/>
          <p:cNvSpPr txBox="1">
            <a:spLocks noChangeArrowheads="1"/>
          </p:cNvSpPr>
          <p:nvPr/>
        </p:nvSpPr>
        <p:spPr bwMode="auto">
          <a:xfrm>
            <a:off x="5486400" y="5013325"/>
            <a:ext cx="3505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2000" noProof="1">
                <a:latin typeface="Verdana" pitchFamily="34" charset="0"/>
              </a:rPr>
              <a:t>myStrlen(str)</a:t>
            </a:r>
            <a:endParaRPr lang="en-US" altLang="he-IL" sz="2000">
              <a:latin typeface="Verdana" pitchFamily="34" charset="0"/>
            </a:endParaRPr>
          </a:p>
        </p:txBody>
      </p:sp>
      <p:sp>
        <p:nvSpPr>
          <p:cNvPr id="110632" name="Text Box 40"/>
          <p:cNvSpPr txBox="1">
            <a:spLocks noChangeArrowheads="1"/>
          </p:cNvSpPr>
          <p:nvPr/>
        </p:nvSpPr>
        <p:spPr bwMode="auto">
          <a:xfrm>
            <a:off x="5943600" y="26050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myStrlen</a:t>
            </a:r>
          </a:p>
        </p:txBody>
      </p:sp>
      <p:graphicFrame>
        <p:nvGraphicFramePr>
          <p:cNvPr id="110756" name="Group 164"/>
          <p:cNvGraphicFramePr>
            <a:graphicFrameLocks noGrp="1"/>
          </p:cNvGraphicFramePr>
          <p:nvPr/>
        </p:nvGraphicFramePr>
        <p:xfrm>
          <a:off x="6172200" y="19367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0684" name="Text Box 92"/>
          <p:cNvSpPr txBox="1">
            <a:spLocks noChangeArrowheads="1"/>
          </p:cNvSpPr>
          <p:nvPr/>
        </p:nvSpPr>
        <p:spPr bwMode="auto">
          <a:xfrm>
            <a:off x="1219200" y="25908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>
                <a:latin typeface="Verdana" pitchFamily="34" charset="0"/>
              </a:rPr>
              <a:t>p=str</a:t>
            </a:r>
          </a:p>
        </p:txBody>
      </p:sp>
      <p:sp>
        <p:nvSpPr>
          <p:cNvPr id="110685" name="Text Box 93"/>
          <p:cNvSpPr txBox="1">
            <a:spLocks noChangeArrowheads="1"/>
          </p:cNvSpPr>
          <p:nvPr/>
        </p:nvSpPr>
        <p:spPr bwMode="auto">
          <a:xfrm>
            <a:off x="2133600" y="2590800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>
                <a:latin typeface="Verdana" pitchFamily="34" charset="0"/>
              </a:rPr>
              <a:t>*p</a:t>
            </a:r>
          </a:p>
        </p:txBody>
      </p:sp>
      <p:sp>
        <p:nvSpPr>
          <p:cNvPr id="110686" name="Text Box 94"/>
          <p:cNvSpPr txBox="1">
            <a:spLocks noChangeArrowheads="1"/>
          </p:cNvSpPr>
          <p:nvPr/>
        </p:nvSpPr>
        <p:spPr bwMode="auto">
          <a:xfrm>
            <a:off x="2743200" y="2605088"/>
            <a:ext cx="1143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>
                <a:latin typeface="Verdana" pitchFamily="34" charset="0"/>
              </a:rPr>
              <a:t>p++</a:t>
            </a:r>
          </a:p>
        </p:txBody>
      </p:sp>
      <p:pic>
        <p:nvPicPr>
          <p:cNvPr id="34872" name="Picture 1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791200"/>
            <a:ext cx="42672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0773" name="Group 181"/>
          <p:cNvGraphicFramePr>
            <a:graphicFrameLocks noGrp="1"/>
          </p:cNvGraphicFramePr>
          <p:nvPr/>
        </p:nvGraphicFramePr>
        <p:xfrm>
          <a:off x="6172200" y="19367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0786" name="AutoShape 194"/>
          <p:cNvSpPr>
            <a:spLocks noChangeArrowheads="1"/>
          </p:cNvSpPr>
          <p:nvPr/>
        </p:nvSpPr>
        <p:spPr bwMode="auto">
          <a:xfrm>
            <a:off x="3124200" y="1981200"/>
            <a:ext cx="2286000" cy="457200"/>
          </a:xfrm>
          <a:prstGeom prst="wedgeRectCallout">
            <a:avLst>
              <a:gd name="adj1" fmla="val -67917"/>
              <a:gd name="adj2" fmla="val 767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שקול ל:  </a:t>
            </a:r>
            <a:r>
              <a:rPr lang="en-US" altLang="he-IL" b="1">
                <a:solidFill>
                  <a:schemeClr val="bg1"/>
                </a:solidFill>
              </a:rPr>
              <a:t>*p != ‘\0’</a:t>
            </a:r>
          </a:p>
        </p:txBody>
      </p:sp>
      <p:graphicFrame>
        <p:nvGraphicFramePr>
          <p:cNvPr id="110788" name="Group 196"/>
          <p:cNvGraphicFramePr>
            <a:graphicFrameLocks noGrp="1"/>
          </p:cNvGraphicFramePr>
          <p:nvPr/>
        </p:nvGraphicFramePr>
        <p:xfrm>
          <a:off x="6172200" y="19367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0802" name="Group 210"/>
          <p:cNvGraphicFramePr>
            <a:graphicFrameLocks noGrp="1"/>
          </p:cNvGraphicFramePr>
          <p:nvPr/>
        </p:nvGraphicFramePr>
        <p:xfrm>
          <a:off x="6172200" y="1936750"/>
          <a:ext cx="2895600" cy="731838"/>
        </p:xfrm>
        <a:graphic>
          <a:graphicData uri="http://schemas.openxmlformats.org/drawingml/2006/table">
            <a:tbl>
              <a:tblPr/>
              <a:tblGrid>
                <a:gridCol w="1371600"/>
                <a:gridCol w="9906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p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0815" name="Text Box 223"/>
          <p:cNvSpPr txBox="1">
            <a:spLocks noChangeArrowheads="1"/>
          </p:cNvSpPr>
          <p:nvPr/>
        </p:nvSpPr>
        <p:spPr bwMode="auto">
          <a:xfrm>
            <a:off x="2514600" y="29718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b="1">
                <a:solidFill>
                  <a:srgbClr val="009900"/>
                </a:solidFill>
              </a:rPr>
              <a:t>// returns: 2</a:t>
            </a:r>
          </a:p>
        </p:txBody>
      </p:sp>
      <p:sp>
        <p:nvSpPr>
          <p:cNvPr id="349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04E9248D-35A5-449F-9E91-97AF1B48272E}" type="slidenum">
              <a:rPr lang="he-IL" altLang="he-IL" smtClean="0">
                <a:latin typeface="Verdana" pitchFamily="34" charset="0"/>
              </a:rPr>
              <a:pPr algn="r" rtl="1" eaLnBrk="1" hangingPunct="1"/>
              <a:t>31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2296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int myStrlen(char str</a:t>
            </a:r>
            <a:r>
              <a:rPr lang="en-US" altLang="he-IL" sz="2000" smtClean="0"/>
              <a:t>[]</a:t>
            </a:r>
            <a:r>
              <a:rPr lang="en-US" altLang="he-IL" sz="2000" noProof="1" smtClean="0"/>
              <a:t>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  <a:r>
              <a:rPr lang="en-US" altLang="he-IL" sz="2000" noProof="1" smtClean="0"/>
              <a:t>char* p;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for (</a:t>
            </a:r>
            <a:r>
              <a:rPr lang="en-US" altLang="he-IL" sz="2000" smtClean="0"/>
              <a:t>        </a:t>
            </a:r>
            <a:r>
              <a:rPr lang="en-US" altLang="he-IL" sz="2000" noProof="1" smtClean="0"/>
              <a:t>; </a:t>
            </a:r>
            <a:r>
              <a:rPr lang="en-US" altLang="he-IL" sz="2000" smtClean="0"/>
              <a:t>    </a:t>
            </a:r>
            <a:r>
              <a:rPr lang="en-US" altLang="he-IL" sz="2000" noProof="1" smtClean="0"/>
              <a:t> ; </a:t>
            </a:r>
            <a:r>
              <a:rPr lang="en-US" altLang="he-IL" sz="2000" smtClean="0"/>
              <a:t>      </a:t>
            </a:r>
            <a:r>
              <a:rPr lang="en-US" altLang="he-IL" sz="2000" noProof="1" smtClean="0"/>
              <a:t>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return p-str;</a:t>
            </a:r>
            <a:endParaRPr lang="en-US" altLang="he-IL" sz="200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4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char str[4] = "Hi";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printf("The len of |%s| is %d\n", str,                      );</a:t>
            </a:r>
            <a:endParaRPr lang="he-IL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sz="2000" noProof="1" smtClean="0"/>
              <a:t>{</a:t>
            </a:r>
            <a:endParaRPr lang="en-US" altLang="he-IL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/>
              <a:t>c</a:t>
            </a:r>
            <a:r>
              <a:rPr lang="en-US" altLang="he-IL" sz="1600" noProof="1" smtClean="0"/>
              <a:t>har* myStrcpy(char* dest, const char* src)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while (*</a:t>
            </a:r>
            <a:r>
              <a:rPr lang="en-US" altLang="he-IL" sz="1600" dirty="0" err="1" smtClean="0"/>
              <a:t>src</a:t>
            </a:r>
            <a:r>
              <a:rPr lang="en-US" altLang="he-IL" sz="1600" smtClean="0"/>
              <a:t>)</a:t>
            </a: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     *dest++ = *</a:t>
            </a:r>
            <a:r>
              <a:rPr lang="en-US" altLang="he-IL" sz="1600" dirty="0" err="1" smtClean="0"/>
              <a:t>src</a:t>
            </a:r>
            <a:r>
              <a:rPr lang="en-US" altLang="he-IL" sz="1600" dirty="0" smtClean="0"/>
              <a:t>++</a:t>
            </a:r>
            <a:r>
              <a:rPr lang="en-US" altLang="he-IL" sz="1600" noProof="1" smtClean="0"/>
              <a:t>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*dest = '\0';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return dest;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char str1[4] = "Hi", str2[4];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printf("Before copy: str1=|%s|, str2=|%s|\n", str1, str2);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myStrcpy(str2, str1);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printf("After  copy: str1=|%s|, str2=|%s|\n", str1, str2); 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  <a:endParaRPr lang="en-US" altLang="he-IL" sz="1600" dirty="0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דוגמא: מימוש </a:t>
            </a:r>
            <a:r>
              <a:rPr lang="en-US" altLang="he-IL" smtClean="0"/>
              <a:t>strcpy</a:t>
            </a: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803900"/>
            <a:ext cx="57150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6096000" y="43576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04511" name="Group 63"/>
          <p:cNvGraphicFramePr>
            <a:graphicFrameLocks noGrp="1"/>
          </p:cNvGraphicFramePr>
          <p:nvPr/>
        </p:nvGraphicFramePr>
        <p:xfrm>
          <a:off x="6553200" y="1447800"/>
          <a:ext cx="2514600" cy="2926000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str1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1003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str2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1007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4551" name="Group 103"/>
          <p:cNvGraphicFramePr>
            <a:graphicFrameLocks noGrp="1"/>
          </p:cNvGraphicFramePr>
          <p:nvPr/>
        </p:nvGraphicFramePr>
        <p:xfrm>
          <a:off x="6553200" y="1447800"/>
          <a:ext cx="2514600" cy="2926000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str1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1003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str2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1007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588" name="Text Box 140"/>
          <p:cNvSpPr txBox="1">
            <a:spLocks noChangeArrowheads="1"/>
          </p:cNvSpPr>
          <p:nvPr/>
        </p:nvSpPr>
        <p:spPr bwMode="auto">
          <a:xfrm>
            <a:off x="3124200" y="32908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myStrcpy</a:t>
            </a:r>
          </a:p>
        </p:txBody>
      </p:sp>
      <p:graphicFrame>
        <p:nvGraphicFramePr>
          <p:cNvPr id="104795" name="Group 347"/>
          <p:cNvGraphicFramePr>
            <a:graphicFrameLocks noGrp="1"/>
          </p:cNvGraphicFramePr>
          <p:nvPr/>
        </p:nvGraphicFramePr>
        <p:xfrm>
          <a:off x="3581400" y="2560638"/>
          <a:ext cx="2667000" cy="731838"/>
        </p:xfrm>
        <a:graphic>
          <a:graphicData uri="http://schemas.openxmlformats.org/drawingml/2006/table">
            <a:tbl>
              <a:tblPr/>
              <a:tblGrid>
                <a:gridCol w="1295400"/>
                <a:gridCol w="806450"/>
                <a:gridCol w="56515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dest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src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4609" name="Group 161"/>
          <p:cNvGraphicFramePr>
            <a:graphicFrameLocks noGrp="1"/>
          </p:cNvGraphicFramePr>
          <p:nvPr/>
        </p:nvGraphicFramePr>
        <p:xfrm>
          <a:off x="6553200" y="1447800"/>
          <a:ext cx="2514600" cy="2926000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str1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1003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str2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1007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4794" name="Group 346"/>
          <p:cNvGraphicFramePr>
            <a:graphicFrameLocks noGrp="1"/>
          </p:cNvGraphicFramePr>
          <p:nvPr/>
        </p:nvGraphicFramePr>
        <p:xfrm>
          <a:off x="3581400" y="2560638"/>
          <a:ext cx="2667000" cy="731838"/>
        </p:xfrm>
        <a:graphic>
          <a:graphicData uri="http://schemas.openxmlformats.org/drawingml/2006/table">
            <a:tbl>
              <a:tblPr/>
              <a:tblGrid>
                <a:gridCol w="1295400"/>
                <a:gridCol w="806450"/>
                <a:gridCol w="56515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dest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src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4681" name="Group 233"/>
          <p:cNvGraphicFramePr>
            <a:graphicFrameLocks noGrp="1"/>
          </p:cNvGraphicFramePr>
          <p:nvPr/>
        </p:nvGraphicFramePr>
        <p:xfrm>
          <a:off x="6553200" y="1447800"/>
          <a:ext cx="2514600" cy="2926000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str1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1003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str2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1007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4793" name="Group 345"/>
          <p:cNvGraphicFramePr>
            <a:graphicFrameLocks noGrp="1"/>
          </p:cNvGraphicFramePr>
          <p:nvPr/>
        </p:nvGraphicFramePr>
        <p:xfrm>
          <a:off x="3581400" y="2560638"/>
          <a:ext cx="2667000" cy="731838"/>
        </p:xfrm>
        <a:graphic>
          <a:graphicData uri="http://schemas.openxmlformats.org/drawingml/2006/table">
            <a:tbl>
              <a:tblPr/>
              <a:tblGrid>
                <a:gridCol w="1295400"/>
                <a:gridCol w="806450"/>
                <a:gridCol w="56515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dest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src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4735" name="Group 287"/>
          <p:cNvGraphicFramePr>
            <a:graphicFrameLocks noGrp="1"/>
          </p:cNvGraphicFramePr>
          <p:nvPr/>
        </p:nvGraphicFramePr>
        <p:xfrm>
          <a:off x="6553200" y="1447800"/>
          <a:ext cx="2514600" cy="2926000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str1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1003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str2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1007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4792" name="Group 344"/>
          <p:cNvGraphicFramePr>
            <a:graphicFrameLocks noGrp="1"/>
          </p:cNvGraphicFramePr>
          <p:nvPr/>
        </p:nvGraphicFramePr>
        <p:xfrm>
          <a:off x="3581400" y="2560638"/>
          <a:ext cx="2667000" cy="731838"/>
        </p:xfrm>
        <a:graphic>
          <a:graphicData uri="http://schemas.openxmlformats.org/drawingml/2006/table">
            <a:tbl>
              <a:tblPr/>
              <a:tblGrid>
                <a:gridCol w="1295400"/>
                <a:gridCol w="806450"/>
                <a:gridCol w="56515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dest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src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08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rtl="1" eaLnBrk="1" hangingPunct="1"/>
            <a:fld id="{915EAFAC-66C8-4002-8381-BC9FEA0BE17A}" type="slidenum">
              <a:rPr lang="he-IL" altLang="he-IL" smtClean="0">
                <a:latin typeface="Verdana" pitchFamily="34" charset="0"/>
              </a:rPr>
              <a:pPr rtl="1" eaLnBrk="1" hangingPunct="1"/>
              <a:t>32</a:t>
            </a:fld>
            <a:endParaRPr lang="he-IL" altLang="he-IL" dirty="0" smtClean="0">
              <a:latin typeface="Verdana" pitchFamily="34" charset="0"/>
            </a:endParaRPr>
          </a:p>
          <a:p>
            <a:pPr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sp>
        <p:nvSpPr>
          <p:cNvPr id="36085" name="AutoShape 414"/>
          <p:cNvSpPr>
            <a:spLocks noChangeArrowheads="1"/>
          </p:cNvSpPr>
          <p:nvPr/>
        </p:nvSpPr>
        <p:spPr bwMode="auto">
          <a:xfrm>
            <a:off x="304800" y="762000"/>
            <a:ext cx="914400" cy="457200"/>
          </a:xfrm>
          <a:prstGeom prst="lightningBol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דוגמא: מימוש </a:t>
            </a:r>
            <a:r>
              <a:rPr lang="en-US" altLang="he-IL" smtClean="0"/>
              <a:t>strcmp</a:t>
            </a:r>
          </a:p>
        </p:txBody>
      </p:sp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6019800" y="62626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14693" name="Group 5"/>
          <p:cNvGraphicFramePr>
            <a:graphicFrameLocks noGrp="1"/>
          </p:cNvGraphicFramePr>
          <p:nvPr/>
        </p:nvGraphicFramePr>
        <p:xfrm>
          <a:off x="6477000" y="3352800"/>
          <a:ext cx="2514600" cy="2926000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str1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</a:t>
                      </a: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1003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str2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1007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4731" name="Group 43"/>
          <p:cNvGraphicFramePr>
            <a:graphicFrameLocks noGrp="1"/>
          </p:cNvGraphicFramePr>
          <p:nvPr/>
        </p:nvGraphicFramePr>
        <p:xfrm>
          <a:off x="6477000" y="3352800"/>
          <a:ext cx="2514600" cy="2926000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str1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1003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str2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1007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4768" name="Rectangle 80"/>
          <p:cNvSpPr>
            <a:spLocks noChangeArrowheads="1"/>
          </p:cNvSpPr>
          <p:nvPr/>
        </p:nvSpPr>
        <p:spPr bwMode="auto">
          <a:xfrm>
            <a:off x="4191000" y="5988050"/>
            <a:ext cx="2466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sz="1600" noProof="1">
                <a:latin typeface="Verdana" pitchFamily="34" charset="0"/>
              </a:rPr>
              <a:t>myStrcmp(str2, str1))</a:t>
            </a:r>
            <a:endParaRPr lang="en-US" altLang="he-IL" sz="1600">
              <a:latin typeface="Verdana" pitchFamily="34" charset="0"/>
            </a:endParaRPr>
          </a:p>
        </p:txBody>
      </p:sp>
      <p:pic>
        <p:nvPicPr>
          <p:cNvPr id="114812" name="Picture 1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597400"/>
            <a:ext cx="40386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44" name="AutoShape 125"/>
          <p:cNvSpPr>
            <a:spLocks noChangeArrowheads="1"/>
          </p:cNvSpPr>
          <p:nvPr/>
        </p:nvSpPr>
        <p:spPr bwMode="auto">
          <a:xfrm>
            <a:off x="304800" y="762000"/>
            <a:ext cx="914400" cy="457200"/>
          </a:xfrm>
          <a:prstGeom prst="lightningBol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3694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rtl="1" eaLnBrk="1" hangingPunct="1"/>
            <a:fld id="{F54264AC-4849-4303-BAB0-B6272A3BA046}" type="slidenum">
              <a:rPr lang="he-IL" altLang="he-IL" smtClean="0">
                <a:latin typeface="Verdana" pitchFamily="34" charset="0"/>
              </a:rPr>
              <a:pPr rtl="1" eaLnBrk="1" hangingPunct="1"/>
              <a:t>33</a:t>
            </a:fld>
            <a:endParaRPr lang="he-IL" altLang="he-IL" dirty="0" smtClean="0">
              <a:latin typeface="Verdana" pitchFamily="34" charset="0"/>
            </a:endParaRPr>
          </a:p>
          <a:p>
            <a:pPr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int myStrcmp(char str1[], char str2[])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while (*str1 == *str2)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{</a:t>
            </a:r>
            <a:endParaRPr lang="he-IL" altLang="he-IL" sz="160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he-IL" altLang="he-IL" sz="1600" smtClean="0"/>
              <a:t>		</a:t>
            </a:r>
            <a:r>
              <a:rPr lang="en-US" altLang="he-IL" sz="1600" noProof="1" smtClean="0"/>
              <a:t>if (*str1 == '\0')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</a:t>
            </a:r>
            <a:r>
              <a:rPr lang="en-US" altLang="he-IL" sz="1600" smtClean="0"/>
              <a:t>    </a:t>
            </a:r>
            <a:r>
              <a:rPr lang="en-US" altLang="he-IL" sz="1600" noProof="1" smtClean="0"/>
              <a:t>return 0;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str1++;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str2++;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if (*str1 &lt; *str2)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return -1;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return 1;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char str1[4] = "Hi", str2[4]="Hii";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printf(“</a:t>
            </a:r>
            <a:r>
              <a:rPr lang="en-US" altLang="he-IL" sz="1600" smtClean="0"/>
              <a:t>R</a:t>
            </a:r>
            <a:r>
              <a:rPr lang="en-US" altLang="he-IL" sz="1600" noProof="1" smtClean="0"/>
              <a:t>esult of strcmp: %d\n",                                  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 </a:t>
            </a:r>
            <a:r>
              <a:rPr lang="he-IL" altLang="he-IL" sz="1600" smtClean="0"/>
              <a:t>             </a:t>
            </a:r>
            <a:endParaRPr lang="en-US" altLang="he-IL" sz="1600" smtClean="0"/>
          </a:p>
        </p:txBody>
      </p:sp>
      <p:sp>
        <p:nvSpPr>
          <p:cNvPr id="114769" name="Text Box 81"/>
          <p:cNvSpPr txBox="1">
            <a:spLocks noChangeArrowheads="1"/>
          </p:cNvSpPr>
          <p:nvPr/>
        </p:nvSpPr>
        <p:spPr bwMode="auto">
          <a:xfrm>
            <a:off x="5029200" y="263525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myStrcmp</a:t>
            </a:r>
          </a:p>
        </p:txBody>
      </p:sp>
      <p:graphicFrame>
        <p:nvGraphicFramePr>
          <p:cNvPr id="114770" name="Group 82"/>
          <p:cNvGraphicFramePr>
            <a:graphicFrameLocks noGrp="1"/>
          </p:cNvGraphicFramePr>
          <p:nvPr/>
        </p:nvGraphicFramePr>
        <p:xfrm>
          <a:off x="5486400" y="1905000"/>
          <a:ext cx="2667000" cy="731838"/>
        </p:xfrm>
        <a:graphic>
          <a:graphicData uri="http://schemas.openxmlformats.org/drawingml/2006/table">
            <a:tbl>
              <a:tblPr/>
              <a:tblGrid>
                <a:gridCol w="1295400"/>
                <a:gridCol w="806450"/>
                <a:gridCol w="56515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str1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str2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4784" name="Group 96"/>
          <p:cNvGraphicFramePr>
            <a:graphicFrameLocks noGrp="1"/>
          </p:cNvGraphicFramePr>
          <p:nvPr/>
        </p:nvGraphicFramePr>
        <p:xfrm>
          <a:off x="5486400" y="1905000"/>
          <a:ext cx="2667000" cy="731838"/>
        </p:xfrm>
        <a:graphic>
          <a:graphicData uri="http://schemas.openxmlformats.org/drawingml/2006/table">
            <a:tbl>
              <a:tblPr/>
              <a:tblGrid>
                <a:gridCol w="1295400"/>
                <a:gridCol w="806450"/>
                <a:gridCol w="56515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str1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str2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4798" name="Group 110"/>
          <p:cNvGraphicFramePr>
            <a:graphicFrameLocks noGrp="1"/>
          </p:cNvGraphicFramePr>
          <p:nvPr/>
        </p:nvGraphicFramePr>
        <p:xfrm>
          <a:off x="5486400" y="1905000"/>
          <a:ext cx="2667000" cy="731838"/>
        </p:xfrm>
        <a:graphic>
          <a:graphicData uri="http://schemas.openxmlformats.org/drawingml/2006/table">
            <a:tbl>
              <a:tblPr/>
              <a:tblGrid>
                <a:gridCol w="1295400"/>
                <a:gridCol w="806450"/>
                <a:gridCol w="56515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str1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str2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דוגמא: מימוש </a:t>
            </a:r>
            <a:r>
              <a:rPr lang="en-US" altLang="he-IL" smtClean="0"/>
              <a:t>strcat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9144000" cy="5105400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dirty="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dirty="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dirty="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MyStrcat(char dest[], char src[])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MyStrcpy(dest+strlen(dest), src);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20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void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char str1[</a:t>
            </a:r>
            <a:r>
              <a:rPr lang="he-IL" altLang="he-IL" sz="2000" dirty="0" smtClean="0"/>
              <a:t>6</a:t>
            </a:r>
            <a:r>
              <a:rPr lang="en-US" altLang="he-IL" sz="2000" noProof="1" smtClean="0"/>
              <a:t>] = "Hi", str2[</a:t>
            </a:r>
            <a:r>
              <a:rPr lang="he-IL" altLang="he-IL" sz="2000" dirty="0" smtClean="0"/>
              <a:t>4</a:t>
            </a:r>
            <a:r>
              <a:rPr lang="en-US" altLang="he-IL" sz="2000" noProof="1" smtClean="0"/>
              <a:t>]="You";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printf("Before: str1=|%s|, str2=|%s|\n", str1, str2);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MyStrcat(str1, str2);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	printf("After: str1=|%s|, str2=|%s|\n", str1, str2); 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noProof="1" smtClean="0"/>
              <a:t>}</a:t>
            </a:r>
            <a:endParaRPr lang="en-US" altLang="he-IL" sz="2000" dirty="0" smtClean="0"/>
          </a:p>
        </p:txBody>
      </p:sp>
      <p:sp>
        <p:nvSpPr>
          <p:cNvPr id="113706" name="Text Box 42"/>
          <p:cNvSpPr txBox="1">
            <a:spLocks noChangeArrowheads="1"/>
          </p:cNvSpPr>
          <p:nvPr/>
        </p:nvSpPr>
        <p:spPr bwMode="auto">
          <a:xfrm>
            <a:off x="6019800" y="49672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13759" name="Group 95"/>
          <p:cNvGraphicFramePr>
            <a:graphicFrameLocks noGrp="1"/>
          </p:cNvGraphicFramePr>
          <p:nvPr/>
        </p:nvGraphicFramePr>
        <p:xfrm>
          <a:off x="6553200" y="1377950"/>
          <a:ext cx="2514600" cy="3657600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str1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1003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str2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1007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1009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3807" name="Group 143"/>
          <p:cNvGraphicFramePr>
            <a:graphicFrameLocks noGrp="1"/>
          </p:cNvGraphicFramePr>
          <p:nvPr/>
        </p:nvGraphicFramePr>
        <p:xfrm>
          <a:off x="6553200" y="1377950"/>
          <a:ext cx="2514600" cy="3657600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str1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1003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str2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‘Y’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‘o’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1007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‘u’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1009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853" name="Text Box 189"/>
          <p:cNvSpPr txBox="1">
            <a:spLocks noChangeArrowheads="1"/>
          </p:cNvSpPr>
          <p:nvPr/>
        </p:nvSpPr>
        <p:spPr bwMode="auto">
          <a:xfrm>
            <a:off x="3276600" y="454025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myStrcat</a:t>
            </a:r>
          </a:p>
        </p:txBody>
      </p:sp>
      <p:graphicFrame>
        <p:nvGraphicFramePr>
          <p:cNvPr id="113854" name="Group 190"/>
          <p:cNvGraphicFramePr>
            <a:graphicFrameLocks noGrp="1"/>
          </p:cNvGraphicFramePr>
          <p:nvPr/>
        </p:nvGraphicFramePr>
        <p:xfrm>
          <a:off x="3733800" y="3810000"/>
          <a:ext cx="2667000" cy="731838"/>
        </p:xfrm>
        <a:graphic>
          <a:graphicData uri="http://schemas.openxmlformats.org/drawingml/2006/table">
            <a:tbl>
              <a:tblPr/>
              <a:tblGrid>
                <a:gridCol w="1295400"/>
                <a:gridCol w="806450"/>
                <a:gridCol w="56515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dest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src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867" name="AutoShape 203"/>
          <p:cNvSpPr>
            <a:spLocks/>
          </p:cNvSpPr>
          <p:nvPr/>
        </p:nvSpPr>
        <p:spPr bwMode="auto">
          <a:xfrm rot="-5400000">
            <a:off x="2914650" y="2609850"/>
            <a:ext cx="266700" cy="1524000"/>
          </a:xfrm>
          <a:prstGeom prst="rightBrace">
            <a:avLst>
              <a:gd name="adj1" fmla="val 47619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13868" name="Text Box 204"/>
          <p:cNvSpPr txBox="1">
            <a:spLocks noChangeArrowheads="1"/>
          </p:cNvSpPr>
          <p:nvPr/>
        </p:nvSpPr>
        <p:spPr bwMode="auto">
          <a:xfrm>
            <a:off x="2895600" y="29718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3869" name="AutoShape 205"/>
          <p:cNvSpPr>
            <a:spLocks/>
          </p:cNvSpPr>
          <p:nvPr/>
        </p:nvSpPr>
        <p:spPr bwMode="auto">
          <a:xfrm rot="5400000">
            <a:off x="2495550" y="2686050"/>
            <a:ext cx="266700" cy="2209800"/>
          </a:xfrm>
          <a:prstGeom prst="rightBrace">
            <a:avLst>
              <a:gd name="adj1" fmla="val 6904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13870" name="Text Box 206"/>
          <p:cNvSpPr txBox="1">
            <a:spLocks noChangeArrowheads="1"/>
          </p:cNvSpPr>
          <p:nvPr/>
        </p:nvSpPr>
        <p:spPr bwMode="auto">
          <a:xfrm>
            <a:off x="2362200" y="38862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b="1">
                <a:solidFill>
                  <a:srgbClr val="FF0000"/>
                </a:solidFill>
              </a:rPr>
              <a:t>1002</a:t>
            </a:r>
          </a:p>
        </p:txBody>
      </p:sp>
      <p:graphicFrame>
        <p:nvGraphicFramePr>
          <p:cNvPr id="113918" name="Group 254"/>
          <p:cNvGraphicFramePr>
            <a:graphicFrameLocks noGrp="1"/>
          </p:cNvGraphicFramePr>
          <p:nvPr/>
        </p:nvGraphicFramePr>
        <p:xfrm>
          <a:off x="6553200" y="1377950"/>
          <a:ext cx="2514600" cy="3657600"/>
        </p:xfrm>
        <a:graphic>
          <a:graphicData uri="http://schemas.openxmlformats.org/drawingml/2006/table">
            <a:tbl>
              <a:tblPr/>
              <a:tblGrid>
                <a:gridCol w="1298575"/>
                <a:gridCol w="609600"/>
                <a:gridCol w="60642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str1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‘Y’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‘o’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1003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‘u’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1005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str2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‘Y’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‘o’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1007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‘u’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1009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046" name="AutoShape 299"/>
          <p:cNvSpPr>
            <a:spLocks noChangeArrowheads="1"/>
          </p:cNvSpPr>
          <p:nvPr/>
        </p:nvSpPr>
        <p:spPr bwMode="auto">
          <a:xfrm>
            <a:off x="304800" y="838200"/>
            <a:ext cx="914400" cy="457200"/>
          </a:xfrm>
          <a:prstGeom prst="lightningBol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3804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D5B6A44C-B0E7-435A-AA43-F49AFBC54249}" type="slidenum">
              <a:rPr lang="he-IL" altLang="he-IL" smtClean="0">
                <a:latin typeface="Verdana" pitchFamily="34" charset="0"/>
              </a:rPr>
              <a:pPr algn="r" rtl="1" eaLnBrk="1" hangingPunct="1"/>
              <a:t>34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pic>
        <p:nvPicPr>
          <p:cNvPr id="38049" name="Picture 1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560228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החזרת מערך מפונקציה</a:t>
            </a:r>
            <a:endParaRPr lang="en-US" altLang="he-IL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dirty="0" smtClean="0"/>
              <a:t>פונקציה יכולה להחזיר כל טיפוס, פרט למערך (בינתיים)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ראינו שכאשר פונים לשם המערך, פונים לכתובת ההתחלה שלו.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כאשר מעבירים מערך לפונקציה, מעבירים רק את כתובת ההתחלה שלו, ולא עותק של כל המערך.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ובאופן דומה, כאשר מחזירים מערך שהוגדר בפונקציה, חוזרת כתובת ההתחלה שלו, ולא עותק של כל המערך.</a:t>
            </a:r>
          </a:p>
          <a:p>
            <a:pPr>
              <a:lnSpc>
                <a:spcPct val="90000"/>
              </a:lnSpc>
            </a:pPr>
            <a:r>
              <a:rPr lang="he-IL" altLang="he-IL" u="sng" dirty="0" smtClean="0"/>
              <a:t>הבעייתיות:</a:t>
            </a:r>
            <a:r>
              <a:rPr lang="he-IL" altLang="he-IL" dirty="0" smtClean="0"/>
              <a:t> כאשר יוצאים מהפונקציה שטח הזיכרון שלה משתחרר ויש לנו מצביע לזיכרון שנמחק...</a:t>
            </a:r>
          </a:p>
          <a:p>
            <a:pPr>
              <a:lnSpc>
                <a:spcPct val="90000"/>
              </a:lnSpc>
            </a:pPr>
            <a:r>
              <a:rPr lang="he-IL" altLang="he-IL" u="sng" dirty="0" smtClean="0"/>
              <a:t>הפתרון:</a:t>
            </a:r>
            <a:r>
              <a:rPr lang="he-IL" altLang="he-IL" dirty="0" smtClean="0"/>
              <a:t> כאשר נלמד על הקצאות דינאמיות.</a:t>
            </a:r>
            <a:endParaRPr lang="en-US" altLang="he-IL" u="sng" dirty="0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2A9450C2-1A19-480B-9ECD-D15D37797155}" type="slidenum">
              <a:rPr lang="he-IL" altLang="he-IL" smtClean="0">
                <a:latin typeface="Verdana" pitchFamily="34" charset="0"/>
              </a:rPr>
              <a:pPr algn="r" rtl="1" eaLnBrk="1" hangingPunct="1"/>
              <a:t>35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החזרת מערך מפונקציה - דוגמא</a:t>
            </a:r>
            <a:endParaRPr lang="en-US" altLang="he-IL" smtClean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#define SIZE </a:t>
            </a:r>
            <a:r>
              <a:rPr lang="en-US" altLang="he-IL" sz="1600" dirty="0" smtClean="0"/>
              <a:t>3</a:t>
            </a: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int* ReadArray()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 arr[SIZE],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printf("Please enter %d numbers: ", 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scanf("%d", &amp;arr[i]);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return arr;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int* arr,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arr =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printf("The array is: 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printf("%d ", 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  <a:endParaRPr lang="en-US" altLang="he-IL" sz="1600" dirty="0" smtClean="0"/>
          </a:p>
        </p:txBody>
      </p:sp>
      <p:sp>
        <p:nvSpPr>
          <p:cNvPr id="123908" name="AutoShape 4"/>
          <p:cNvSpPr>
            <a:spLocks noChangeArrowheads="1"/>
          </p:cNvSpPr>
          <p:nvPr/>
        </p:nvSpPr>
        <p:spPr bwMode="auto">
          <a:xfrm>
            <a:off x="3124200" y="3505200"/>
            <a:ext cx="5943600" cy="914400"/>
          </a:xfrm>
          <a:prstGeom prst="wedgeRectCallout">
            <a:avLst>
              <a:gd name="adj1" fmla="val -71954"/>
              <a:gd name="adj2" fmla="val -47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הקומפיילר נותן </a:t>
            </a:r>
            <a:r>
              <a:rPr lang="en-US" altLang="he-IL" b="1">
                <a:solidFill>
                  <a:schemeClr val="bg1"/>
                </a:solidFill>
              </a:rPr>
              <a:t>warning</a:t>
            </a:r>
            <a:r>
              <a:rPr lang="he-IL" altLang="he-IL" b="1">
                <a:solidFill>
                  <a:schemeClr val="bg1"/>
                </a:solidFill>
              </a:rPr>
              <a:t>:</a:t>
            </a:r>
          </a:p>
          <a:p>
            <a:pPr algn="ctr" rtl="1" eaLnBrk="1" hangingPunct="1"/>
            <a:r>
              <a:rPr lang="en-US" altLang="he-IL" b="1" noProof="1">
                <a:solidFill>
                  <a:schemeClr val="bg1"/>
                </a:solidFill>
              </a:rPr>
              <a:t>returning address of local variable or temporary</a:t>
            </a:r>
            <a:endParaRPr lang="he-IL" altLang="he-IL" b="1">
              <a:solidFill>
                <a:schemeClr val="bg1"/>
              </a:solidFill>
            </a:endParaRP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שפירושה שאנחנו מחזירים כתובת למשתנה בזיכרון שישתחרר</a:t>
            </a:r>
          </a:p>
          <a:p>
            <a:pPr algn="ctr" rtl="1" eaLnBrk="1" hangingPunct="1"/>
            <a:endParaRPr lang="he-IL" altLang="he-IL" b="1">
              <a:solidFill>
                <a:schemeClr val="bg1"/>
              </a:solidFill>
            </a:endParaRPr>
          </a:p>
          <a:p>
            <a:pPr algn="ctr" rtl="1" eaLnBrk="1" hangingPunct="1"/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23910" name="Text Box 6"/>
          <p:cNvSpPr txBox="1">
            <a:spLocks noChangeArrowheads="1"/>
          </p:cNvSpPr>
          <p:nvPr/>
        </p:nvSpPr>
        <p:spPr bwMode="auto">
          <a:xfrm>
            <a:off x="5943600" y="62484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5867400" y="30749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readArray</a:t>
            </a:r>
          </a:p>
        </p:txBody>
      </p:sp>
      <p:graphicFrame>
        <p:nvGraphicFramePr>
          <p:cNvPr id="123969" name="Group 65"/>
          <p:cNvGraphicFramePr>
            <a:graphicFrameLocks noGrp="1"/>
          </p:cNvGraphicFramePr>
          <p:nvPr/>
        </p:nvGraphicFramePr>
        <p:xfrm>
          <a:off x="6553200" y="16764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4032" name="Group 128"/>
          <p:cNvGraphicFramePr>
            <a:graphicFrameLocks noGrp="1"/>
          </p:cNvGraphicFramePr>
          <p:nvPr/>
        </p:nvGraphicFramePr>
        <p:xfrm>
          <a:off x="6629400" y="5518150"/>
          <a:ext cx="2362200" cy="731838"/>
        </p:xfrm>
        <a:graphic>
          <a:graphicData uri="http://schemas.openxmlformats.org/drawingml/2006/table">
            <a:tbl>
              <a:tblPr/>
              <a:tblGrid>
                <a:gridCol w="977900"/>
                <a:gridCol w="8143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23951" name="Picture 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447800"/>
            <a:ext cx="39624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970" name="Rectangle 66"/>
          <p:cNvSpPr>
            <a:spLocks noChangeArrowheads="1"/>
          </p:cNvSpPr>
          <p:nvPr/>
        </p:nvSpPr>
        <p:spPr bwMode="auto">
          <a:xfrm>
            <a:off x="3581400" y="4800600"/>
            <a:ext cx="26670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לעולם לא נחזיר מפונקציה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 כתובת של משתנה 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שהוגדר מקומית בפונקציה!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23971" name="Text Box 67"/>
          <p:cNvSpPr txBox="1">
            <a:spLocks noChangeArrowheads="1"/>
          </p:cNvSpPr>
          <p:nvPr/>
        </p:nvSpPr>
        <p:spPr bwMode="auto">
          <a:xfrm>
            <a:off x="1219200" y="4800600"/>
            <a:ext cx="1981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dirty="0" err="1">
                <a:latin typeface="Verdana" pitchFamily="34" charset="0"/>
              </a:rPr>
              <a:t>R</a:t>
            </a:r>
            <a:r>
              <a:rPr lang="en-US" altLang="he-IL" sz="1600" dirty="0" err="1" smtClean="0">
                <a:latin typeface="Verdana" pitchFamily="34" charset="0"/>
              </a:rPr>
              <a:t>eadArray</a:t>
            </a:r>
            <a:r>
              <a:rPr lang="en-US" altLang="he-IL" sz="1600" dirty="0">
                <a:latin typeface="Verdana" pitchFamily="34" charset="0"/>
              </a:rPr>
              <a:t>();</a:t>
            </a:r>
          </a:p>
        </p:txBody>
      </p:sp>
      <p:graphicFrame>
        <p:nvGraphicFramePr>
          <p:cNvPr id="123995" name="Group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761206"/>
              </p:ext>
            </p:extLst>
          </p:nvPr>
        </p:nvGraphicFramePr>
        <p:xfrm>
          <a:off x="6553200" y="16764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4048" name="Group 144"/>
          <p:cNvGraphicFramePr>
            <a:graphicFrameLocks noGrp="1"/>
          </p:cNvGraphicFramePr>
          <p:nvPr/>
        </p:nvGraphicFramePr>
        <p:xfrm>
          <a:off x="6629400" y="5518150"/>
          <a:ext cx="2362200" cy="731838"/>
        </p:xfrm>
        <a:graphic>
          <a:graphicData uri="http://schemas.openxmlformats.org/drawingml/2006/table">
            <a:tbl>
              <a:tblPr/>
              <a:tblGrid>
                <a:gridCol w="977900"/>
                <a:gridCol w="8143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2000</a:t>
                      </a: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0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rtl="1" eaLnBrk="1" hangingPunct="1"/>
            <a:fld id="{23B26960-280F-4CFD-9F20-1F96EDE067B9}" type="slidenum">
              <a:rPr lang="he-IL" altLang="he-IL" smtClean="0">
                <a:latin typeface="Verdana" pitchFamily="34" charset="0"/>
              </a:rPr>
              <a:pPr rtl="1" eaLnBrk="1" hangingPunct="1"/>
              <a:t>36</a:t>
            </a:fld>
            <a:endParaRPr lang="he-IL" altLang="he-IL" dirty="0" smtClean="0">
              <a:latin typeface="Verdana" pitchFamily="34" charset="0"/>
            </a:endParaRPr>
          </a:p>
          <a:p>
            <a:pPr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dirty="0" smtClean="0"/>
              <a:t>העברת מטריצה לפונקציה המקבלת מערך (</a:t>
            </a:r>
            <a:r>
              <a:rPr lang="en-US" altLang="he-IL" dirty="0" smtClean="0"/>
              <a:t>I</a:t>
            </a:r>
            <a:r>
              <a:rPr lang="he-IL" altLang="he-IL" dirty="0" smtClean="0"/>
              <a:t>)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</p:spPr>
        <p:txBody>
          <a:bodyPr/>
          <a:lstStyle/>
          <a:p>
            <a:r>
              <a:rPr lang="he-IL" altLang="he-IL" dirty="0" smtClean="0"/>
              <a:t>מטריצה היא למעשה מערך דו-</a:t>
            </a:r>
            <a:r>
              <a:rPr lang="he-IL" altLang="he-IL" dirty="0" err="1" smtClean="0"/>
              <a:t>מימדי</a:t>
            </a:r>
            <a:r>
              <a:rPr lang="he-IL" altLang="he-IL" dirty="0" smtClean="0"/>
              <a:t>: שורות ועמודות</a:t>
            </a:r>
          </a:p>
          <a:p>
            <a:pPr>
              <a:buFont typeface="Wingdings" pitchFamily="2" charset="2"/>
              <a:buNone/>
            </a:pPr>
            <a:endParaRPr lang="he-IL" altLang="he-IL" dirty="0" smtClean="0"/>
          </a:p>
          <a:p>
            <a:pPr>
              <a:buFont typeface="Wingdings" pitchFamily="2" charset="2"/>
              <a:buNone/>
            </a:pPr>
            <a:endParaRPr lang="he-IL" altLang="he-IL" dirty="0" smtClean="0"/>
          </a:p>
          <a:p>
            <a:endParaRPr lang="he-IL" altLang="he-IL" dirty="0" smtClean="0"/>
          </a:p>
          <a:p>
            <a:r>
              <a:rPr lang="he-IL" altLang="he-IL" dirty="0" smtClean="0"/>
              <a:t>ניתן גם להסתכל עליה כמערך של מערכים, כאשר כל איבר הוא מערך חד-</a:t>
            </a:r>
            <a:r>
              <a:rPr lang="he-IL" altLang="he-IL" dirty="0" err="1" smtClean="0"/>
              <a:t>מימדי</a:t>
            </a:r>
            <a:r>
              <a:rPr lang="he-IL" altLang="he-IL" dirty="0" smtClean="0"/>
              <a:t>.</a:t>
            </a:r>
          </a:p>
          <a:p>
            <a:endParaRPr lang="he-IL" altLang="he-IL" dirty="0" smtClean="0"/>
          </a:p>
          <a:p>
            <a:r>
              <a:rPr lang="he-IL" altLang="he-IL" dirty="0" smtClean="0"/>
              <a:t>לכן ניתן לשלוח כל איבר בה (שהוא מערך בפני עצמו) לפונקציה המקבלת מערך חד-</a:t>
            </a:r>
            <a:r>
              <a:rPr lang="he-IL" altLang="he-IL" dirty="0" err="1" smtClean="0"/>
              <a:t>מימדי</a:t>
            </a:r>
            <a:r>
              <a:rPr lang="he-IL" altLang="he-IL" dirty="0" smtClean="0"/>
              <a:t>.</a:t>
            </a: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48FA19C1-7882-4B9D-B3D9-30A43173231F}" type="slidenum">
              <a:rPr lang="he-IL" altLang="he-IL" smtClean="0">
                <a:latin typeface="Verdana" pitchFamily="34" charset="0"/>
              </a:rPr>
              <a:pPr algn="r" rtl="1" eaLnBrk="1" hangingPunct="1"/>
              <a:t>37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52800" y="2209800"/>
          <a:ext cx="2667000" cy="111283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66750"/>
                <a:gridCol w="666750"/>
                <a:gridCol w="666750"/>
                <a:gridCol w="666750"/>
              </a:tblGrid>
              <a:tr h="370946">
                <a:tc>
                  <a:txBody>
                    <a:bodyPr/>
                    <a:lstStyle/>
                    <a:p>
                      <a:pPr rtl="1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[0,0]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352800" y="2209800"/>
            <a:ext cx="2667000" cy="3810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352800" y="2590800"/>
            <a:ext cx="2667000" cy="3810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352800" y="2971800"/>
            <a:ext cx="2667000" cy="3810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dirty="0" smtClean="0"/>
              <a:t>העברת מטריצה לפונקציה המקבלת מערך(</a:t>
            </a:r>
            <a:r>
              <a:rPr lang="en-US" altLang="he-IL" dirty="0" smtClean="0"/>
              <a:t>II</a:t>
            </a:r>
            <a:r>
              <a:rPr lang="he-IL" altLang="he-IL" dirty="0"/>
              <a:t>)</a:t>
            </a:r>
            <a:endParaRPr lang="he-IL" altLang="he-IL" dirty="0" smtClean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530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en-US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#define SIZE 3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void </a:t>
            </a:r>
            <a:r>
              <a:rPr lang="en-US" altLang="he-IL" sz="1800" dirty="0" err="1"/>
              <a:t>P</a:t>
            </a:r>
            <a:r>
              <a:rPr lang="en-US" altLang="he-IL" sz="1800" dirty="0" err="1" smtClean="0"/>
              <a:t>rintMatrix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mat[][SIZE], 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rows)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{</a:t>
            </a: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, j;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nn-NO" altLang="he-IL" sz="1800" dirty="0" smtClean="0"/>
              <a:t>	for (i=0 ; i &lt; rows ; i++)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	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	for (j=0 ; j &lt; SIZE; </a:t>
            </a:r>
            <a:r>
              <a:rPr lang="en-US" altLang="he-IL" sz="1800" dirty="0" err="1" smtClean="0"/>
              <a:t>j++</a:t>
            </a:r>
            <a:r>
              <a:rPr lang="en-US" altLang="he-IL" sz="1800" dirty="0" smtClean="0"/>
              <a:t>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	     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("%4d", mat[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][j]);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	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("\n");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	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/>
              <a:t>G</a:t>
            </a:r>
            <a:r>
              <a:rPr lang="en-US" altLang="he-IL" sz="1800" dirty="0" err="1" smtClean="0"/>
              <a:t>etMax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* 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, 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size)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, max=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[0];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nn-NO" altLang="he-IL" sz="1800" dirty="0" smtClean="0"/>
              <a:t>	for (i=1 ; i &lt; size ; i++)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	if 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 &gt; max)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		max = 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return max;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1827E3D1-0F4B-439A-872A-933B7A91F3ED}" type="slidenum">
              <a:rPr lang="he-IL" altLang="he-IL" smtClean="0">
                <a:latin typeface="Verdana" pitchFamily="34" charset="0"/>
              </a:rPr>
              <a:pPr algn="r" rtl="1" eaLnBrk="1" hangingPunct="1"/>
              <a:t>38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029200" y="4267200"/>
            <a:ext cx="48006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endParaRPr lang="he-IL" kern="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kern="0" dirty="0">
                <a:latin typeface="+mn-lt"/>
                <a:cs typeface="+mn-cs"/>
              </a:rPr>
              <a:t>void </a:t>
            </a:r>
            <a:r>
              <a:rPr lang="en-US" kern="0" dirty="0" err="1">
                <a:latin typeface="+mn-lt"/>
                <a:cs typeface="+mn-cs"/>
              </a:rPr>
              <a:t>P</a:t>
            </a:r>
            <a:r>
              <a:rPr lang="en-US" kern="0" dirty="0" err="1" smtClean="0">
                <a:latin typeface="+mn-lt"/>
                <a:cs typeface="+mn-cs"/>
              </a:rPr>
              <a:t>rintArr</a:t>
            </a:r>
            <a:r>
              <a:rPr lang="en-US" kern="0" dirty="0" smtClean="0">
                <a:latin typeface="+mn-lt"/>
                <a:cs typeface="+mn-cs"/>
              </a:rPr>
              <a:t>(</a:t>
            </a:r>
            <a:r>
              <a:rPr lang="en-US" kern="0" dirty="0" err="1" smtClean="0">
                <a:latin typeface="+mn-lt"/>
                <a:cs typeface="+mn-cs"/>
              </a:rPr>
              <a:t>int</a:t>
            </a:r>
            <a:r>
              <a:rPr lang="en-US" kern="0" dirty="0">
                <a:latin typeface="+mn-lt"/>
                <a:cs typeface="+mn-cs"/>
              </a:rPr>
              <a:t>* </a:t>
            </a:r>
            <a:r>
              <a:rPr lang="en-US" kern="0" dirty="0" err="1">
                <a:latin typeface="+mn-lt"/>
                <a:cs typeface="+mn-cs"/>
              </a:rPr>
              <a:t>arr</a:t>
            </a:r>
            <a:r>
              <a:rPr lang="en-US" kern="0" dirty="0">
                <a:latin typeface="+mn-lt"/>
                <a:cs typeface="+mn-cs"/>
              </a:rPr>
              <a:t>, </a:t>
            </a:r>
            <a:r>
              <a:rPr lang="en-US" kern="0" dirty="0" err="1">
                <a:latin typeface="+mn-lt"/>
                <a:cs typeface="+mn-cs"/>
              </a:rPr>
              <a:t>int</a:t>
            </a:r>
            <a:r>
              <a:rPr lang="en-US" kern="0" dirty="0">
                <a:latin typeface="+mn-lt"/>
                <a:cs typeface="+mn-cs"/>
              </a:rPr>
              <a:t> size)</a:t>
            </a:r>
          </a:p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he-IL" kern="0" dirty="0">
                <a:latin typeface="+mn-lt"/>
                <a:cs typeface="+mn-cs"/>
              </a:rPr>
              <a:t>}</a:t>
            </a:r>
          </a:p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kern="0" dirty="0">
                <a:latin typeface="+mn-lt"/>
                <a:cs typeface="+mn-cs"/>
              </a:rPr>
              <a:t>	</a:t>
            </a:r>
            <a:r>
              <a:rPr lang="en-US" kern="0" dirty="0" err="1">
                <a:latin typeface="+mn-lt"/>
                <a:cs typeface="+mn-cs"/>
              </a:rPr>
              <a:t>int</a:t>
            </a:r>
            <a:r>
              <a:rPr lang="en-US" kern="0" dirty="0">
                <a:latin typeface="+mn-lt"/>
                <a:cs typeface="+mn-cs"/>
              </a:rPr>
              <a:t> </a:t>
            </a:r>
            <a:r>
              <a:rPr lang="en-US" kern="0" dirty="0" err="1">
                <a:latin typeface="+mn-lt"/>
                <a:cs typeface="+mn-cs"/>
              </a:rPr>
              <a:t>i</a:t>
            </a:r>
            <a:r>
              <a:rPr lang="en-US" kern="0" dirty="0">
                <a:latin typeface="+mn-lt"/>
                <a:cs typeface="+mn-cs"/>
              </a:rPr>
              <a:t>;</a:t>
            </a:r>
          </a:p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nn-NO" kern="0" dirty="0">
                <a:latin typeface="+mn-lt"/>
                <a:cs typeface="+mn-cs"/>
              </a:rPr>
              <a:t>	for (i=0 ; i &lt; size ; i++)</a:t>
            </a:r>
          </a:p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kern="0" dirty="0">
                <a:latin typeface="+mn-lt"/>
                <a:cs typeface="+mn-cs"/>
              </a:rPr>
              <a:t>		</a:t>
            </a:r>
            <a:r>
              <a:rPr lang="en-US" kern="0" dirty="0" err="1">
                <a:latin typeface="+mn-lt"/>
                <a:cs typeface="+mn-cs"/>
              </a:rPr>
              <a:t>printf</a:t>
            </a:r>
            <a:r>
              <a:rPr lang="en-US" kern="0" dirty="0">
                <a:latin typeface="+mn-lt"/>
                <a:cs typeface="+mn-cs"/>
              </a:rPr>
              <a:t>("%d ", </a:t>
            </a:r>
            <a:r>
              <a:rPr lang="en-US" kern="0" dirty="0" err="1">
                <a:latin typeface="+mn-lt"/>
                <a:cs typeface="+mn-cs"/>
              </a:rPr>
              <a:t>arr</a:t>
            </a:r>
            <a:r>
              <a:rPr lang="en-US" kern="0" dirty="0">
                <a:latin typeface="+mn-lt"/>
                <a:cs typeface="+mn-cs"/>
              </a:rPr>
              <a:t>[</a:t>
            </a:r>
            <a:r>
              <a:rPr lang="en-US" kern="0" dirty="0" err="1">
                <a:latin typeface="+mn-lt"/>
                <a:cs typeface="+mn-cs"/>
              </a:rPr>
              <a:t>i</a:t>
            </a:r>
            <a:r>
              <a:rPr lang="en-US" kern="0" dirty="0">
                <a:latin typeface="+mn-lt"/>
                <a:cs typeface="+mn-cs"/>
              </a:rPr>
              <a:t>]);</a:t>
            </a:r>
          </a:p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kern="0" dirty="0">
                <a:latin typeface="+mn-lt"/>
                <a:cs typeface="+mn-cs"/>
              </a:rPr>
              <a:t>	</a:t>
            </a:r>
            <a:r>
              <a:rPr lang="en-US" kern="0" dirty="0" err="1">
                <a:latin typeface="+mn-lt"/>
                <a:cs typeface="+mn-cs"/>
              </a:rPr>
              <a:t>printf</a:t>
            </a:r>
            <a:r>
              <a:rPr lang="en-US" kern="0" dirty="0">
                <a:latin typeface="+mn-lt"/>
                <a:cs typeface="+mn-cs"/>
              </a:rPr>
              <a:t>("\n");</a:t>
            </a:r>
          </a:p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he-IL" kern="0" dirty="0">
                <a:latin typeface="+mn-lt"/>
                <a:cs typeface="+mn-cs"/>
              </a:rPr>
              <a:t>{</a:t>
            </a:r>
          </a:p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endParaRPr lang="he-IL" kern="0" dirty="0">
              <a:latin typeface="+mn-lt"/>
              <a:cs typeface="+mn-cs"/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381000" y="1371600"/>
            <a:ext cx="8458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8382000" cy="5673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Garamond" pitchFamily="18" charset="0"/>
              <a:buAutoNum type="arabicPeriod"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void main()</a:t>
            </a:r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he-IL" altLang="he-IL" sz="1800" dirty="0" smtClean="0"/>
              <a:t>}</a:t>
            </a:r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    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, mat[SIZE][SIZE]=</a:t>
            </a:r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	{ {1,2,3}, {4,5,2}, {8,2,3} };</a:t>
            </a:r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     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("Matrix:\n");</a:t>
            </a:r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     </a:t>
            </a:r>
            <a:r>
              <a:rPr lang="en-US" altLang="he-IL" sz="1800" dirty="0" err="1"/>
              <a:t>P</a:t>
            </a:r>
            <a:r>
              <a:rPr lang="en-US" altLang="he-IL" sz="1800" dirty="0" err="1" smtClean="0"/>
              <a:t>rintMatrix</a:t>
            </a:r>
            <a:r>
              <a:rPr lang="en-US" altLang="he-IL" sz="1800" dirty="0" smtClean="0"/>
              <a:t>(mat, SIZE);</a:t>
            </a:r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pt-BR" altLang="he-IL" sz="1800" dirty="0" smtClean="0"/>
              <a:t>     printf("\nMatrix as arr:\n");</a:t>
            </a:r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     </a:t>
            </a:r>
            <a:r>
              <a:rPr lang="en-US" altLang="he-IL" sz="1800" dirty="0" err="1"/>
              <a:t>P</a:t>
            </a:r>
            <a:r>
              <a:rPr lang="en-US" altLang="he-IL" sz="1800" dirty="0" err="1" smtClean="0"/>
              <a:t>rintArr</a:t>
            </a:r>
            <a:r>
              <a:rPr lang="en-US" altLang="he-IL" sz="1800" dirty="0" smtClean="0"/>
              <a:t>((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*)mat, SIZE*SIZE);</a:t>
            </a:r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     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("\n");</a:t>
            </a:r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nn-NO" altLang="he-IL" sz="1800" dirty="0" smtClean="0"/>
              <a:t>     for (        ;               ;        )</a:t>
            </a:r>
            <a:endParaRPr lang="he-IL" altLang="he-IL" sz="1800" dirty="0" smtClean="0"/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	 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("The max in line #%d is %d\n", </a:t>
            </a:r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	       i+1,                                      );</a:t>
            </a:r>
          </a:p>
          <a:p>
            <a:pPr algn="l" rtl="0"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     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("\</a:t>
            </a:r>
            <a:r>
              <a:rPr lang="en-US" altLang="he-IL" sz="1800" dirty="0" err="1" smtClean="0"/>
              <a:t>nThe</a:t>
            </a:r>
            <a:r>
              <a:rPr lang="en-US" altLang="he-IL" sz="1800" dirty="0" smtClean="0"/>
              <a:t> max in the matrix is %d\n",   </a:t>
            </a:r>
          </a:p>
          <a:p>
            <a:pPr algn="l" rtl="0"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en-US" altLang="he-IL" sz="1800" dirty="0" smtClean="0"/>
              <a:t>                </a:t>
            </a:r>
            <a:r>
              <a:rPr lang="en-US" altLang="he-IL" sz="1800" dirty="0" err="1" smtClean="0"/>
              <a:t>getMax</a:t>
            </a:r>
            <a:r>
              <a:rPr lang="en-US" altLang="he-IL" sz="1800" dirty="0" smtClean="0"/>
              <a:t>((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*)mat, SIZE*SIZE));</a:t>
            </a:r>
            <a:endParaRPr lang="he-IL" altLang="he-IL" sz="1800" dirty="0" smtClean="0"/>
          </a:p>
          <a:p>
            <a:pPr algn="l" rtl="0">
              <a:spcBef>
                <a:spcPct val="0"/>
              </a:spcBef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he-IL" altLang="he-IL" sz="1800" dirty="0" smtClean="0"/>
              <a:t>{</a:t>
            </a:r>
          </a:p>
          <a:p>
            <a:pPr algn="l" rtl="0">
              <a:spcBef>
                <a:spcPct val="0"/>
              </a:spcBef>
              <a:buFont typeface="Garamond" pitchFamily="18" charset="0"/>
              <a:buAutoNum type="arabicPeriod"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Garamond" pitchFamily="18" charset="0"/>
              <a:buAutoNum type="arabicPeriod"/>
            </a:pPr>
            <a:endParaRPr lang="he-IL" altLang="he-IL" sz="1800" dirty="0" smtClean="0"/>
          </a:p>
        </p:txBody>
      </p:sp>
      <p:sp>
        <p:nvSpPr>
          <p:cNvPr id="43011" name="Title 1"/>
          <p:cNvSpPr>
            <a:spLocks noGrp="1"/>
          </p:cNvSpPr>
          <p:nvPr>
            <p:ph type="title"/>
          </p:nvPr>
        </p:nvSpPr>
        <p:spPr>
          <a:xfrm>
            <a:off x="838200" y="277813"/>
            <a:ext cx="8229600" cy="1139825"/>
          </a:xfrm>
        </p:spPr>
        <p:txBody>
          <a:bodyPr/>
          <a:lstStyle/>
          <a:p>
            <a:pPr algn="r"/>
            <a:r>
              <a:rPr lang="he-IL" altLang="he-IL" dirty="0" smtClean="0"/>
              <a:t>העברת מטריצה לפונקציה</a:t>
            </a:r>
            <a:br>
              <a:rPr lang="he-IL" altLang="he-IL" dirty="0" smtClean="0"/>
            </a:br>
            <a:r>
              <a:rPr lang="he-IL" altLang="he-IL" dirty="0" smtClean="0"/>
              <a:t>המקבלת מערך (</a:t>
            </a:r>
            <a:r>
              <a:rPr lang="en-US" altLang="he-IL" dirty="0" smtClean="0"/>
              <a:t>III</a:t>
            </a:r>
            <a:r>
              <a:rPr lang="he-IL" altLang="he-IL" dirty="0"/>
              <a:t>)</a:t>
            </a:r>
            <a:endParaRPr lang="he-IL" altLang="he-IL" dirty="0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34200" y="64770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84357323-025E-49A1-9D0E-B3EB37742C1B}" type="slidenum">
              <a:rPr lang="he-IL" altLang="he-IL" smtClean="0">
                <a:latin typeface="Verdana" pitchFamily="34" charset="0"/>
              </a:rPr>
              <a:pPr algn="r" rtl="1" eaLnBrk="1" hangingPunct="1"/>
              <a:t>39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graphicFrame>
        <p:nvGraphicFramePr>
          <p:cNvPr id="10" name="Group 607"/>
          <p:cNvGraphicFramePr>
            <a:graphicFrameLocks noGrp="1"/>
          </p:cNvGraphicFramePr>
          <p:nvPr/>
        </p:nvGraphicFramePr>
        <p:xfrm>
          <a:off x="6172200" y="1600200"/>
          <a:ext cx="2819400" cy="3657600"/>
        </p:xfrm>
        <a:graphic>
          <a:graphicData uri="http://schemas.openxmlformats.org/drawingml/2006/table">
            <a:tbl>
              <a:tblPr/>
              <a:tblGrid>
                <a:gridCol w="1409700"/>
                <a:gridCol w="829235"/>
                <a:gridCol w="58046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[][3]: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362200" y="5638800"/>
            <a:ext cx="4191000" cy="369888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>
              <a:defRPr/>
            </a:pPr>
            <a:r>
              <a:rPr lang="en-US" dirty="0" err="1">
                <a:latin typeface="+mn-lt"/>
              </a:rPr>
              <a:t>getMax</a:t>
            </a:r>
            <a:r>
              <a:rPr lang="en-US" dirty="0">
                <a:latin typeface="+mn-lt"/>
              </a:rPr>
              <a:t>(mat[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], SIZE)</a:t>
            </a:r>
            <a:endParaRPr lang="he-IL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00200" y="5181600"/>
            <a:ext cx="1143000" cy="369888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>
              <a:defRPr/>
            </a:pP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=0</a:t>
            </a:r>
            <a:endParaRPr lang="he-IL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38400" y="5192713"/>
            <a:ext cx="1447800" cy="369887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>
              <a:defRPr/>
            </a:pP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SIZE</a:t>
            </a:r>
            <a:endParaRPr lang="he-IL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33800" y="5192713"/>
            <a:ext cx="1143000" cy="369887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>
              <a:defRPr/>
            </a:pP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</a:t>
            </a:r>
            <a:endParaRPr lang="he-IL" dirty="0">
              <a:latin typeface="+mn-lt"/>
            </a:endParaRPr>
          </a:p>
        </p:txBody>
      </p:sp>
      <p:graphicFrame>
        <p:nvGraphicFramePr>
          <p:cNvPr id="16" name="Group 607"/>
          <p:cNvGraphicFramePr>
            <a:graphicFrameLocks noGrp="1"/>
          </p:cNvGraphicFramePr>
          <p:nvPr/>
        </p:nvGraphicFramePr>
        <p:xfrm>
          <a:off x="6172200" y="1600200"/>
          <a:ext cx="2819400" cy="3657600"/>
        </p:xfrm>
        <a:graphic>
          <a:graphicData uri="http://schemas.openxmlformats.org/drawingml/2006/table">
            <a:tbl>
              <a:tblPr/>
              <a:tblGrid>
                <a:gridCol w="1409700"/>
                <a:gridCol w="829235"/>
                <a:gridCol w="58046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[][3]: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607"/>
          <p:cNvGraphicFramePr>
            <a:graphicFrameLocks noGrp="1"/>
          </p:cNvGraphicFramePr>
          <p:nvPr/>
        </p:nvGraphicFramePr>
        <p:xfrm>
          <a:off x="6172200" y="1600200"/>
          <a:ext cx="2819400" cy="3657600"/>
        </p:xfrm>
        <a:graphic>
          <a:graphicData uri="http://schemas.openxmlformats.org/drawingml/2006/table">
            <a:tbl>
              <a:tblPr/>
              <a:tblGrid>
                <a:gridCol w="1409700"/>
                <a:gridCol w="829235"/>
                <a:gridCol w="58046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[][3]: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607"/>
          <p:cNvGraphicFramePr>
            <a:graphicFrameLocks noGrp="1"/>
          </p:cNvGraphicFramePr>
          <p:nvPr/>
        </p:nvGraphicFramePr>
        <p:xfrm>
          <a:off x="6172200" y="1600200"/>
          <a:ext cx="2819400" cy="3657600"/>
        </p:xfrm>
        <a:graphic>
          <a:graphicData uri="http://schemas.openxmlformats.org/drawingml/2006/table">
            <a:tbl>
              <a:tblPr/>
              <a:tblGrid>
                <a:gridCol w="1409700"/>
                <a:gridCol w="829235"/>
                <a:gridCol w="58046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[][3]: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Group 607"/>
          <p:cNvGraphicFramePr>
            <a:graphicFrameLocks noGrp="1"/>
          </p:cNvGraphicFramePr>
          <p:nvPr/>
        </p:nvGraphicFramePr>
        <p:xfrm>
          <a:off x="6172200" y="1600200"/>
          <a:ext cx="2819400" cy="3657600"/>
        </p:xfrm>
        <a:graphic>
          <a:graphicData uri="http://schemas.openxmlformats.org/drawingml/2006/table">
            <a:tbl>
              <a:tblPr/>
              <a:tblGrid>
                <a:gridCol w="1409700"/>
                <a:gridCol w="829235"/>
                <a:gridCol w="58046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[][3]: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Rectangular Callout 19"/>
          <p:cNvSpPr>
            <a:spLocks noChangeArrowheads="1"/>
          </p:cNvSpPr>
          <p:nvPr/>
        </p:nvSpPr>
        <p:spPr bwMode="auto">
          <a:xfrm>
            <a:off x="2971800" y="4648200"/>
            <a:ext cx="3429000" cy="609600"/>
          </a:xfrm>
          <a:prstGeom prst="wedgeRectCallout">
            <a:avLst>
              <a:gd name="adj1" fmla="val -56273"/>
              <a:gd name="adj2" fmla="val -5615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סימון לקומפיילר להתייחס לכתובת ככתובת התחלה של מערך </a:t>
            </a:r>
          </a:p>
        </p:txBody>
      </p:sp>
      <p:pic>
        <p:nvPicPr>
          <p:cNvPr id="44267" name="Picture 2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2895600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ular Callout 5"/>
          <p:cNvSpPr>
            <a:spLocks noChangeArrowheads="1"/>
          </p:cNvSpPr>
          <p:nvPr/>
        </p:nvSpPr>
        <p:spPr bwMode="auto">
          <a:xfrm>
            <a:off x="2514600" y="4572000"/>
            <a:ext cx="6477000" cy="381000"/>
          </a:xfrm>
          <a:prstGeom prst="wedgeRectCallout">
            <a:avLst>
              <a:gd name="adj1" fmla="val -56236"/>
              <a:gd name="adj2" fmla="val 25757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נקבל </a:t>
            </a:r>
            <a:r>
              <a:rPr lang="en-US" altLang="he-IL" b="1">
                <a:solidFill>
                  <a:schemeClr val="bg1"/>
                </a:solidFill>
                <a:latin typeface="Verdana" pitchFamily="34" charset="0"/>
              </a:rPr>
              <a:t>warning</a:t>
            </a:r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 כי הפונקציה מצפה לקבל כתובת התחלה של מערך</a:t>
            </a:r>
          </a:p>
        </p:txBody>
      </p:sp>
      <p:sp>
        <p:nvSpPr>
          <p:cNvPr id="409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אריתמטיקה של מטריצות</a:t>
            </a:r>
          </a:p>
        </p:txBody>
      </p:sp>
      <p:sp>
        <p:nvSpPr>
          <p:cNvPr id="4198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altLang="he-IL" smtClean="0"/>
              <a:t>כאשר מחברים לשם של מערך מספר </a:t>
            </a:r>
            <a:r>
              <a:rPr lang="en-US" altLang="he-IL" smtClean="0"/>
              <a:t>i</a:t>
            </a:r>
            <a:r>
              <a:rPr lang="he-IL" altLang="he-IL" smtClean="0"/>
              <a:t>, מקבלים את כתובת האיבר ה- </a:t>
            </a:r>
            <a:r>
              <a:rPr lang="en-US" altLang="he-IL" smtClean="0"/>
              <a:t>i</a:t>
            </a:r>
            <a:endParaRPr lang="he-IL" altLang="he-IL" smtClean="0"/>
          </a:p>
          <a:p>
            <a:r>
              <a:rPr lang="he-IL" altLang="he-IL" smtClean="0"/>
              <a:t>כאשר מחברים לשם של מטריצה מספר </a:t>
            </a:r>
            <a:r>
              <a:rPr lang="en-US" altLang="he-IL" smtClean="0"/>
              <a:t>i</a:t>
            </a:r>
            <a:r>
              <a:rPr lang="he-IL" altLang="he-IL" smtClean="0"/>
              <a:t>, מקבלים את כתובת האיבר הראשון בשורה ה- </a:t>
            </a:r>
            <a:r>
              <a:rPr lang="en-US" altLang="he-IL" smtClean="0"/>
              <a:t>i</a:t>
            </a:r>
            <a:endParaRPr lang="he-IL" altLang="he-IL" smtClean="0"/>
          </a:p>
        </p:txBody>
      </p:sp>
      <p:sp>
        <p:nvSpPr>
          <p:cNvPr id="4096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79AF22F0-5E83-4736-B118-36F7F3ABD384}" type="slidenum">
              <a:rPr lang="he-IL" altLang="he-IL" smtClean="0">
                <a:latin typeface="Verdana" pitchFamily="34" charset="0"/>
              </a:rPr>
              <a:pPr algn="r" rtl="1" eaLnBrk="1" hangingPunct="1"/>
              <a:t>40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sp>
        <p:nvSpPr>
          <p:cNvPr id="41990" name="TextBox 5"/>
          <p:cNvSpPr txBox="1">
            <a:spLocks noChangeArrowheads="1"/>
          </p:cNvSpPr>
          <p:nvPr/>
        </p:nvSpPr>
        <p:spPr bwMode="auto">
          <a:xfrm>
            <a:off x="228600" y="3148013"/>
            <a:ext cx="8915400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6512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36512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36512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36512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36512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defTabSz="365125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defTabSz="365125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defTabSz="365125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defTabSz="365125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sz="1600" dirty="0"/>
              <a:t>void </a:t>
            </a:r>
            <a:r>
              <a:rPr lang="en-US" altLang="he-IL" sz="1600" dirty="0" err="1"/>
              <a:t>P</a:t>
            </a:r>
            <a:r>
              <a:rPr lang="en-US" altLang="he-IL" sz="1600" dirty="0" err="1" smtClean="0"/>
              <a:t>rintArr</a:t>
            </a:r>
            <a:r>
              <a:rPr lang="en-US" altLang="he-IL" sz="1600" dirty="0" smtClean="0"/>
              <a:t>(</a:t>
            </a:r>
            <a:r>
              <a:rPr lang="en-US" altLang="he-IL" sz="1600" dirty="0" err="1" smtClean="0"/>
              <a:t>int</a:t>
            </a:r>
            <a:r>
              <a:rPr lang="en-US" altLang="he-IL" sz="1600" dirty="0"/>
              <a:t>* </a:t>
            </a:r>
            <a:r>
              <a:rPr lang="en-US" altLang="he-IL" sz="1600" dirty="0" err="1"/>
              <a:t>arr</a:t>
            </a:r>
            <a:r>
              <a:rPr lang="en-US" altLang="he-IL" sz="1600" dirty="0"/>
              <a:t>, </a:t>
            </a:r>
            <a:r>
              <a:rPr lang="en-US" altLang="he-IL" sz="1600" dirty="0" err="1"/>
              <a:t>int</a:t>
            </a:r>
            <a:r>
              <a:rPr lang="en-US" altLang="he-IL" sz="1600" dirty="0"/>
              <a:t> size)</a:t>
            </a:r>
          </a:p>
          <a:p>
            <a:pPr eaLnBrk="1" hangingPunct="1"/>
            <a:r>
              <a:rPr lang="en-US" altLang="he-IL" sz="1600" dirty="0"/>
              <a:t>{</a:t>
            </a:r>
            <a:endParaRPr lang="he-IL" altLang="he-IL" sz="1600" dirty="0"/>
          </a:p>
          <a:p>
            <a:pPr eaLnBrk="1" hangingPunct="1"/>
            <a:r>
              <a:rPr lang="en-US" altLang="he-IL" sz="1600" dirty="0"/>
              <a:t>	</a:t>
            </a:r>
            <a:r>
              <a:rPr lang="en-US" altLang="he-IL" sz="1600" dirty="0" err="1"/>
              <a:t>int</a:t>
            </a:r>
            <a:r>
              <a:rPr lang="en-US" altLang="he-IL" sz="1600" dirty="0"/>
              <a:t> </a:t>
            </a:r>
            <a:r>
              <a:rPr lang="en-US" altLang="he-IL" sz="1600" dirty="0" err="1"/>
              <a:t>i</a:t>
            </a:r>
            <a:r>
              <a:rPr lang="en-US" altLang="he-IL" sz="1600" dirty="0"/>
              <a:t>;</a:t>
            </a:r>
          </a:p>
          <a:p>
            <a:pPr eaLnBrk="1" hangingPunct="1"/>
            <a:r>
              <a:rPr lang="nn-NO" altLang="he-IL" sz="1600" dirty="0"/>
              <a:t>	for (i=0 ; i &lt; size ; i++)</a:t>
            </a:r>
          </a:p>
          <a:p>
            <a:pPr eaLnBrk="1" hangingPunct="1"/>
            <a:r>
              <a:rPr lang="en-US" altLang="he-IL" sz="1600" dirty="0"/>
              <a:t>		</a:t>
            </a:r>
            <a:r>
              <a:rPr lang="en-US" altLang="he-IL" sz="1600" dirty="0" err="1"/>
              <a:t>printf</a:t>
            </a:r>
            <a:r>
              <a:rPr lang="en-US" altLang="he-IL" sz="1600" dirty="0"/>
              <a:t>("%d ", </a:t>
            </a:r>
            <a:r>
              <a:rPr lang="en-US" altLang="he-IL" sz="1600" dirty="0" err="1"/>
              <a:t>arr</a:t>
            </a:r>
            <a:r>
              <a:rPr lang="en-US" altLang="he-IL" sz="1600" dirty="0"/>
              <a:t>[</a:t>
            </a:r>
            <a:r>
              <a:rPr lang="en-US" altLang="he-IL" sz="1600" dirty="0" err="1"/>
              <a:t>i</a:t>
            </a:r>
            <a:r>
              <a:rPr lang="en-US" altLang="he-IL" sz="1600" dirty="0"/>
              <a:t>]);</a:t>
            </a:r>
          </a:p>
          <a:p>
            <a:pPr eaLnBrk="1" hangingPunct="1"/>
            <a:r>
              <a:rPr lang="en-US" altLang="he-IL" sz="1600" dirty="0"/>
              <a:t>	</a:t>
            </a:r>
            <a:r>
              <a:rPr lang="en-US" altLang="he-IL" sz="1600" dirty="0" err="1"/>
              <a:t>printf</a:t>
            </a:r>
            <a:r>
              <a:rPr lang="en-US" altLang="he-IL" sz="1600" dirty="0"/>
              <a:t>("\n");</a:t>
            </a:r>
          </a:p>
          <a:p>
            <a:pPr eaLnBrk="1" hangingPunct="1"/>
            <a:r>
              <a:rPr lang="en-US" altLang="he-IL" sz="1600" dirty="0"/>
              <a:t>}</a:t>
            </a:r>
            <a:endParaRPr lang="he-IL" altLang="he-IL" sz="1600" dirty="0"/>
          </a:p>
          <a:p>
            <a:pPr eaLnBrk="1" hangingPunct="1"/>
            <a:r>
              <a:rPr lang="en-US" altLang="he-IL" sz="1600" dirty="0"/>
              <a:t>void main()</a:t>
            </a:r>
          </a:p>
          <a:p>
            <a:pPr eaLnBrk="1" hangingPunct="1"/>
            <a:r>
              <a:rPr lang="en-US" altLang="he-IL" sz="1600" dirty="0"/>
              <a:t>{</a:t>
            </a:r>
            <a:endParaRPr lang="he-IL" altLang="he-IL" sz="1600" dirty="0"/>
          </a:p>
          <a:p>
            <a:pPr eaLnBrk="1" hangingPunct="1"/>
            <a:r>
              <a:rPr lang="en-US" altLang="he-IL" sz="1600" dirty="0"/>
              <a:t>	</a:t>
            </a:r>
            <a:r>
              <a:rPr lang="en-US" altLang="he-IL" sz="1600" dirty="0" err="1"/>
              <a:t>int</a:t>
            </a:r>
            <a:r>
              <a:rPr lang="en-US" altLang="he-IL" sz="1600" dirty="0"/>
              <a:t> mat[2][3] = { {1,2,3}, {4,5,6} };</a:t>
            </a:r>
          </a:p>
          <a:p>
            <a:pPr eaLnBrk="1" hangingPunct="1"/>
            <a:r>
              <a:rPr lang="en-US" altLang="he-IL" sz="1600" dirty="0"/>
              <a:t>	</a:t>
            </a:r>
            <a:r>
              <a:rPr lang="en-US" altLang="he-IL" sz="1600" dirty="0" err="1"/>
              <a:t>P</a:t>
            </a:r>
            <a:r>
              <a:rPr lang="en-US" altLang="he-IL" sz="1600" dirty="0" err="1" smtClean="0"/>
              <a:t>rintArr</a:t>
            </a:r>
            <a:r>
              <a:rPr lang="en-US" altLang="he-IL" sz="1600" dirty="0" smtClean="0"/>
              <a:t>(mat</a:t>
            </a:r>
            <a:r>
              <a:rPr lang="en-US" altLang="he-IL" sz="1600" dirty="0"/>
              <a:t>, 6); </a:t>
            </a:r>
          </a:p>
          <a:p>
            <a:pPr eaLnBrk="1" hangingPunct="1"/>
            <a:r>
              <a:rPr lang="en-US" altLang="he-IL" sz="1600" dirty="0"/>
              <a:t>	</a:t>
            </a:r>
            <a:r>
              <a:rPr lang="en-US" altLang="he-IL" sz="1600" dirty="0" err="1"/>
              <a:t>P</a:t>
            </a:r>
            <a:r>
              <a:rPr lang="en-US" altLang="he-IL" sz="1600" dirty="0" err="1" smtClean="0"/>
              <a:t>rintArr</a:t>
            </a:r>
            <a:r>
              <a:rPr lang="en-US" altLang="he-IL" sz="1600" dirty="0"/>
              <a:t>((</a:t>
            </a:r>
            <a:r>
              <a:rPr lang="en-US" altLang="he-IL" sz="1600" dirty="0" err="1"/>
              <a:t>int</a:t>
            </a:r>
            <a:r>
              <a:rPr lang="en-US" altLang="he-IL" sz="1600" dirty="0"/>
              <a:t>*)mat, 6); </a:t>
            </a:r>
          </a:p>
          <a:p>
            <a:pPr eaLnBrk="1" hangingPunct="1"/>
            <a:r>
              <a:rPr lang="en-US" altLang="he-IL" sz="1600" dirty="0"/>
              <a:t>	</a:t>
            </a:r>
            <a:r>
              <a:rPr lang="en-US" altLang="he-IL" sz="1600" dirty="0" err="1"/>
              <a:t>P</a:t>
            </a:r>
            <a:r>
              <a:rPr lang="en-US" altLang="he-IL" sz="1600" dirty="0" err="1" smtClean="0"/>
              <a:t>rintArr</a:t>
            </a:r>
            <a:r>
              <a:rPr lang="en-US" altLang="he-IL" sz="1600" dirty="0" smtClean="0"/>
              <a:t>(mat+1</a:t>
            </a:r>
            <a:r>
              <a:rPr lang="en-US" altLang="he-IL" sz="1600" dirty="0"/>
              <a:t>, 6);</a:t>
            </a:r>
          </a:p>
          <a:p>
            <a:pPr eaLnBrk="1" hangingPunct="1"/>
            <a:r>
              <a:rPr lang="en-US" altLang="he-IL" sz="1600" dirty="0"/>
              <a:t>	</a:t>
            </a:r>
            <a:r>
              <a:rPr lang="en-US" altLang="he-IL" sz="1600" dirty="0" err="1"/>
              <a:t>P</a:t>
            </a:r>
            <a:r>
              <a:rPr lang="en-US" altLang="he-IL" sz="1600" dirty="0" err="1" smtClean="0"/>
              <a:t>rintArr</a:t>
            </a:r>
            <a:r>
              <a:rPr lang="en-US" altLang="he-IL" sz="1600" dirty="0"/>
              <a:t>((</a:t>
            </a:r>
            <a:r>
              <a:rPr lang="en-US" altLang="he-IL" sz="1600" dirty="0" err="1"/>
              <a:t>int</a:t>
            </a:r>
            <a:r>
              <a:rPr lang="en-US" altLang="he-IL" sz="1600" dirty="0"/>
              <a:t>*)mat+1, 6);</a:t>
            </a:r>
          </a:p>
          <a:p>
            <a:pPr eaLnBrk="1" hangingPunct="1"/>
            <a:r>
              <a:rPr lang="en-US" altLang="he-IL" sz="1600" dirty="0"/>
              <a:t>}</a:t>
            </a:r>
            <a:endParaRPr lang="he-IL" altLang="he-IL" sz="1600" dirty="0"/>
          </a:p>
        </p:txBody>
      </p:sp>
      <p:sp>
        <p:nvSpPr>
          <p:cNvPr id="7" name="Rectangular Callout 6"/>
          <p:cNvSpPr>
            <a:spLocks noChangeArrowheads="1"/>
          </p:cNvSpPr>
          <p:nvPr/>
        </p:nvSpPr>
        <p:spPr bwMode="auto">
          <a:xfrm>
            <a:off x="4114800" y="5105400"/>
            <a:ext cx="4876800" cy="914400"/>
          </a:xfrm>
          <a:prstGeom prst="wedgeRectCallout">
            <a:avLst>
              <a:gd name="adj1" fmla="val -82421"/>
              <a:gd name="adj2" fmla="val 4711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עושים למטריצה </a:t>
            </a:r>
            <a:r>
              <a:rPr lang="en-US" altLang="he-IL" b="1">
                <a:solidFill>
                  <a:schemeClr val="bg1"/>
                </a:solidFill>
                <a:latin typeface="Verdana" pitchFamily="34" charset="0"/>
              </a:rPr>
              <a:t>casting</a:t>
            </a:r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 ל- </a:t>
            </a:r>
            <a:r>
              <a:rPr lang="en-US" altLang="he-IL" b="1">
                <a:solidFill>
                  <a:schemeClr val="bg1"/>
                </a:solidFill>
                <a:latin typeface="Verdana" pitchFamily="34" charset="0"/>
              </a:rPr>
              <a:t>int*</a:t>
            </a:r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 כדי לא לקבל את ה- </a:t>
            </a:r>
            <a:r>
              <a:rPr lang="en-US" altLang="he-IL" b="1">
                <a:solidFill>
                  <a:schemeClr val="bg1"/>
                </a:solidFill>
                <a:latin typeface="Verdana" pitchFamily="34" charset="0"/>
              </a:rPr>
              <a:t>warning</a:t>
            </a:r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: למעשה אומרים לקומפיילר להתייחס לכתובת כאל כתובת התחלה של מערך</a:t>
            </a:r>
          </a:p>
        </p:txBody>
      </p:sp>
      <p:sp>
        <p:nvSpPr>
          <p:cNvPr id="8" name="Rectangular Callout 7"/>
          <p:cNvSpPr>
            <a:spLocks noChangeArrowheads="1"/>
          </p:cNvSpPr>
          <p:nvPr/>
        </p:nvSpPr>
        <p:spPr bwMode="auto">
          <a:xfrm>
            <a:off x="5867400" y="6096000"/>
            <a:ext cx="3124200" cy="381000"/>
          </a:xfrm>
          <a:prstGeom prst="wedgeRectCallout">
            <a:avLst>
              <a:gd name="adj1" fmla="val -162653"/>
              <a:gd name="adj2" fmla="val -1196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שליחת כתובת השורה השניה</a:t>
            </a:r>
          </a:p>
        </p:txBody>
      </p:sp>
      <p:sp>
        <p:nvSpPr>
          <p:cNvPr id="9" name="Rectangular Callout 8"/>
          <p:cNvSpPr>
            <a:spLocks noChangeArrowheads="1"/>
          </p:cNvSpPr>
          <p:nvPr/>
        </p:nvSpPr>
        <p:spPr bwMode="auto">
          <a:xfrm>
            <a:off x="3048000" y="6400800"/>
            <a:ext cx="3048000" cy="381000"/>
          </a:xfrm>
          <a:prstGeom prst="wedgeRectCallout">
            <a:avLst>
              <a:gd name="adj1" fmla="val -58190"/>
              <a:gd name="adj2" fmla="val -2673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שליחת כתובת האיבר השני</a:t>
            </a:r>
          </a:p>
        </p:txBody>
      </p:sp>
      <p:pic>
        <p:nvPicPr>
          <p:cNvPr id="419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688" y="3490913"/>
            <a:ext cx="5141912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מערך של כתובות</a:t>
            </a:r>
            <a:endParaRPr lang="en-US" altLang="he-IL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dirty="0" smtClean="0"/>
              <a:t>ראינו כי מערך הוא אוסף של איברים מאותו טיפוס.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ראינו שמשתנה המכיל כתובת הוא גם טיפוס.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ניתן להגדיר מערך של כתובות: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dirty="0" err="1" smtClean="0"/>
              <a:t>int</a:t>
            </a:r>
            <a:r>
              <a:rPr lang="en-US" altLang="he-IL" dirty="0" smtClean="0"/>
              <a:t>* matrix[]</a:t>
            </a:r>
            <a:endParaRPr lang="he-IL" altLang="he-IL" dirty="0" smtClean="0"/>
          </a:p>
          <a:p>
            <a:pPr lvl="1">
              <a:lnSpc>
                <a:spcPct val="90000"/>
              </a:lnSpc>
            </a:pPr>
            <a:r>
              <a:rPr lang="he-IL" altLang="he-IL" dirty="0" smtClean="0"/>
              <a:t>כל איבר במערך הוא כתובת.</a:t>
            </a:r>
          </a:p>
          <a:p>
            <a:pPr lvl="1">
              <a:lnSpc>
                <a:spcPct val="90000"/>
              </a:lnSpc>
            </a:pPr>
            <a:r>
              <a:rPr lang="he-IL" altLang="he-IL" dirty="0" smtClean="0"/>
              <a:t>כל כתובת כזו יכולה להיות כתובת התחלה של מערך חד-</a:t>
            </a:r>
            <a:r>
              <a:rPr lang="he-IL" altLang="he-IL" dirty="0" err="1" smtClean="0"/>
              <a:t>מימדי</a:t>
            </a:r>
            <a:r>
              <a:rPr lang="he-IL" altLang="he-IL" dirty="0" smtClean="0"/>
              <a:t>.</a:t>
            </a:r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r>
              <a:rPr lang="he-IL" altLang="he-IL" dirty="0" smtClean="0"/>
              <a:t>כאשר מעבירים מערך של כתובות לפונקציה נכתוב אותו בהצהרה כך: </a:t>
            </a:r>
            <a:r>
              <a:rPr lang="en-US" altLang="he-IL" b="1" dirty="0" err="1" smtClean="0"/>
              <a:t>int</a:t>
            </a:r>
            <a:r>
              <a:rPr lang="en-US" altLang="he-IL" b="1" dirty="0" smtClean="0"/>
              <a:t>** </a:t>
            </a:r>
            <a:r>
              <a:rPr lang="en-US" altLang="he-IL" b="1" dirty="0" err="1" smtClean="0"/>
              <a:t>arr</a:t>
            </a:r>
            <a:r>
              <a:rPr lang="he-IL" altLang="he-IL" dirty="0" smtClean="0"/>
              <a:t> או כך: </a:t>
            </a:r>
            <a:r>
              <a:rPr lang="en-US" altLang="he-IL" b="1" dirty="0" err="1" smtClean="0"/>
              <a:t>int</a:t>
            </a:r>
            <a:r>
              <a:rPr lang="en-US" altLang="he-IL" b="1" dirty="0" smtClean="0"/>
              <a:t>* </a:t>
            </a:r>
            <a:r>
              <a:rPr lang="en-US" altLang="he-IL" b="1" dirty="0" err="1" smtClean="0"/>
              <a:t>arr</a:t>
            </a:r>
            <a:r>
              <a:rPr lang="en-US" altLang="he-IL" b="1" dirty="0" smtClean="0"/>
              <a:t>[]</a:t>
            </a:r>
          </a:p>
          <a:p>
            <a:pPr algn="ctr" rtl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he-IL" dirty="0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FA877489-ACB6-4F1F-BCC0-219C19D9E1D3}" type="slidenum">
              <a:rPr lang="he-IL" altLang="he-IL" smtClean="0">
                <a:latin typeface="Verdana" pitchFamily="34" charset="0"/>
              </a:rPr>
              <a:pPr algn="r" rtl="1" eaLnBrk="1" hangingPunct="1"/>
              <a:t>41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1"/>
          <p:cNvSpPr>
            <a:spLocks noChangeArrowheads="1"/>
          </p:cNvSpPr>
          <p:nvPr/>
        </p:nvSpPr>
        <p:spPr bwMode="auto">
          <a:xfrm>
            <a:off x="381000" y="1371600"/>
            <a:ext cx="8382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60375"/>
            <a:ext cx="8229600" cy="1139825"/>
          </a:xfrm>
        </p:spPr>
        <p:txBody>
          <a:bodyPr/>
          <a:lstStyle/>
          <a:p>
            <a:pPr algn="r"/>
            <a:r>
              <a:rPr lang="he-IL" altLang="he-IL" smtClean="0"/>
              <a:t>מערך של מצביעים</a:t>
            </a:r>
            <a:br>
              <a:rPr lang="he-IL" altLang="he-IL" smtClean="0"/>
            </a:br>
            <a:r>
              <a:rPr lang="he-IL" altLang="he-IL" smtClean="0"/>
              <a:t>דוגמא (1)</a:t>
            </a:r>
            <a:endParaRPr lang="en-US" altLang="he-IL" smtClean="0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327275"/>
            <a:ext cx="80772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printMatrix(int** mat, int rows, int cols)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 i, j;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for (</a:t>
            </a:r>
            <a:r>
              <a:rPr lang="en-US" altLang="he-IL" sz="1600" dirty="0" smtClean="0"/>
              <a:t>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</a:t>
            </a:r>
            <a:r>
              <a:rPr lang="en-US" altLang="he-IL" sz="1600" noProof="1" smtClean="0"/>
              <a:t>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for (</a:t>
            </a:r>
            <a:r>
              <a:rPr lang="en-US" altLang="he-IL" sz="1600" dirty="0" smtClean="0"/>
              <a:t>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</a:t>
            </a:r>
            <a:r>
              <a:rPr lang="en-US" altLang="he-IL" sz="1600" noProof="1" smtClean="0"/>
              <a:t>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</a:t>
            </a:r>
            <a:r>
              <a:rPr lang="en-US" altLang="he-IL" sz="1600" dirty="0" smtClean="0"/>
              <a:t>     </a:t>
            </a:r>
            <a:r>
              <a:rPr lang="en-US" altLang="he-IL" sz="1600" noProof="1" smtClean="0"/>
              <a:t>printf("%d ", mat [i][j]);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printf("\n");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  <a:r>
              <a:rPr lang="en-US" altLang="he-IL" sz="1600" noProof="1" smtClean="0"/>
              <a:t>int arr1[]={1,2,3}, arr2[]={4,5,6}, arr3[]={7,8,9};</a:t>
            </a:r>
            <a:r>
              <a:rPr lang="en-US" altLang="he-IL" sz="1800" noProof="1" smtClean="0"/>
              <a:t>	</a:t>
            </a:r>
            <a:endParaRPr lang="en-US" altLang="he-IL" sz="18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600" noProof="1" smtClean="0"/>
              <a:t>int* mat</a:t>
            </a:r>
            <a:r>
              <a:rPr lang="en-US" altLang="he-IL" sz="1600" dirty="0" smtClean="0"/>
              <a:t>1</a:t>
            </a:r>
            <a:r>
              <a:rPr lang="en-US" altLang="he-IL" sz="1600" noProof="1" smtClean="0"/>
              <a:t>[] = {arr1, arr2};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printf("matrix 1:\n");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PrintMatrix(mat1, 2, 3);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  <a:endParaRPr lang="en-US" altLang="he-IL" sz="1600" dirty="0" smtClean="0"/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6019800" y="64912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19372" name="Group 588"/>
          <p:cNvGraphicFramePr>
            <a:graphicFrameLocks noGrp="1"/>
          </p:cNvGraphicFramePr>
          <p:nvPr/>
        </p:nvGraphicFramePr>
        <p:xfrm>
          <a:off x="6477000" y="2530475"/>
          <a:ext cx="2590800" cy="4023206"/>
        </p:xfrm>
        <a:graphic>
          <a:graphicData uri="http://schemas.openxmlformats.org/drawingml/2006/table">
            <a:tbl>
              <a:tblPr/>
              <a:tblGrid>
                <a:gridCol w="1295400"/>
                <a:gridCol w="762000"/>
                <a:gridCol w="533400"/>
              </a:tblGrid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arr1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arr2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arr3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mat1[]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379" name="Group 595"/>
          <p:cNvGraphicFramePr>
            <a:graphicFrameLocks noGrp="1"/>
          </p:cNvGraphicFramePr>
          <p:nvPr/>
        </p:nvGraphicFramePr>
        <p:xfrm>
          <a:off x="6477000" y="2530475"/>
          <a:ext cx="2590800" cy="4023206"/>
        </p:xfrm>
        <a:graphic>
          <a:graphicData uri="http://schemas.openxmlformats.org/drawingml/2006/table">
            <a:tbl>
              <a:tblPr/>
              <a:tblGrid>
                <a:gridCol w="1295400"/>
                <a:gridCol w="762000"/>
                <a:gridCol w="533400"/>
              </a:tblGrid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arr1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arr2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arr3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mat1[]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381" name="Group 597"/>
          <p:cNvGraphicFramePr>
            <a:graphicFrameLocks noGrp="1"/>
          </p:cNvGraphicFramePr>
          <p:nvPr/>
        </p:nvGraphicFramePr>
        <p:xfrm>
          <a:off x="6477000" y="2530475"/>
          <a:ext cx="2590800" cy="4023206"/>
        </p:xfrm>
        <a:graphic>
          <a:graphicData uri="http://schemas.openxmlformats.org/drawingml/2006/table">
            <a:tbl>
              <a:tblPr/>
              <a:tblGrid>
                <a:gridCol w="1295400"/>
                <a:gridCol w="762000"/>
                <a:gridCol w="533400"/>
              </a:tblGrid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arr1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arr2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arr3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mat1[]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391" name="Group 607"/>
          <p:cNvGraphicFramePr>
            <a:graphicFrameLocks noGrp="1"/>
          </p:cNvGraphicFramePr>
          <p:nvPr/>
        </p:nvGraphicFramePr>
        <p:xfrm>
          <a:off x="6477000" y="2530475"/>
          <a:ext cx="2590800" cy="4023206"/>
        </p:xfrm>
        <a:graphic>
          <a:graphicData uri="http://schemas.openxmlformats.org/drawingml/2006/table">
            <a:tbl>
              <a:tblPr/>
              <a:tblGrid>
                <a:gridCol w="1295400"/>
                <a:gridCol w="762000"/>
                <a:gridCol w="533400"/>
              </a:tblGrid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arr1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arr2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arr3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mat1[]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9350" name="Text Box 566"/>
          <p:cNvSpPr txBox="1">
            <a:spLocks noChangeArrowheads="1"/>
          </p:cNvSpPr>
          <p:nvPr/>
        </p:nvSpPr>
        <p:spPr bwMode="auto">
          <a:xfrm>
            <a:off x="1600200" y="19050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printMatrix</a:t>
            </a:r>
          </a:p>
        </p:txBody>
      </p:sp>
      <p:graphicFrame>
        <p:nvGraphicFramePr>
          <p:cNvPr id="119419" name="Group 635"/>
          <p:cNvGraphicFramePr>
            <a:graphicFrameLocks noGrp="1"/>
          </p:cNvGraphicFramePr>
          <p:nvPr/>
        </p:nvGraphicFramePr>
        <p:xfrm>
          <a:off x="1981200" y="158750"/>
          <a:ext cx="243840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7620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9422" name="Text Box 638"/>
          <p:cNvSpPr txBox="1">
            <a:spLocks noChangeArrowheads="1"/>
          </p:cNvSpPr>
          <p:nvPr/>
        </p:nvSpPr>
        <p:spPr bwMode="auto">
          <a:xfrm>
            <a:off x="990600" y="301625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i=0</a:t>
            </a:r>
          </a:p>
        </p:txBody>
      </p:sp>
      <p:sp>
        <p:nvSpPr>
          <p:cNvPr id="119423" name="Text Box 639"/>
          <p:cNvSpPr txBox="1">
            <a:spLocks noChangeArrowheads="1"/>
          </p:cNvSpPr>
          <p:nvPr/>
        </p:nvSpPr>
        <p:spPr bwMode="auto">
          <a:xfrm>
            <a:off x="1752600" y="3016250"/>
            <a:ext cx="1219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i &lt; rows</a:t>
            </a:r>
          </a:p>
        </p:txBody>
      </p:sp>
      <p:sp>
        <p:nvSpPr>
          <p:cNvPr id="119424" name="Text Box 640"/>
          <p:cNvSpPr txBox="1">
            <a:spLocks noChangeArrowheads="1"/>
          </p:cNvSpPr>
          <p:nvPr/>
        </p:nvSpPr>
        <p:spPr bwMode="auto">
          <a:xfrm>
            <a:off x="2971800" y="301625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i++</a:t>
            </a:r>
          </a:p>
        </p:txBody>
      </p:sp>
      <p:sp>
        <p:nvSpPr>
          <p:cNvPr id="119425" name="Text Box 641"/>
          <p:cNvSpPr txBox="1">
            <a:spLocks noChangeArrowheads="1"/>
          </p:cNvSpPr>
          <p:nvPr/>
        </p:nvSpPr>
        <p:spPr bwMode="auto">
          <a:xfrm>
            <a:off x="1600200" y="350520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j=0</a:t>
            </a:r>
          </a:p>
        </p:txBody>
      </p:sp>
      <p:sp>
        <p:nvSpPr>
          <p:cNvPr id="119426" name="Text Box 642"/>
          <p:cNvSpPr txBox="1">
            <a:spLocks noChangeArrowheads="1"/>
          </p:cNvSpPr>
          <p:nvPr/>
        </p:nvSpPr>
        <p:spPr bwMode="auto">
          <a:xfrm>
            <a:off x="2362200" y="3505200"/>
            <a:ext cx="1219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j &lt; cols</a:t>
            </a:r>
          </a:p>
        </p:txBody>
      </p:sp>
      <p:sp>
        <p:nvSpPr>
          <p:cNvPr id="119427" name="Text Box 643"/>
          <p:cNvSpPr txBox="1">
            <a:spLocks noChangeArrowheads="1"/>
          </p:cNvSpPr>
          <p:nvPr/>
        </p:nvSpPr>
        <p:spPr bwMode="auto">
          <a:xfrm>
            <a:off x="3429000" y="350520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j++</a:t>
            </a:r>
          </a:p>
        </p:txBody>
      </p:sp>
      <p:graphicFrame>
        <p:nvGraphicFramePr>
          <p:cNvPr id="119429" name="Group 645"/>
          <p:cNvGraphicFramePr>
            <a:graphicFrameLocks noGrp="1"/>
          </p:cNvGraphicFramePr>
          <p:nvPr/>
        </p:nvGraphicFramePr>
        <p:xfrm>
          <a:off x="1981200" y="158750"/>
          <a:ext cx="243840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7620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455" name="Group 671"/>
          <p:cNvGraphicFramePr>
            <a:graphicFrameLocks noGrp="1"/>
          </p:cNvGraphicFramePr>
          <p:nvPr/>
        </p:nvGraphicFramePr>
        <p:xfrm>
          <a:off x="1981200" y="152400"/>
          <a:ext cx="243840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7620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481" name="Group 697"/>
          <p:cNvGraphicFramePr>
            <a:graphicFrameLocks noGrp="1"/>
          </p:cNvGraphicFramePr>
          <p:nvPr/>
        </p:nvGraphicFramePr>
        <p:xfrm>
          <a:off x="1981200" y="152400"/>
          <a:ext cx="243840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7620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507" name="Group 723"/>
          <p:cNvGraphicFramePr>
            <a:graphicFrameLocks noGrp="1"/>
          </p:cNvGraphicFramePr>
          <p:nvPr/>
        </p:nvGraphicFramePr>
        <p:xfrm>
          <a:off x="1981200" y="152400"/>
          <a:ext cx="243840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7620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533" name="Group 749"/>
          <p:cNvGraphicFramePr>
            <a:graphicFrameLocks noGrp="1"/>
          </p:cNvGraphicFramePr>
          <p:nvPr/>
        </p:nvGraphicFramePr>
        <p:xfrm>
          <a:off x="1981200" y="155575"/>
          <a:ext cx="243840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7620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559" name="Group 775"/>
          <p:cNvGraphicFramePr>
            <a:graphicFrameLocks noGrp="1"/>
          </p:cNvGraphicFramePr>
          <p:nvPr/>
        </p:nvGraphicFramePr>
        <p:xfrm>
          <a:off x="1981200" y="152400"/>
          <a:ext cx="243840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7620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585" name="Group 801"/>
          <p:cNvGraphicFramePr>
            <a:graphicFrameLocks noGrp="1"/>
          </p:cNvGraphicFramePr>
          <p:nvPr/>
        </p:nvGraphicFramePr>
        <p:xfrm>
          <a:off x="1981200" y="152400"/>
          <a:ext cx="243840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7620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611" name="Group 827"/>
          <p:cNvGraphicFramePr>
            <a:graphicFrameLocks noGrp="1"/>
          </p:cNvGraphicFramePr>
          <p:nvPr/>
        </p:nvGraphicFramePr>
        <p:xfrm>
          <a:off x="1981200" y="152400"/>
          <a:ext cx="243840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762000"/>
                <a:gridCol w="53340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j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9636" name="AutoShape 852"/>
          <p:cNvSpPr>
            <a:spLocks/>
          </p:cNvSpPr>
          <p:nvPr/>
        </p:nvSpPr>
        <p:spPr bwMode="auto">
          <a:xfrm rot="5400000">
            <a:off x="1962150" y="2457450"/>
            <a:ext cx="266700" cy="381000"/>
          </a:xfrm>
          <a:prstGeom prst="rightBrace">
            <a:avLst>
              <a:gd name="adj1" fmla="val 14286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19637" name="Text Box 853"/>
          <p:cNvSpPr txBox="1">
            <a:spLocks noChangeArrowheads="1"/>
          </p:cNvSpPr>
          <p:nvPr/>
        </p:nvSpPr>
        <p:spPr bwMode="auto">
          <a:xfrm>
            <a:off x="1295400" y="2667000"/>
            <a:ext cx="3276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sz="1600" b="1" dirty="0">
                <a:solidFill>
                  <a:srgbClr val="FF0000"/>
                </a:solidFill>
              </a:rPr>
              <a:t>כל איבר במערך הוא </a:t>
            </a:r>
            <a:r>
              <a:rPr lang="he-IL" altLang="he-IL" sz="1600" b="1" dirty="0" smtClean="0">
                <a:solidFill>
                  <a:srgbClr val="FF0000"/>
                </a:solidFill>
              </a:rPr>
              <a:t>כתובת של מערך</a:t>
            </a:r>
            <a:endParaRPr lang="en-US" altLang="he-IL" sz="1600" b="1" dirty="0">
              <a:solidFill>
                <a:srgbClr val="FF0000"/>
              </a:solidFill>
            </a:endParaRPr>
          </a:p>
        </p:txBody>
      </p:sp>
      <p:sp>
        <p:nvSpPr>
          <p:cNvPr id="4651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C6EF1D46-5D5F-406C-B035-83178ED378C6}" type="slidenum">
              <a:rPr lang="he-IL" altLang="he-IL" smtClean="0">
                <a:latin typeface="Verdana" pitchFamily="34" charset="0"/>
              </a:rPr>
              <a:pPr algn="r" rtl="1" eaLnBrk="1" hangingPunct="1"/>
              <a:t>42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sp>
        <p:nvSpPr>
          <p:cNvPr id="119420" name="Rectangle 636"/>
          <p:cNvSpPr>
            <a:spLocks noChangeArrowheads="1"/>
          </p:cNvSpPr>
          <p:nvPr/>
        </p:nvSpPr>
        <p:spPr bwMode="auto">
          <a:xfrm>
            <a:off x="2438400" y="4267200"/>
            <a:ext cx="38100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he-IL" b="1">
                <a:solidFill>
                  <a:schemeClr val="bg1"/>
                </a:solidFill>
              </a:rPr>
              <a:t>mat[ i ][ j ] = *(*(mat+i)+j))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דוגמא עבור </a:t>
            </a:r>
            <a:r>
              <a:rPr lang="en-US" altLang="he-IL" b="1">
                <a:solidFill>
                  <a:schemeClr val="bg1"/>
                </a:solidFill>
              </a:rPr>
              <a:t>i=j=0</a:t>
            </a:r>
            <a:r>
              <a:rPr lang="he-IL" altLang="he-IL" b="1">
                <a:solidFill>
                  <a:schemeClr val="bg1"/>
                </a:solidFill>
              </a:rPr>
              <a:t>:</a:t>
            </a:r>
          </a:p>
          <a:p>
            <a:pPr algn="ctr" eaLnBrk="1" hangingPunct="1"/>
            <a:r>
              <a:rPr lang="en-US" altLang="he-IL" b="1">
                <a:solidFill>
                  <a:schemeClr val="bg1"/>
                </a:solidFill>
              </a:rPr>
              <a:t>*(*(1036+0)+0)</a:t>
            </a:r>
            <a:r>
              <a:rPr lang="he-IL" altLang="he-IL" b="1">
                <a:solidFill>
                  <a:schemeClr val="bg1"/>
                </a:solidFill>
              </a:rPr>
              <a:t>=</a:t>
            </a:r>
            <a:r>
              <a:rPr lang="en-US" altLang="he-IL" b="1">
                <a:solidFill>
                  <a:schemeClr val="bg1"/>
                </a:solidFill>
              </a:rPr>
              <a:t>*(*1036)) = *1000=1</a:t>
            </a:r>
          </a:p>
        </p:txBody>
      </p:sp>
      <p:sp>
        <p:nvSpPr>
          <p:cNvPr id="119421" name="Line 637"/>
          <p:cNvSpPr>
            <a:spLocks noChangeShapeType="1"/>
          </p:cNvSpPr>
          <p:nvPr/>
        </p:nvSpPr>
        <p:spPr bwMode="auto">
          <a:xfrm>
            <a:off x="3733800" y="4038600"/>
            <a:ext cx="609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1" name="TextBox 30"/>
          <p:cNvSpPr txBox="1"/>
          <p:nvPr/>
        </p:nvSpPr>
        <p:spPr>
          <a:xfrm>
            <a:off x="457200" y="1676400"/>
            <a:ext cx="1371600" cy="369888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>
              <a:defRPr/>
            </a:pPr>
            <a:r>
              <a:rPr lang="en-US" dirty="0" err="1">
                <a:latin typeface="+mn-lt"/>
              </a:rPr>
              <a:t>int</a:t>
            </a:r>
            <a:r>
              <a:rPr lang="en-US" dirty="0">
                <a:latin typeface="+mn-lt"/>
              </a:rPr>
              <a:t>* mat[]</a:t>
            </a:r>
            <a:endParaRPr lang="he-IL" dirty="0">
              <a:latin typeface="+mn-lt"/>
            </a:endParaRPr>
          </a:p>
        </p:txBody>
      </p:sp>
      <p:cxnSp>
        <p:nvCxnSpPr>
          <p:cNvPr id="33" name="Straight Arrow Connector 32"/>
          <p:cNvCxnSpPr>
            <a:cxnSpLocks noChangeShapeType="1"/>
          </p:cNvCxnSpPr>
          <p:nvPr/>
        </p:nvCxnSpPr>
        <p:spPr bwMode="auto">
          <a:xfrm>
            <a:off x="1600200" y="1981200"/>
            <a:ext cx="533400" cy="38100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5"/>
          <p:cNvSpPr>
            <a:spLocks noChangeArrowheads="1"/>
          </p:cNvSpPr>
          <p:nvPr/>
        </p:nvSpPr>
        <p:spPr bwMode="auto">
          <a:xfrm>
            <a:off x="381000" y="1371600"/>
            <a:ext cx="8382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60375"/>
            <a:ext cx="8229600" cy="1139825"/>
          </a:xfrm>
        </p:spPr>
        <p:txBody>
          <a:bodyPr/>
          <a:lstStyle/>
          <a:p>
            <a:pPr algn="r"/>
            <a:r>
              <a:rPr lang="he-IL" altLang="he-IL" smtClean="0"/>
              <a:t> מערך של מצביעים</a:t>
            </a:r>
            <a:br>
              <a:rPr lang="he-IL" altLang="he-IL" smtClean="0"/>
            </a:br>
            <a:r>
              <a:rPr lang="he-IL" altLang="he-IL" smtClean="0"/>
              <a:t> דוגמא (2)</a:t>
            </a:r>
            <a:endParaRPr lang="en-US" altLang="he-IL" smtClean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327275"/>
            <a:ext cx="80772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PrintMatrix(int** mat, int rows, int cols)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</a:t>
            </a:r>
            <a:r>
              <a:rPr lang="en-US" altLang="he-IL" sz="1600" dirty="0" smtClean="0"/>
              <a:t>** </a:t>
            </a:r>
            <a:r>
              <a:rPr lang="en-US" altLang="he-IL" sz="1600" dirty="0" err="1" smtClean="0"/>
              <a:t>pRows</a:t>
            </a:r>
            <a:r>
              <a:rPr lang="en-US" altLang="he-IL" sz="1600" dirty="0" smtClean="0"/>
              <a:t>, *</a:t>
            </a:r>
            <a:r>
              <a:rPr lang="en-US" altLang="he-IL" sz="1600" dirty="0" err="1" smtClean="0"/>
              <a:t>pCols</a:t>
            </a:r>
            <a:r>
              <a:rPr lang="en-US" altLang="he-IL" sz="1600" dirty="0" smtClean="0"/>
              <a:t>;</a:t>
            </a: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for (</a:t>
            </a:r>
            <a:r>
              <a:rPr lang="en-US" altLang="he-IL" sz="1600" dirty="0" smtClean="0"/>
              <a:t>        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                     </a:t>
            </a:r>
            <a:r>
              <a:rPr lang="en-US" altLang="he-IL" sz="1600" noProof="1" smtClean="0"/>
              <a:t> ;</a:t>
            </a:r>
            <a:r>
              <a:rPr lang="en-US" altLang="he-IL" sz="1600" dirty="0" smtClean="0"/>
              <a:t>       </a:t>
            </a:r>
            <a:r>
              <a:rPr lang="en-US" altLang="he-IL" sz="1600" noProof="1" smtClean="0"/>
              <a:t> </a:t>
            </a:r>
            <a:r>
              <a:rPr lang="en-US" altLang="he-IL" sz="1600" dirty="0" smtClean="0"/>
              <a:t>        </a:t>
            </a:r>
            <a:r>
              <a:rPr lang="en-US" altLang="he-IL" sz="1600" noProof="1" smtClean="0"/>
              <a:t>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    for (</a:t>
            </a:r>
            <a:r>
              <a:rPr lang="en-US" altLang="he-IL" sz="1600" dirty="0" smtClean="0"/>
              <a:t>             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                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     </a:t>
            </a:r>
            <a:r>
              <a:rPr lang="en-US" altLang="he-IL" sz="1600" noProof="1" smtClean="0"/>
              <a:t>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  </a:t>
            </a:r>
            <a:r>
              <a:rPr lang="en-US" altLang="he-IL" sz="1600" dirty="0" smtClean="0"/>
              <a:t>     </a:t>
            </a:r>
            <a:r>
              <a:rPr lang="en-US" altLang="he-IL" sz="1600" noProof="1" smtClean="0"/>
              <a:t>printf("%d ", </a:t>
            </a:r>
            <a:r>
              <a:rPr lang="en-US" altLang="he-IL" sz="1600" dirty="0" smtClean="0"/>
              <a:t>*</a:t>
            </a:r>
            <a:r>
              <a:rPr lang="en-US" altLang="he-IL" sz="1600" dirty="0" err="1" smtClean="0"/>
              <a:t>pCols</a:t>
            </a:r>
            <a:r>
              <a:rPr lang="en-US" altLang="he-IL" sz="1600" noProof="1" smtClean="0"/>
              <a:t>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    printf("\n");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noProof="1" smtClean="0"/>
              <a:t>	</a:t>
            </a:r>
            <a:r>
              <a:rPr lang="en-US" altLang="he-IL" sz="1600" noProof="1" smtClean="0"/>
              <a:t>int arr1[]={1,2,3}, arr2[]={4,5,6}, arr3[]={7,8,9};</a:t>
            </a:r>
            <a:r>
              <a:rPr lang="en-US" altLang="he-IL" sz="1800" noProof="1" smtClean="0"/>
              <a:t>	</a:t>
            </a:r>
            <a:endParaRPr lang="en-US" altLang="he-IL" sz="18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600" noProof="1" smtClean="0"/>
              <a:t>int* mat</a:t>
            </a:r>
            <a:r>
              <a:rPr lang="en-US" altLang="he-IL" sz="1600" dirty="0" smtClean="0"/>
              <a:t>1</a:t>
            </a:r>
            <a:r>
              <a:rPr lang="en-US" altLang="he-IL" sz="1600" noProof="1" smtClean="0"/>
              <a:t>[] = {arr1, arr2};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printf("matrix 1:\n");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PrintMatrix(mat1, 2, 3);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  <a:endParaRPr lang="en-US" altLang="he-IL" sz="1600" dirty="0" smtClean="0"/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6019800" y="64912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21861" name="Group 5"/>
          <p:cNvGraphicFramePr>
            <a:graphicFrameLocks noGrp="1"/>
          </p:cNvGraphicFramePr>
          <p:nvPr/>
        </p:nvGraphicFramePr>
        <p:xfrm>
          <a:off x="6477000" y="2530475"/>
          <a:ext cx="2590800" cy="4023206"/>
        </p:xfrm>
        <a:graphic>
          <a:graphicData uri="http://schemas.openxmlformats.org/drawingml/2006/table">
            <a:tbl>
              <a:tblPr/>
              <a:tblGrid>
                <a:gridCol w="1295400"/>
                <a:gridCol w="762000"/>
                <a:gridCol w="533400"/>
              </a:tblGrid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arr1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arr2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arr3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mat1[]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1922" name="Group 66"/>
          <p:cNvGraphicFramePr>
            <a:graphicFrameLocks noGrp="1"/>
          </p:cNvGraphicFramePr>
          <p:nvPr/>
        </p:nvGraphicFramePr>
        <p:xfrm>
          <a:off x="6477000" y="2530475"/>
          <a:ext cx="2590800" cy="4023206"/>
        </p:xfrm>
        <a:graphic>
          <a:graphicData uri="http://schemas.openxmlformats.org/drawingml/2006/table">
            <a:tbl>
              <a:tblPr/>
              <a:tblGrid>
                <a:gridCol w="1295400"/>
                <a:gridCol w="762000"/>
                <a:gridCol w="533400"/>
              </a:tblGrid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arr1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arr2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arr3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mat1[]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1983" name="Group 127"/>
          <p:cNvGraphicFramePr>
            <a:graphicFrameLocks noGrp="1"/>
          </p:cNvGraphicFramePr>
          <p:nvPr/>
        </p:nvGraphicFramePr>
        <p:xfrm>
          <a:off x="6477000" y="2530475"/>
          <a:ext cx="2590800" cy="4023206"/>
        </p:xfrm>
        <a:graphic>
          <a:graphicData uri="http://schemas.openxmlformats.org/drawingml/2006/table">
            <a:tbl>
              <a:tblPr/>
              <a:tblGrid>
                <a:gridCol w="1295400"/>
                <a:gridCol w="762000"/>
                <a:gridCol w="533400"/>
              </a:tblGrid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arr1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arr2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arr3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mat1[]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044" name="Group 188"/>
          <p:cNvGraphicFramePr>
            <a:graphicFrameLocks noGrp="1"/>
          </p:cNvGraphicFramePr>
          <p:nvPr/>
        </p:nvGraphicFramePr>
        <p:xfrm>
          <a:off x="6477000" y="2530475"/>
          <a:ext cx="2590800" cy="4023206"/>
        </p:xfrm>
        <a:graphic>
          <a:graphicData uri="http://schemas.openxmlformats.org/drawingml/2006/table">
            <a:tbl>
              <a:tblPr/>
              <a:tblGrid>
                <a:gridCol w="1295400"/>
                <a:gridCol w="762000"/>
                <a:gridCol w="533400"/>
              </a:tblGrid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arr1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arr2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arr3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mat1[]</a:t>
                      </a: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3" marB="4571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361" name="Group 505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2133" name="Text Box 277"/>
          <p:cNvSpPr txBox="1">
            <a:spLocks noChangeArrowheads="1"/>
          </p:cNvSpPr>
          <p:nvPr/>
        </p:nvSpPr>
        <p:spPr bwMode="auto">
          <a:xfrm>
            <a:off x="990600" y="3013075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noProof="1">
                <a:latin typeface="Verdana" pitchFamily="34" charset="0"/>
              </a:rPr>
              <a:t>pRows=mat</a:t>
            </a:r>
            <a:endParaRPr lang="en-US" altLang="he-IL" sz="1600">
              <a:latin typeface="Verdana" pitchFamily="34" charset="0"/>
            </a:endParaRPr>
          </a:p>
        </p:txBody>
      </p:sp>
      <p:sp>
        <p:nvSpPr>
          <p:cNvPr id="122134" name="Text Box 278"/>
          <p:cNvSpPr txBox="1">
            <a:spLocks noChangeArrowheads="1"/>
          </p:cNvSpPr>
          <p:nvPr/>
        </p:nvSpPr>
        <p:spPr bwMode="auto">
          <a:xfrm>
            <a:off x="2438400" y="3013075"/>
            <a:ext cx="3352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noProof="1">
                <a:latin typeface="Verdana" pitchFamily="34" charset="0"/>
              </a:rPr>
              <a:t>pRows &lt; mat+rows</a:t>
            </a:r>
            <a:endParaRPr lang="en-US" altLang="he-IL" sz="1600">
              <a:latin typeface="Verdana" pitchFamily="34" charset="0"/>
            </a:endParaRPr>
          </a:p>
        </p:txBody>
      </p:sp>
      <p:sp>
        <p:nvSpPr>
          <p:cNvPr id="122135" name="Text Box 279"/>
          <p:cNvSpPr txBox="1">
            <a:spLocks noChangeArrowheads="1"/>
          </p:cNvSpPr>
          <p:nvPr/>
        </p:nvSpPr>
        <p:spPr bwMode="auto">
          <a:xfrm>
            <a:off x="4648200" y="3013075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pRows++</a:t>
            </a:r>
          </a:p>
        </p:txBody>
      </p:sp>
      <p:sp>
        <p:nvSpPr>
          <p:cNvPr id="122136" name="Text Box 280"/>
          <p:cNvSpPr txBox="1">
            <a:spLocks noChangeArrowheads="1"/>
          </p:cNvSpPr>
          <p:nvPr/>
        </p:nvSpPr>
        <p:spPr bwMode="auto">
          <a:xfrm>
            <a:off x="1295400" y="3514725"/>
            <a:ext cx="1905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noProof="1">
                <a:latin typeface="Verdana" pitchFamily="34" charset="0"/>
              </a:rPr>
              <a:t>pCols=*pRows</a:t>
            </a:r>
            <a:endParaRPr lang="en-US" altLang="he-IL" sz="1600">
              <a:latin typeface="Verdana" pitchFamily="34" charset="0"/>
            </a:endParaRPr>
          </a:p>
        </p:txBody>
      </p:sp>
      <p:sp>
        <p:nvSpPr>
          <p:cNvPr id="122137" name="Text Box 281"/>
          <p:cNvSpPr txBox="1">
            <a:spLocks noChangeArrowheads="1"/>
          </p:cNvSpPr>
          <p:nvPr/>
        </p:nvSpPr>
        <p:spPr bwMode="auto">
          <a:xfrm>
            <a:off x="3048000" y="3514725"/>
            <a:ext cx="289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noProof="1">
                <a:latin typeface="Verdana" pitchFamily="34" charset="0"/>
              </a:rPr>
              <a:t>pCols &lt; *pRows+cols</a:t>
            </a:r>
            <a:endParaRPr lang="en-US" altLang="he-IL" sz="1600">
              <a:latin typeface="Verdana" pitchFamily="34" charset="0"/>
            </a:endParaRPr>
          </a:p>
        </p:txBody>
      </p:sp>
      <p:sp>
        <p:nvSpPr>
          <p:cNvPr id="122138" name="Text Box 282"/>
          <p:cNvSpPr txBox="1">
            <a:spLocks noChangeArrowheads="1"/>
          </p:cNvSpPr>
          <p:nvPr/>
        </p:nvSpPr>
        <p:spPr bwMode="auto">
          <a:xfrm>
            <a:off x="5715000" y="3505200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pCols++</a:t>
            </a:r>
          </a:p>
        </p:txBody>
      </p:sp>
      <p:graphicFrame>
        <p:nvGraphicFramePr>
          <p:cNvPr id="122365" name="Group 509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2391" name="AutoShape 535"/>
          <p:cNvSpPr>
            <a:spLocks/>
          </p:cNvSpPr>
          <p:nvPr/>
        </p:nvSpPr>
        <p:spPr bwMode="auto">
          <a:xfrm rot="-5400000">
            <a:off x="3924300" y="2517775"/>
            <a:ext cx="152400" cy="990600"/>
          </a:xfrm>
          <a:prstGeom prst="rightBrace">
            <a:avLst>
              <a:gd name="adj1" fmla="val 162500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22392" name="Text Box 536"/>
          <p:cNvSpPr txBox="1">
            <a:spLocks noChangeArrowheads="1"/>
          </p:cNvSpPr>
          <p:nvPr/>
        </p:nvSpPr>
        <p:spPr bwMode="auto">
          <a:xfrm>
            <a:off x="2514600" y="2632075"/>
            <a:ext cx="2743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he-IL" sz="1600" b="1">
                <a:solidFill>
                  <a:srgbClr val="FF0000"/>
                </a:solidFill>
              </a:rPr>
              <a:t>1036+2*4=1044</a:t>
            </a:r>
          </a:p>
        </p:txBody>
      </p:sp>
      <p:graphicFrame>
        <p:nvGraphicFramePr>
          <p:cNvPr id="122393" name="Group 537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2419" name="AutoShape 563"/>
          <p:cNvSpPr>
            <a:spLocks/>
          </p:cNvSpPr>
          <p:nvPr/>
        </p:nvSpPr>
        <p:spPr bwMode="auto">
          <a:xfrm rot="-5400000">
            <a:off x="4610100" y="2974975"/>
            <a:ext cx="152400" cy="1143000"/>
          </a:xfrm>
          <a:prstGeom prst="rightBrace">
            <a:avLst>
              <a:gd name="adj1" fmla="val 187500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22420" name="Text Box 564"/>
          <p:cNvSpPr txBox="1">
            <a:spLocks noChangeArrowheads="1"/>
          </p:cNvSpPr>
          <p:nvPr/>
        </p:nvSpPr>
        <p:spPr bwMode="auto">
          <a:xfrm>
            <a:off x="3124200" y="3192532"/>
            <a:ext cx="3657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b="1" dirty="0" smtClean="0">
                <a:solidFill>
                  <a:srgbClr val="FF0000"/>
                </a:solidFill>
              </a:rPr>
              <a:t>1000+3*4=1012 </a:t>
            </a:r>
            <a:r>
              <a:rPr lang="en-US" altLang="he-IL" sz="1600" b="1" dirty="0">
                <a:solidFill>
                  <a:srgbClr val="FF0000"/>
                </a:solidFill>
              </a:rPr>
              <a:t>/ 1012+3*4=1024</a:t>
            </a:r>
          </a:p>
          <a:p>
            <a:pPr eaLnBrk="1" hangingPunct="1">
              <a:spcBef>
                <a:spcPct val="50000"/>
              </a:spcBef>
            </a:pPr>
            <a:endParaRPr lang="en-US" altLang="he-IL" sz="1600" b="1" dirty="0">
              <a:solidFill>
                <a:srgbClr val="FF0000"/>
              </a:solidFill>
            </a:endParaRPr>
          </a:p>
        </p:txBody>
      </p:sp>
      <p:graphicFrame>
        <p:nvGraphicFramePr>
          <p:cNvPr id="122422" name="Group 566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448" name="Group 592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474" name="Group 618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500" name="Group 644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526" name="Group 670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2551" name="Text Box 695"/>
          <p:cNvSpPr txBox="1">
            <a:spLocks noChangeArrowheads="1"/>
          </p:cNvSpPr>
          <p:nvPr/>
        </p:nvSpPr>
        <p:spPr bwMode="auto">
          <a:xfrm>
            <a:off x="5372100" y="1781796"/>
            <a:ext cx="2743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he-IL" sz="1600" b="1" dirty="0">
                <a:solidFill>
                  <a:srgbClr val="FF0000"/>
                </a:solidFill>
              </a:rPr>
              <a:t>1012+3*4=1024</a:t>
            </a:r>
          </a:p>
        </p:txBody>
      </p:sp>
      <p:graphicFrame>
        <p:nvGraphicFramePr>
          <p:cNvPr id="122553" name="Group 697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579" name="Group 723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605" name="Group 749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631" name="Group 775"/>
          <p:cNvGraphicFramePr>
            <a:graphicFrameLocks noGrp="1"/>
          </p:cNvGraphicFramePr>
          <p:nvPr/>
        </p:nvGraphicFramePr>
        <p:xfrm>
          <a:off x="1828800" y="152400"/>
          <a:ext cx="27432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806450"/>
                <a:gridCol w="56515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1036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pRows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1044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pCols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2656" name="Rectangle 800"/>
          <p:cNvSpPr>
            <a:spLocks noChangeArrowheads="1"/>
          </p:cNvSpPr>
          <p:nvPr/>
        </p:nvSpPr>
        <p:spPr bwMode="auto">
          <a:xfrm>
            <a:off x="1600200" y="4308475"/>
            <a:ext cx="48768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en-US" altLang="he-IL" b="1">
                <a:solidFill>
                  <a:schemeClr val="bg1"/>
                </a:solidFill>
              </a:rPr>
              <a:t>pRows</a:t>
            </a:r>
            <a:r>
              <a:rPr lang="he-IL" altLang="he-IL" b="1">
                <a:solidFill>
                  <a:schemeClr val="bg1"/>
                </a:solidFill>
              </a:rPr>
              <a:t> מטיפוס </a:t>
            </a:r>
            <a:r>
              <a:rPr lang="en-US" altLang="he-IL" b="1">
                <a:solidFill>
                  <a:schemeClr val="bg1"/>
                </a:solidFill>
              </a:rPr>
              <a:t>int**</a:t>
            </a:r>
            <a:r>
              <a:rPr lang="he-IL" altLang="he-IL" b="1">
                <a:solidFill>
                  <a:schemeClr val="bg1"/>
                </a:solidFill>
              </a:rPr>
              <a:t> משום שזה משתנה המכיל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את הכתובת של האיבר במערך אליו אנו רוצים לפנות.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מאחר והמערך מכיל כתובות ל- </a:t>
            </a:r>
            <a:r>
              <a:rPr lang="en-US" altLang="he-IL" b="1">
                <a:solidFill>
                  <a:schemeClr val="bg1"/>
                </a:solidFill>
              </a:rPr>
              <a:t>int</a:t>
            </a:r>
            <a:r>
              <a:rPr lang="he-IL" altLang="he-IL" b="1">
                <a:solidFill>
                  <a:schemeClr val="bg1"/>
                </a:solidFill>
              </a:rPr>
              <a:t> הוא מטיפוס </a:t>
            </a:r>
            <a:r>
              <a:rPr lang="en-US" altLang="he-IL" b="1">
                <a:solidFill>
                  <a:schemeClr val="bg1"/>
                </a:solidFill>
              </a:rPr>
              <a:t>int**</a:t>
            </a:r>
          </a:p>
        </p:txBody>
      </p:sp>
      <p:sp>
        <p:nvSpPr>
          <p:cNvPr id="4761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3DB850C3-2202-4952-A8D2-4BE6B730872D}" type="slidenum">
              <a:rPr lang="he-IL" altLang="he-IL" smtClean="0">
                <a:latin typeface="Verdana" pitchFamily="34" charset="0"/>
              </a:rPr>
              <a:pPr algn="r" rtl="1" eaLnBrk="1" hangingPunct="1"/>
              <a:t>43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sp>
        <p:nvSpPr>
          <p:cNvPr id="37" name="Text Box 566"/>
          <p:cNvSpPr txBox="1">
            <a:spLocks noChangeArrowheads="1"/>
          </p:cNvSpPr>
          <p:nvPr/>
        </p:nvSpPr>
        <p:spPr bwMode="auto">
          <a:xfrm>
            <a:off x="1600200" y="19050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printMatrix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איתחול מצביע למחרוזת קבועה</a:t>
            </a:r>
            <a:endParaRPr lang="en-US" altLang="he-IL" smtClean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876800"/>
          </a:xfrm>
        </p:spPr>
        <p:txBody>
          <a:bodyPr/>
          <a:lstStyle/>
          <a:p>
            <a:r>
              <a:rPr lang="he-IL" altLang="he-IL" sz="2400" dirty="0" smtClean="0"/>
              <a:t>ראינו </a:t>
            </a:r>
            <a:r>
              <a:rPr lang="he-IL" altLang="he-IL" sz="2400" dirty="0" err="1" smtClean="0"/>
              <a:t>איתחול</a:t>
            </a:r>
            <a:r>
              <a:rPr lang="he-IL" altLang="he-IL" sz="2400" dirty="0" smtClean="0"/>
              <a:t> מחרוזת: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2400" dirty="0" smtClean="0"/>
              <a:t>char </a:t>
            </a:r>
            <a:r>
              <a:rPr lang="en-US" altLang="he-IL" sz="2400" dirty="0" err="1" smtClean="0"/>
              <a:t>str</a:t>
            </a:r>
            <a:r>
              <a:rPr lang="en-US" altLang="he-IL" sz="2400" dirty="0" smtClean="0"/>
              <a:t>[] = “Hi”;</a:t>
            </a:r>
            <a:endParaRPr lang="he-IL" altLang="he-IL" sz="2400" dirty="0" smtClean="0"/>
          </a:p>
          <a:p>
            <a:endParaRPr lang="he-IL" altLang="he-IL" sz="2400" dirty="0" smtClean="0"/>
          </a:p>
          <a:p>
            <a:endParaRPr lang="he-IL" altLang="he-IL" sz="2400" dirty="0" smtClean="0"/>
          </a:p>
          <a:p>
            <a:r>
              <a:rPr lang="he-IL" altLang="he-IL" sz="2400" dirty="0" smtClean="0"/>
              <a:t>ניתן לאתחל מצביע למחרוזת כך: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2400" dirty="0" smtClean="0"/>
              <a:t>char* </a:t>
            </a:r>
            <a:r>
              <a:rPr lang="en-US" altLang="he-IL" sz="2400" dirty="0" err="1" smtClean="0"/>
              <a:t>str</a:t>
            </a:r>
            <a:r>
              <a:rPr lang="en-US" altLang="he-IL" sz="2400" dirty="0" smtClean="0"/>
              <a:t> = “Hi”;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2400" dirty="0" smtClean="0"/>
              <a:t>	</a:t>
            </a:r>
          </a:p>
          <a:p>
            <a:pPr algn="l" rtl="0">
              <a:buFont typeface="Wingdings" pitchFamily="2" charset="2"/>
              <a:buNone/>
            </a:pPr>
            <a:endParaRPr lang="en-US" altLang="he-IL" sz="2400" dirty="0" smtClean="0"/>
          </a:p>
          <a:p>
            <a:pPr algn="l" rtl="0">
              <a:buFont typeface="Wingdings" pitchFamily="2" charset="2"/>
              <a:buNone/>
            </a:pPr>
            <a:endParaRPr lang="he-IL" altLang="he-IL" sz="2400" dirty="0" smtClean="0"/>
          </a:p>
        </p:txBody>
      </p:sp>
      <p:graphicFrame>
        <p:nvGraphicFramePr>
          <p:cNvPr id="128004" name="Group 4"/>
          <p:cNvGraphicFramePr>
            <a:graphicFrameLocks noGrp="1"/>
          </p:cNvGraphicFramePr>
          <p:nvPr>
            <p:ph sz="half" idx="2"/>
          </p:nvPr>
        </p:nvGraphicFramePr>
        <p:xfrm>
          <a:off x="3429000" y="2209800"/>
          <a:ext cx="2590800" cy="1097202"/>
        </p:xfrm>
        <a:graphic>
          <a:graphicData uri="http://schemas.openxmlformats.org/drawingml/2006/table">
            <a:tbl>
              <a:tblPr/>
              <a:tblGrid>
                <a:gridCol w="1143000"/>
                <a:gridCol w="914400"/>
                <a:gridCol w="5334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8021" name="Group 21"/>
          <p:cNvGraphicFramePr>
            <a:graphicFrameLocks noGrp="1"/>
          </p:cNvGraphicFramePr>
          <p:nvPr/>
        </p:nvGraphicFramePr>
        <p:xfrm>
          <a:off x="3429000" y="4010025"/>
          <a:ext cx="2590800" cy="365602"/>
        </p:xfrm>
        <a:graphic>
          <a:graphicData uri="http://schemas.openxmlformats.org/drawingml/2006/table">
            <a:tbl>
              <a:tblPr/>
              <a:tblGrid>
                <a:gridCol w="1143000"/>
                <a:gridCol w="914400"/>
                <a:gridCol w="533400"/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</a:t>
                      </a:r>
                    </a:p>
                  </a:txBody>
                  <a:tcPr marT="45641" marB="45641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marT="45641" marB="456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41" marB="456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6019800" y="3810000"/>
            <a:ext cx="2971800" cy="14478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6172200" y="5181600"/>
            <a:ext cx="266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 dirty="0"/>
              <a:t>זיכרון ה- </a:t>
            </a:r>
            <a:r>
              <a:rPr lang="en-US" altLang="he-IL" dirty="0" smtClean="0"/>
              <a:t>Data segment</a:t>
            </a:r>
            <a:endParaRPr lang="en-US" altLang="he-IL" dirty="0"/>
          </a:p>
        </p:txBody>
      </p:sp>
      <p:graphicFrame>
        <p:nvGraphicFramePr>
          <p:cNvPr id="128031" name="Group 31"/>
          <p:cNvGraphicFramePr>
            <a:graphicFrameLocks noGrp="1"/>
          </p:cNvGraphicFramePr>
          <p:nvPr/>
        </p:nvGraphicFramePr>
        <p:xfrm>
          <a:off x="6629400" y="3962400"/>
          <a:ext cx="1905000" cy="1098710"/>
        </p:xfrm>
        <a:graphic>
          <a:graphicData uri="http://schemas.openxmlformats.org/drawingml/2006/table">
            <a:tbl>
              <a:tblPr/>
              <a:tblGrid>
                <a:gridCol w="609600"/>
                <a:gridCol w="7620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2501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8049" name="Text Box 49"/>
          <p:cNvSpPr txBox="1">
            <a:spLocks noChangeArrowheads="1"/>
          </p:cNvSpPr>
          <p:nvPr/>
        </p:nvSpPr>
        <p:spPr bwMode="auto">
          <a:xfrm>
            <a:off x="152400" y="4572000"/>
            <a:ext cx="52578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he-IL" altLang="he-IL" sz="2000" dirty="0"/>
              <a:t>  </a:t>
            </a:r>
            <a:r>
              <a:rPr lang="en-US" altLang="he-IL" sz="2000" dirty="0" err="1"/>
              <a:t>str</a:t>
            </a:r>
            <a:r>
              <a:rPr lang="he-IL" altLang="he-IL" sz="2000" dirty="0"/>
              <a:t> יכיל את כתובת ההתחלה של </a:t>
            </a:r>
            <a:r>
              <a:rPr lang="he-IL" altLang="he-IL" sz="2000" dirty="0" smtClean="0"/>
              <a:t>המערך.</a:t>
            </a:r>
            <a:endParaRPr lang="he-IL" altLang="he-IL" sz="2000" dirty="0"/>
          </a:p>
          <a:p>
            <a:pPr algn="r" rt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he-IL" altLang="he-IL" sz="2000" dirty="0"/>
              <a:t>  כאשר מאתחלים מצביע למחרוזת בצורה זו       המערך נשמר בזיכרון הנקרא </a:t>
            </a:r>
            <a:r>
              <a:rPr lang="en-US" altLang="he-IL" sz="2000" dirty="0"/>
              <a:t>Data </a:t>
            </a:r>
            <a:r>
              <a:rPr lang="en-US" altLang="he-IL" sz="2000" dirty="0" smtClean="0"/>
              <a:t>segment</a:t>
            </a:r>
            <a:r>
              <a:rPr lang="he-IL" altLang="he-IL" sz="2000" dirty="0" smtClean="0"/>
              <a:t>.</a:t>
            </a:r>
            <a:endParaRPr lang="he-IL" altLang="he-IL" sz="2000" dirty="0"/>
          </a:p>
          <a:p>
            <a:pPr algn="r" rt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he-IL" altLang="he-IL" sz="2000" dirty="0"/>
              <a:t>  כל פעולה שניתן לבצע על מערך ניתן לבצע על מערך תווים </a:t>
            </a:r>
            <a:r>
              <a:rPr lang="he-IL" altLang="he-IL" sz="2000" dirty="0" smtClean="0"/>
              <a:t>זה, פרט </a:t>
            </a:r>
            <a:r>
              <a:rPr lang="he-IL" altLang="he-IL" sz="2000" dirty="0"/>
              <a:t>לשינוי ערכי </a:t>
            </a:r>
            <a:r>
              <a:rPr lang="he-IL" altLang="he-IL" sz="2000" dirty="0" smtClean="0"/>
              <a:t>המערך, משום שהוא נמצא בחלק ה-</a:t>
            </a:r>
            <a:r>
              <a:rPr lang="en-US" altLang="he-IL" sz="2000" dirty="0" smtClean="0"/>
              <a:t>r/o</a:t>
            </a:r>
            <a:r>
              <a:rPr lang="he-IL" altLang="he-IL" sz="2000" dirty="0" smtClean="0"/>
              <a:t> של ה-</a:t>
            </a:r>
            <a:r>
              <a:rPr lang="en-US" altLang="he-IL" sz="2000" dirty="0" smtClean="0"/>
              <a:t>Data segment</a:t>
            </a:r>
            <a:r>
              <a:rPr lang="he-IL" altLang="he-IL" sz="2000" dirty="0" smtClean="0"/>
              <a:t>.</a:t>
            </a:r>
            <a:endParaRPr lang="en-US" altLang="he-IL" sz="2000" dirty="0"/>
          </a:p>
          <a:p>
            <a:pPr algn="r" rtl="1" eaLnBrk="1" hangingPunct="1">
              <a:buClr>
                <a:schemeClr val="tx2"/>
              </a:buClr>
              <a:buFont typeface="Wingdings" pitchFamily="2" charset="2"/>
              <a:buNone/>
            </a:pPr>
            <a:endParaRPr lang="en-US" altLang="he-IL" sz="2000" dirty="0"/>
          </a:p>
        </p:txBody>
      </p:sp>
      <p:sp>
        <p:nvSpPr>
          <p:cNvPr id="4817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43433D9-EA2C-4E2C-8A3E-B2D4F65256B6}" type="slidenum">
              <a:rPr lang="he-IL" altLang="he-IL" smtClean="0">
                <a:latin typeface="Verdana" pitchFamily="34" charset="0"/>
              </a:rPr>
              <a:pPr algn="r" rtl="1" eaLnBrk="1" hangingPunct="1"/>
              <a:t>44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dirty="0" smtClean="0"/>
              <a:t>ה- </a:t>
            </a:r>
            <a:r>
              <a:rPr lang="en-US" altLang="he-IL" dirty="0" smtClean="0"/>
              <a:t>R/O  Data segment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dirty="0" smtClean="0"/>
              <a:t>זהו שטח זיכרון המכיל מחרוזות סטטיות שהוגדרו בזמן קומפילציה, או משתנים גלובליים שהוגדרו </a:t>
            </a:r>
            <a:r>
              <a:rPr lang="en-US" altLang="he-IL" dirty="0" err="1" smtClean="0"/>
              <a:t>const</a:t>
            </a:r>
            <a:r>
              <a:rPr lang="he-IL" altLang="he-IL" dirty="0" smtClean="0"/>
              <a:t> .</a:t>
            </a:r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r>
              <a:rPr lang="he-IL" altLang="he-IL" dirty="0" smtClean="0"/>
              <a:t>זיכרון זה הינו סטטי ולא ניתן לשנות את תוכנו: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400" noProof="1" smtClean="0"/>
              <a:t>int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4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400" noProof="1" smtClean="0"/>
              <a:t>	char* str = "hhhhh";	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400" noProof="1" smtClean="0"/>
              <a:t>	scanf("%s", str);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400" noProof="1" smtClean="0"/>
              <a:t>}</a:t>
            </a:r>
            <a:endParaRPr lang="en-US" altLang="he-IL" sz="2400" dirty="0" smtClean="0"/>
          </a:p>
        </p:txBody>
      </p:sp>
      <p:pic>
        <p:nvPicPr>
          <p:cNvPr id="129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562600"/>
            <a:ext cx="64611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71A8AD8E-2297-479F-BDA7-55DE09D7242B}" type="slidenum">
              <a:rPr lang="he-IL" altLang="he-IL" smtClean="0">
                <a:latin typeface="Verdana" pitchFamily="34" charset="0"/>
              </a:rPr>
              <a:pPr algn="r" rtl="1" eaLnBrk="1" hangingPunct="1"/>
              <a:t>45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מערך של מצביעים למחרוזות - דוגמא</a:t>
            </a:r>
            <a:endParaRPr lang="en-US" altLang="he-IL" smtClean="0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int main()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{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char* arr[3] = {"This", "is", "nice"};	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	printf("%c\n", (*(arr+2))[1]);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800" noProof="1" smtClean="0"/>
              <a:t>}</a:t>
            </a:r>
            <a:endParaRPr lang="en-US" altLang="he-IL" sz="1800" dirty="0" smtClean="0"/>
          </a:p>
        </p:txBody>
      </p:sp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838200" y="4176713"/>
            <a:ext cx="7772400" cy="2071687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3124200" y="6248400"/>
            <a:ext cx="266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 dirty="0"/>
              <a:t>זיכרון ה- </a:t>
            </a:r>
            <a:r>
              <a:rPr lang="en-US" altLang="he-IL" dirty="0" smtClean="0"/>
              <a:t>Data Segment</a:t>
            </a:r>
            <a:endParaRPr lang="en-US" altLang="he-IL" dirty="0"/>
          </a:p>
        </p:txBody>
      </p:sp>
      <p:graphicFrame>
        <p:nvGraphicFramePr>
          <p:cNvPr id="130139" name="Group 91"/>
          <p:cNvGraphicFramePr>
            <a:graphicFrameLocks noGrp="1"/>
          </p:cNvGraphicFramePr>
          <p:nvPr/>
        </p:nvGraphicFramePr>
        <p:xfrm>
          <a:off x="6248400" y="4176713"/>
          <a:ext cx="1905000" cy="1832072"/>
        </p:xfrm>
        <a:graphic>
          <a:graphicData uri="http://schemas.openxmlformats.org/drawingml/2006/table">
            <a:tbl>
              <a:tblPr/>
              <a:tblGrid>
                <a:gridCol w="609600"/>
                <a:gridCol w="685800"/>
                <a:gridCol w="609600"/>
              </a:tblGrid>
              <a:tr h="365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‘T’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2501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2502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‘s’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2503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2504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104" name="Group 56"/>
          <p:cNvGraphicFramePr>
            <a:graphicFrameLocks noGrp="1"/>
          </p:cNvGraphicFramePr>
          <p:nvPr/>
        </p:nvGraphicFramePr>
        <p:xfrm>
          <a:off x="5638800" y="1752600"/>
          <a:ext cx="3124200" cy="1097202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char*[]: arr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0106" name="Group 58"/>
          <p:cNvGraphicFramePr>
            <a:graphicFrameLocks noGrp="1"/>
          </p:cNvGraphicFramePr>
          <p:nvPr/>
        </p:nvGraphicFramePr>
        <p:xfrm>
          <a:off x="5638800" y="1752600"/>
          <a:ext cx="3124200" cy="1097202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0194" name="Group 146"/>
          <p:cNvGraphicFramePr>
            <a:graphicFrameLocks noGrp="1"/>
          </p:cNvGraphicFramePr>
          <p:nvPr/>
        </p:nvGraphicFramePr>
        <p:xfrm>
          <a:off x="1905000" y="4710113"/>
          <a:ext cx="1905000" cy="1100136"/>
        </p:xfrm>
        <a:graphic>
          <a:graphicData uri="http://schemas.openxmlformats.org/drawingml/2006/table">
            <a:tbl>
              <a:tblPr/>
              <a:tblGrid>
                <a:gridCol w="609600"/>
                <a:gridCol w="685800"/>
                <a:gridCol w="609600"/>
              </a:tblGrid>
              <a:tr h="3667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‘s’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167" name="Group 119"/>
          <p:cNvGraphicFramePr>
            <a:graphicFrameLocks noGrp="1"/>
          </p:cNvGraphicFramePr>
          <p:nvPr/>
        </p:nvGraphicFramePr>
        <p:xfrm>
          <a:off x="4038600" y="4176713"/>
          <a:ext cx="1905000" cy="1832072"/>
        </p:xfrm>
        <a:graphic>
          <a:graphicData uri="http://schemas.openxmlformats.org/drawingml/2006/table">
            <a:tbl>
              <a:tblPr/>
              <a:tblGrid>
                <a:gridCol w="609600"/>
                <a:gridCol w="685800"/>
                <a:gridCol w="609600"/>
              </a:tblGrid>
              <a:tr h="365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‘n’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3200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3201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‘c’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3202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‘e’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3203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3204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0195" name="AutoShape 147"/>
          <p:cNvSpPr>
            <a:spLocks/>
          </p:cNvSpPr>
          <p:nvPr/>
        </p:nvSpPr>
        <p:spPr bwMode="auto">
          <a:xfrm rot="5400000">
            <a:off x="2952750" y="2838450"/>
            <a:ext cx="266700" cy="381000"/>
          </a:xfrm>
          <a:prstGeom prst="rightBrace">
            <a:avLst>
              <a:gd name="adj1" fmla="val 1190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30196" name="Text Box 148"/>
          <p:cNvSpPr txBox="1">
            <a:spLocks noChangeArrowheads="1"/>
          </p:cNvSpPr>
          <p:nvPr/>
        </p:nvSpPr>
        <p:spPr bwMode="auto">
          <a:xfrm>
            <a:off x="2743200" y="3048000"/>
            <a:ext cx="106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sz="1600" b="1">
                <a:solidFill>
                  <a:srgbClr val="FF0000"/>
                </a:solidFill>
              </a:rPr>
              <a:t>1000</a:t>
            </a:r>
            <a:endParaRPr lang="en-US" altLang="he-IL" sz="1600" b="1">
              <a:solidFill>
                <a:srgbClr val="FF0000"/>
              </a:solidFill>
            </a:endParaRPr>
          </a:p>
        </p:txBody>
      </p:sp>
      <p:sp>
        <p:nvSpPr>
          <p:cNvPr id="130197" name="AutoShape 149"/>
          <p:cNvSpPr>
            <a:spLocks/>
          </p:cNvSpPr>
          <p:nvPr/>
        </p:nvSpPr>
        <p:spPr bwMode="auto">
          <a:xfrm rot="5400000">
            <a:off x="2952750" y="3035300"/>
            <a:ext cx="266700" cy="685800"/>
          </a:xfrm>
          <a:prstGeom prst="rightBrace">
            <a:avLst>
              <a:gd name="adj1" fmla="val 21429"/>
              <a:gd name="adj2" fmla="val 50000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30198" name="Text Box 150"/>
          <p:cNvSpPr txBox="1">
            <a:spLocks noChangeArrowheads="1"/>
          </p:cNvSpPr>
          <p:nvPr/>
        </p:nvSpPr>
        <p:spPr bwMode="auto">
          <a:xfrm>
            <a:off x="2743200" y="339725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sz="1600" b="1">
                <a:solidFill>
                  <a:schemeClr val="hlink"/>
                </a:solidFill>
              </a:rPr>
              <a:t>1008</a:t>
            </a:r>
            <a:endParaRPr lang="en-US" altLang="he-IL" sz="1600" b="1">
              <a:solidFill>
                <a:schemeClr val="hlink"/>
              </a:solidFill>
            </a:endParaRPr>
          </a:p>
        </p:txBody>
      </p:sp>
      <p:sp>
        <p:nvSpPr>
          <p:cNvPr id="130199" name="AutoShape 151"/>
          <p:cNvSpPr>
            <a:spLocks/>
          </p:cNvSpPr>
          <p:nvPr/>
        </p:nvSpPr>
        <p:spPr bwMode="auto">
          <a:xfrm rot="5400000">
            <a:off x="2914650" y="3149600"/>
            <a:ext cx="266700" cy="1066800"/>
          </a:xfrm>
          <a:prstGeom prst="rightBrace">
            <a:avLst>
              <a:gd name="adj1" fmla="val 33333"/>
              <a:gd name="adj2" fmla="val 50000"/>
            </a:avLst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30200" name="Text Box 152"/>
          <p:cNvSpPr txBox="1">
            <a:spLocks noChangeArrowheads="1"/>
          </p:cNvSpPr>
          <p:nvPr/>
        </p:nvSpPr>
        <p:spPr bwMode="auto">
          <a:xfrm>
            <a:off x="2743200" y="370205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sz="1600" b="1">
                <a:solidFill>
                  <a:srgbClr val="009900"/>
                </a:solidFill>
              </a:rPr>
              <a:t>3200</a:t>
            </a:r>
            <a:endParaRPr lang="en-US" altLang="he-IL" sz="1600" b="1">
              <a:solidFill>
                <a:srgbClr val="009900"/>
              </a:solidFill>
            </a:endParaRPr>
          </a:p>
        </p:txBody>
      </p:sp>
      <p:pic>
        <p:nvPicPr>
          <p:cNvPr id="130201" name="Picture 1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124200"/>
            <a:ext cx="3581400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202" name="AutoShape 154"/>
          <p:cNvSpPr>
            <a:spLocks/>
          </p:cNvSpPr>
          <p:nvPr/>
        </p:nvSpPr>
        <p:spPr bwMode="auto">
          <a:xfrm rot="5400000">
            <a:off x="3184525" y="3260725"/>
            <a:ext cx="260350" cy="1600200"/>
          </a:xfrm>
          <a:prstGeom prst="rightBrace">
            <a:avLst>
              <a:gd name="adj1" fmla="val 51220"/>
              <a:gd name="adj2" fmla="val 50000"/>
            </a:avLst>
          </a:prstGeom>
          <a:noFill/>
          <a:ln w="2857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30203" name="Text Box 155"/>
          <p:cNvSpPr txBox="1">
            <a:spLocks noChangeArrowheads="1"/>
          </p:cNvSpPr>
          <p:nvPr/>
        </p:nvSpPr>
        <p:spPr bwMode="auto">
          <a:xfrm>
            <a:off x="3200400" y="4176713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b="1" dirty="0" err="1">
                <a:solidFill>
                  <a:schemeClr val="folHlink"/>
                </a:solidFill>
              </a:rPr>
              <a:t>i</a:t>
            </a:r>
            <a:endParaRPr lang="en-US" altLang="he-IL" sz="1600" b="1" dirty="0">
              <a:solidFill>
                <a:schemeClr val="folHlink"/>
              </a:solidFill>
            </a:endParaRPr>
          </a:p>
        </p:txBody>
      </p:sp>
      <p:sp>
        <p:nvSpPr>
          <p:cNvPr id="130205" name="Text Box 157"/>
          <p:cNvSpPr txBox="1">
            <a:spLocks noChangeArrowheads="1"/>
          </p:cNvSpPr>
          <p:nvPr/>
        </p:nvSpPr>
        <p:spPr bwMode="auto">
          <a:xfrm>
            <a:off x="2057400" y="1676400"/>
            <a:ext cx="3200400" cy="376238"/>
          </a:xfrm>
          <a:prstGeom prst="rect">
            <a:avLst/>
          </a:prstGeom>
          <a:solidFill>
            <a:srgbClr val="00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he-IL" b="1" noProof="1">
                <a:solidFill>
                  <a:schemeClr val="bg1"/>
                </a:solidFill>
              </a:rPr>
              <a:t>(*(arr+2))[1]</a:t>
            </a:r>
            <a:r>
              <a:rPr lang="he-IL" altLang="he-IL" b="1">
                <a:solidFill>
                  <a:schemeClr val="bg1"/>
                </a:solidFill>
              </a:rPr>
              <a:t> </a:t>
            </a:r>
            <a:r>
              <a:rPr lang="en-US" altLang="he-IL" b="1">
                <a:solidFill>
                  <a:schemeClr val="bg1"/>
                </a:solidFill>
              </a:rPr>
              <a:t> ≡ *(</a:t>
            </a:r>
            <a:r>
              <a:rPr lang="en-US" altLang="he-IL" b="1" noProof="1">
                <a:solidFill>
                  <a:schemeClr val="bg1"/>
                </a:solidFill>
              </a:rPr>
              <a:t>*(arr+2)</a:t>
            </a:r>
            <a:r>
              <a:rPr lang="en-US" altLang="he-IL" b="1">
                <a:solidFill>
                  <a:schemeClr val="bg1"/>
                </a:solidFill>
              </a:rPr>
              <a:t>+1)</a:t>
            </a:r>
          </a:p>
        </p:txBody>
      </p:sp>
      <p:sp>
        <p:nvSpPr>
          <p:cNvPr id="5029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D02E99E-4062-4F06-808D-D9339081F002}" type="slidenum">
              <a:rPr lang="he-IL" altLang="he-IL" smtClean="0">
                <a:latin typeface="Verdana" pitchFamily="34" charset="0"/>
              </a:rPr>
              <a:pPr algn="r" rtl="1" eaLnBrk="1" hangingPunct="1"/>
              <a:t>46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dirty="0" smtClean="0"/>
              <a:t>דוגמא: הדפסת איברי מערך של מחרוזות</a:t>
            </a:r>
            <a:endParaRPr lang="en-US" altLang="he-IL" sz="4000" dirty="0" smtClean="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447800"/>
            <a:ext cx="8077200" cy="4530725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600" noProof="1" smtClean="0"/>
              <a:t>int main()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char* words[] = {"Hi", "Bye", "Nice"};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char** ptr;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 numOfWord = sizeof(words)/sizeof(words[0]);</a:t>
            </a:r>
            <a:endParaRPr lang="en-US" altLang="he-IL" sz="1600" dirty="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for (</a:t>
            </a:r>
            <a:r>
              <a:rPr lang="en-US" altLang="he-IL" sz="1600" dirty="0" smtClean="0"/>
              <a:t>      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                                  </a:t>
            </a:r>
            <a:r>
              <a:rPr lang="en-US" altLang="he-IL" sz="1600" noProof="1" smtClean="0"/>
              <a:t> ; </a:t>
            </a:r>
            <a:r>
              <a:rPr lang="en-US" altLang="he-IL" sz="1600" dirty="0" smtClean="0"/>
              <a:t>          </a:t>
            </a:r>
            <a:r>
              <a:rPr lang="en-US" altLang="he-IL" sz="1600" noProof="1" smtClean="0"/>
              <a:t>)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printf("Day: %s \t2nd letter: %c\n", *ptr, *(*ptr+1));</a:t>
            </a:r>
            <a:endParaRPr lang="he-IL" altLang="he-IL" sz="1600" dirty="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1600" b="1" dirty="0" smtClean="0"/>
              <a:t> </a:t>
            </a:r>
            <a:r>
              <a:rPr lang="he-IL" altLang="he-IL" sz="1600" b="1" dirty="0" smtClean="0"/>
              <a:t>{</a:t>
            </a:r>
            <a:endParaRPr lang="en-US" altLang="he-IL" sz="1600" b="1" dirty="0" smtClean="0"/>
          </a:p>
        </p:txBody>
      </p:sp>
      <p:graphicFrame>
        <p:nvGraphicFramePr>
          <p:cNvPr id="132318" name="Group 222"/>
          <p:cNvGraphicFramePr>
            <a:graphicFrameLocks noGrp="1"/>
          </p:cNvGraphicFramePr>
          <p:nvPr>
            <p:ph sz="half" idx="2"/>
          </p:nvPr>
        </p:nvGraphicFramePr>
        <p:xfrm>
          <a:off x="457200" y="4521200"/>
          <a:ext cx="3276600" cy="20320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334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char*[]: 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ptr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numOfWords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4191000" y="4114800"/>
            <a:ext cx="4953000" cy="2071688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6477000" y="6324600"/>
            <a:ext cx="266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 dirty="0"/>
              <a:t>זיכרון ה- </a:t>
            </a:r>
            <a:r>
              <a:rPr lang="en-US" altLang="he-IL" dirty="0" smtClean="0"/>
              <a:t>Data Segment</a:t>
            </a:r>
            <a:endParaRPr lang="en-US" altLang="he-IL" dirty="0"/>
          </a:p>
        </p:txBody>
      </p:sp>
      <p:graphicFrame>
        <p:nvGraphicFramePr>
          <p:cNvPr id="132146" name="Group 50"/>
          <p:cNvGraphicFramePr>
            <a:graphicFrameLocks noGrp="1"/>
          </p:cNvGraphicFramePr>
          <p:nvPr/>
        </p:nvGraphicFramePr>
        <p:xfrm>
          <a:off x="7162800" y="4176713"/>
          <a:ext cx="1905000" cy="1832072"/>
        </p:xfrm>
        <a:graphic>
          <a:graphicData uri="http://schemas.openxmlformats.org/drawingml/2006/table">
            <a:tbl>
              <a:tblPr/>
              <a:tblGrid>
                <a:gridCol w="609600"/>
                <a:gridCol w="685800"/>
                <a:gridCol w="609600"/>
              </a:tblGrid>
              <a:tr h="365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‘N’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2501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‘c’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2502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‘e’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2503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2504</a:t>
                      </a: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219" name="Group 123"/>
          <p:cNvGraphicFramePr>
            <a:graphicFrameLocks noGrp="1"/>
          </p:cNvGraphicFramePr>
          <p:nvPr/>
        </p:nvGraphicFramePr>
        <p:xfrm>
          <a:off x="4495800" y="5486400"/>
          <a:ext cx="1905000" cy="1098710"/>
        </p:xfrm>
        <a:graphic>
          <a:graphicData uri="http://schemas.openxmlformats.org/drawingml/2006/table">
            <a:tbl>
              <a:tblPr/>
              <a:tblGrid>
                <a:gridCol w="609600"/>
                <a:gridCol w="6858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2600</a:t>
                      </a: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‘i’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2601</a:t>
                      </a: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2602</a:t>
                      </a: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218" name="Group 122"/>
          <p:cNvGraphicFramePr>
            <a:graphicFrameLocks noGrp="1"/>
          </p:cNvGraphicFramePr>
          <p:nvPr/>
        </p:nvGraphicFramePr>
        <p:xfrm>
          <a:off x="5105400" y="3962400"/>
          <a:ext cx="1905000" cy="1465382"/>
        </p:xfrm>
        <a:graphic>
          <a:graphicData uri="http://schemas.openxmlformats.org/drawingml/2006/table">
            <a:tbl>
              <a:tblPr/>
              <a:tblGrid>
                <a:gridCol w="609600"/>
                <a:gridCol w="685800"/>
                <a:gridCol w="609600"/>
              </a:tblGrid>
              <a:tr h="3656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‘B’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3200</a:t>
                      </a: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‘y’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3201</a:t>
                      </a: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‘e’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3202</a:t>
                      </a: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3203</a:t>
                      </a: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317" name="Group 221"/>
          <p:cNvGraphicFramePr>
            <a:graphicFrameLocks noGrp="1"/>
          </p:cNvGraphicFramePr>
          <p:nvPr/>
        </p:nvGraphicFramePr>
        <p:xfrm>
          <a:off x="457200" y="4521200"/>
          <a:ext cx="3276600" cy="20320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334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char*[]: 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ptr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numOfWords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2316" name="Group 220"/>
          <p:cNvGraphicFramePr>
            <a:graphicFrameLocks noGrp="1"/>
          </p:cNvGraphicFramePr>
          <p:nvPr/>
        </p:nvGraphicFramePr>
        <p:xfrm>
          <a:off x="457200" y="4521200"/>
          <a:ext cx="3276600" cy="20320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334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char*[]: 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ptr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numOfWords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2281" name="Text Box 185"/>
          <p:cNvSpPr txBox="1">
            <a:spLocks noChangeArrowheads="1"/>
          </p:cNvSpPr>
          <p:nvPr/>
        </p:nvSpPr>
        <p:spPr bwMode="auto">
          <a:xfrm>
            <a:off x="990600" y="3048000"/>
            <a:ext cx="2286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ptr=words</a:t>
            </a:r>
          </a:p>
        </p:txBody>
      </p:sp>
      <p:sp>
        <p:nvSpPr>
          <p:cNvPr id="132282" name="Text Box 186"/>
          <p:cNvSpPr txBox="1">
            <a:spLocks noChangeArrowheads="1"/>
          </p:cNvSpPr>
          <p:nvPr/>
        </p:nvSpPr>
        <p:spPr bwMode="auto">
          <a:xfrm>
            <a:off x="2362200" y="3048000"/>
            <a:ext cx="3429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 dirty="0" err="1">
                <a:latin typeface="Verdana" pitchFamily="34" charset="0"/>
              </a:rPr>
              <a:t>ptr</a:t>
            </a:r>
            <a:r>
              <a:rPr lang="en-US" altLang="he-IL" sz="1600" dirty="0">
                <a:latin typeface="Verdana" pitchFamily="34" charset="0"/>
              </a:rPr>
              <a:t> &lt; </a:t>
            </a:r>
            <a:r>
              <a:rPr lang="en-US" altLang="he-IL" sz="1600" dirty="0" err="1">
                <a:latin typeface="Verdana" pitchFamily="34" charset="0"/>
              </a:rPr>
              <a:t>words+numOfWords</a:t>
            </a:r>
            <a:endParaRPr lang="en-US" altLang="he-IL" sz="1600" dirty="0">
              <a:latin typeface="Verdana" pitchFamily="34" charset="0"/>
            </a:endParaRPr>
          </a:p>
        </p:txBody>
      </p:sp>
      <p:sp>
        <p:nvSpPr>
          <p:cNvPr id="132283" name="Text Box 187"/>
          <p:cNvSpPr txBox="1">
            <a:spLocks noChangeArrowheads="1"/>
          </p:cNvSpPr>
          <p:nvPr/>
        </p:nvSpPr>
        <p:spPr bwMode="auto">
          <a:xfrm>
            <a:off x="5486400" y="3048000"/>
            <a:ext cx="2286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ptr++</a:t>
            </a:r>
          </a:p>
        </p:txBody>
      </p:sp>
      <p:graphicFrame>
        <p:nvGraphicFramePr>
          <p:cNvPr id="132315" name="Group 219"/>
          <p:cNvGraphicFramePr>
            <a:graphicFrameLocks noGrp="1"/>
          </p:cNvGraphicFramePr>
          <p:nvPr/>
        </p:nvGraphicFramePr>
        <p:xfrm>
          <a:off x="457200" y="4521200"/>
          <a:ext cx="3276600" cy="20320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334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char*[]: 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ptr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numOfWords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2314" name="Text Box 218"/>
          <p:cNvSpPr txBox="1">
            <a:spLocks noChangeArrowheads="1"/>
          </p:cNvSpPr>
          <p:nvPr/>
        </p:nvSpPr>
        <p:spPr bwMode="auto">
          <a:xfrm>
            <a:off x="3429000" y="28956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b="1">
                <a:solidFill>
                  <a:srgbClr val="FF0000"/>
                </a:solidFill>
              </a:rPr>
              <a:t>1012</a:t>
            </a:r>
          </a:p>
        </p:txBody>
      </p:sp>
      <p:graphicFrame>
        <p:nvGraphicFramePr>
          <p:cNvPr id="132319" name="Group 223"/>
          <p:cNvGraphicFramePr>
            <a:graphicFrameLocks noGrp="1"/>
          </p:cNvGraphicFramePr>
          <p:nvPr/>
        </p:nvGraphicFramePr>
        <p:xfrm>
          <a:off x="457200" y="4521200"/>
          <a:ext cx="3276600" cy="20320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334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char*[]: 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ptr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numOfWords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2345" name="Group 249"/>
          <p:cNvGraphicFramePr>
            <a:graphicFrameLocks noGrp="1"/>
          </p:cNvGraphicFramePr>
          <p:nvPr/>
        </p:nvGraphicFramePr>
        <p:xfrm>
          <a:off x="457200" y="4521200"/>
          <a:ext cx="3276600" cy="20320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334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char*[]: 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ptr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numOfWords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2371" name="Group 275"/>
          <p:cNvGraphicFramePr>
            <a:graphicFrameLocks noGrp="1"/>
          </p:cNvGraphicFramePr>
          <p:nvPr/>
        </p:nvGraphicFramePr>
        <p:xfrm>
          <a:off x="457200" y="4521200"/>
          <a:ext cx="3276600" cy="20320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334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char*[]: 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ptr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numOfWords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2475" name="Picture 3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524000"/>
            <a:ext cx="3505200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2444" name="Group 348"/>
          <p:cNvGraphicFramePr>
            <a:graphicFrameLocks noGrp="1"/>
          </p:cNvGraphicFramePr>
          <p:nvPr/>
        </p:nvGraphicFramePr>
        <p:xfrm>
          <a:off x="7086600" y="2747963"/>
          <a:ext cx="609600" cy="1062036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540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2600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2500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2424" name="Group 328"/>
          <p:cNvGraphicFramePr>
            <a:graphicFrameLocks noGrp="1"/>
          </p:cNvGraphicFramePr>
          <p:nvPr/>
        </p:nvGraphicFramePr>
        <p:xfrm>
          <a:off x="8077200" y="2747963"/>
          <a:ext cx="914400" cy="1117601"/>
        </p:xfrm>
        <a:graphic>
          <a:graphicData uri="http://schemas.openxmlformats.org/drawingml/2006/table">
            <a:tbl>
              <a:tblPr/>
              <a:tblGrid>
                <a:gridCol w="914400"/>
              </a:tblGrid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“Hi”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“Bye”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“Nice”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2431" name="Line 335"/>
          <p:cNvSpPr>
            <a:spLocks noChangeShapeType="1"/>
          </p:cNvSpPr>
          <p:nvPr/>
        </p:nvSpPr>
        <p:spPr bwMode="auto">
          <a:xfrm>
            <a:off x="7543800" y="2971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2432" name="Line 336"/>
          <p:cNvSpPr>
            <a:spLocks noChangeShapeType="1"/>
          </p:cNvSpPr>
          <p:nvPr/>
        </p:nvSpPr>
        <p:spPr bwMode="auto">
          <a:xfrm>
            <a:off x="7543800" y="3276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2433" name="Line 337"/>
          <p:cNvSpPr>
            <a:spLocks noChangeShapeType="1"/>
          </p:cNvSpPr>
          <p:nvPr/>
        </p:nvSpPr>
        <p:spPr bwMode="auto">
          <a:xfrm>
            <a:off x="7543800" y="3657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2445" name="Text Box 349"/>
          <p:cNvSpPr txBox="1">
            <a:spLocks noChangeArrowheads="1"/>
          </p:cNvSpPr>
          <p:nvPr/>
        </p:nvSpPr>
        <p:spPr bwMode="auto">
          <a:xfrm>
            <a:off x="6248400" y="25908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400"/>
              <a:t>words</a:t>
            </a:r>
          </a:p>
        </p:txBody>
      </p:sp>
      <p:sp>
        <p:nvSpPr>
          <p:cNvPr id="132446" name="Line 350"/>
          <p:cNvSpPr>
            <a:spLocks noChangeShapeType="1"/>
          </p:cNvSpPr>
          <p:nvPr/>
        </p:nvSpPr>
        <p:spPr bwMode="auto">
          <a:xfrm>
            <a:off x="6858000" y="2743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2447" name="Text Box 351"/>
          <p:cNvSpPr txBox="1">
            <a:spLocks noChangeArrowheads="1"/>
          </p:cNvSpPr>
          <p:nvPr/>
        </p:nvSpPr>
        <p:spPr bwMode="auto">
          <a:xfrm>
            <a:off x="6248400" y="28194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400"/>
              <a:t>ptr</a:t>
            </a:r>
          </a:p>
        </p:txBody>
      </p:sp>
      <p:sp>
        <p:nvSpPr>
          <p:cNvPr id="132448" name="Line 352"/>
          <p:cNvSpPr>
            <a:spLocks noChangeShapeType="1"/>
          </p:cNvSpPr>
          <p:nvPr/>
        </p:nvSpPr>
        <p:spPr bwMode="auto">
          <a:xfrm flipV="1">
            <a:off x="6553200" y="27432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2449" name="Line 353"/>
          <p:cNvSpPr>
            <a:spLocks noChangeShapeType="1"/>
          </p:cNvSpPr>
          <p:nvPr/>
        </p:nvSpPr>
        <p:spPr bwMode="auto">
          <a:xfrm>
            <a:off x="6553200" y="2971800"/>
            <a:ext cx="533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2450" name="Line 354"/>
          <p:cNvSpPr>
            <a:spLocks noChangeShapeType="1"/>
          </p:cNvSpPr>
          <p:nvPr/>
        </p:nvSpPr>
        <p:spPr bwMode="auto">
          <a:xfrm>
            <a:off x="6553200" y="29718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2451" name="Line 355"/>
          <p:cNvSpPr>
            <a:spLocks noChangeShapeType="1"/>
          </p:cNvSpPr>
          <p:nvPr/>
        </p:nvSpPr>
        <p:spPr bwMode="auto">
          <a:xfrm>
            <a:off x="6553200" y="2971800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148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FF845DF-A727-4110-8DD1-0F4C7C683445}" type="slidenum">
              <a:rPr lang="he-IL" altLang="he-IL" smtClean="0">
                <a:latin typeface="Verdana" pitchFamily="34" charset="0"/>
              </a:rPr>
              <a:pPr algn="r" rtl="1" eaLnBrk="1" hangingPunct="1"/>
              <a:t>47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8229600" cy="1139825"/>
          </a:xfrm>
        </p:spPr>
        <p:txBody>
          <a:bodyPr/>
          <a:lstStyle/>
          <a:p>
            <a:pPr algn="r"/>
            <a:r>
              <a:rPr lang="he-IL" altLang="he-IL" smtClean="0"/>
              <a:t>פונקציה המשנה מצביע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" y="685800"/>
            <a:ext cx="9982200" cy="4530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void </a:t>
            </a:r>
            <a:r>
              <a:rPr lang="en-US" altLang="he-IL" sz="1800" dirty="0" err="1"/>
              <a:t>G</a:t>
            </a:r>
            <a:r>
              <a:rPr lang="en-US" altLang="he-IL" sz="1800" dirty="0" err="1" smtClean="0"/>
              <a:t>etMinMaxAddress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[], 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size, 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* min, 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* max)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;</a:t>
            </a: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min = max = &amp;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[0];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nn-NO" altLang="he-IL" sz="1800" dirty="0" smtClean="0"/>
              <a:t>	for (i=1 ; i &lt; size ; i++)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	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    if 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 &lt; *min)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	min = &amp;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    if 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 &gt; *max)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	max = &amp;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	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("Min at %p, Max at %p\n", min, max);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{</a:t>
            </a:r>
            <a:endParaRPr lang="en-US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void main()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[] = {5,6,3};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* min=NULL, *max=NULL;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/>
              <a:t>G</a:t>
            </a:r>
            <a:r>
              <a:rPr lang="en-US" altLang="he-IL" sz="1800" dirty="0" err="1" smtClean="0"/>
              <a:t>etMinMaxAddress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, </a:t>
            </a:r>
            <a:r>
              <a:rPr lang="en-US" altLang="he-IL" sz="1800" dirty="0" err="1" smtClean="0"/>
              <a:t>sizeof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)/</a:t>
            </a:r>
            <a:r>
              <a:rPr lang="en-US" altLang="he-IL" sz="1800" dirty="0" err="1" smtClean="0"/>
              <a:t>sizeof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[0]), min, max);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("Min at %p, Max at %p\n", min, max);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D0BFBD5-1489-4EB2-AF62-869E494FE075}" type="slidenum">
              <a:rPr lang="he-IL" altLang="he-IL" smtClean="0">
                <a:latin typeface="Verdana" pitchFamily="34" charset="0"/>
              </a:rPr>
              <a:pPr algn="r" rtl="1" eaLnBrk="1" hangingPunct="1"/>
              <a:t>48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graphicFrame>
        <p:nvGraphicFramePr>
          <p:cNvPr id="11" name="Group 58"/>
          <p:cNvGraphicFramePr>
            <a:graphicFrameLocks noGrp="1"/>
          </p:cNvGraphicFramePr>
          <p:nvPr/>
        </p:nvGraphicFramePr>
        <p:xfrm>
          <a:off x="5943600" y="36576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6019800" y="54244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3" name="Group 58"/>
          <p:cNvGraphicFramePr>
            <a:graphicFrameLocks noGrp="1"/>
          </p:cNvGraphicFramePr>
          <p:nvPr/>
        </p:nvGraphicFramePr>
        <p:xfrm>
          <a:off x="5943600" y="36576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Group 58"/>
          <p:cNvGraphicFramePr>
            <a:graphicFrameLocks noGrp="1"/>
          </p:cNvGraphicFramePr>
          <p:nvPr/>
        </p:nvGraphicFramePr>
        <p:xfrm>
          <a:off x="6019800" y="1295400"/>
          <a:ext cx="3124200" cy="1463676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min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max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257800" y="2819400"/>
            <a:ext cx="396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getMinMaxAddress</a:t>
            </a:r>
          </a:p>
        </p:txBody>
      </p:sp>
      <p:graphicFrame>
        <p:nvGraphicFramePr>
          <p:cNvPr id="16" name="Group 58"/>
          <p:cNvGraphicFramePr>
            <a:graphicFrameLocks noGrp="1"/>
          </p:cNvGraphicFramePr>
          <p:nvPr/>
        </p:nvGraphicFramePr>
        <p:xfrm>
          <a:off x="6019800" y="1295400"/>
          <a:ext cx="3124200" cy="1463676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min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max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58"/>
          <p:cNvGraphicFramePr>
            <a:graphicFrameLocks noGrp="1"/>
          </p:cNvGraphicFramePr>
          <p:nvPr/>
        </p:nvGraphicFramePr>
        <p:xfrm>
          <a:off x="6019800" y="1295400"/>
          <a:ext cx="3124200" cy="1463676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min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max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600200" y="4267200"/>
            <a:ext cx="43434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הפונקציה שינתה את ההעתקים של הכתובות, לכן צריך להעביר כתובת של כתובת..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8229600" cy="1139825"/>
          </a:xfrm>
        </p:spPr>
        <p:txBody>
          <a:bodyPr/>
          <a:lstStyle/>
          <a:p>
            <a:pPr algn="r"/>
            <a:r>
              <a:rPr lang="he-IL" altLang="he-IL" smtClean="0"/>
              <a:t>פונקציה המשנה מצביע 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" y="685800"/>
            <a:ext cx="9982200" cy="4530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void </a:t>
            </a:r>
            <a:r>
              <a:rPr lang="en-US" altLang="he-IL" sz="1800" dirty="0" err="1"/>
              <a:t>G</a:t>
            </a:r>
            <a:r>
              <a:rPr lang="en-US" altLang="he-IL" sz="1800" dirty="0" err="1" smtClean="0"/>
              <a:t>etMinMaxAddress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[], 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size, 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** min, 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** max)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;</a:t>
            </a: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*min = *max = &amp;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[0];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nn-NO" altLang="he-IL" sz="1800" dirty="0" smtClean="0"/>
              <a:t>	for (        ;              ;        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	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    if 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 &lt; **min)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	*min = &amp;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    if 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 &gt; **max)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	*max = &amp;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	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("Min at %p, Max at %p\n", *min, *max);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{</a:t>
            </a:r>
            <a:endParaRPr lang="en-US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void main()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[] = {5,6,3};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* min=NULL, *max=NULL;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/>
              <a:t>G</a:t>
            </a:r>
            <a:r>
              <a:rPr lang="en-US" altLang="he-IL" sz="1800" dirty="0" err="1" smtClean="0"/>
              <a:t>etMinMaxAddress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, </a:t>
            </a:r>
            <a:r>
              <a:rPr lang="en-US" altLang="he-IL" sz="1800" dirty="0" err="1" smtClean="0"/>
              <a:t>sizeof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)/</a:t>
            </a:r>
            <a:r>
              <a:rPr lang="en-US" altLang="he-IL" sz="1800" dirty="0" err="1" smtClean="0"/>
              <a:t>sizeof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[0]), &amp;min, &amp;max);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("Min at %p, Max at %p\n", min, max);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7BAEDB6-6F33-4083-9BA9-7FB75F89D294}" type="slidenum">
              <a:rPr lang="he-IL" altLang="he-IL" smtClean="0">
                <a:latin typeface="Verdana" pitchFamily="34" charset="0"/>
              </a:rPr>
              <a:pPr algn="r" rtl="1" eaLnBrk="1" hangingPunct="1"/>
              <a:t>49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graphicFrame>
        <p:nvGraphicFramePr>
          <p:cNvPr id="11" name="Group 58"/>
          <p:cNvGraphicFramePr>
            <a:graphicFrameLocks noGrp="1"/>
          </p:cNvGraphicFramePr>
          <p:nvPr/>
        </p:nvGraphicFramePr>
        <p:xfrm>
          <a:off x="5943600" y="36576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6019800" y="54244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3" name="Group 58"/>
          <p:cNvGraphicFramePr>
            <a:graphicFrameLocks noGrp="1"/>
          </p:cNvGraphicFramePr>
          <p:nvPr/>
        </p:nvGraphicFramePr>
        <p:xfrm>
          <a:off x="5943600" y="36576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Group 58"/>
          <p:cNvGraphicFramePr>
            <a:graphicFrameLocks noGrp="1"/>
          </p:cNvGraphicFramePr>
          <p:nvPr/>
        </p:nvGraphicFramePr>
        <p:xfrm>
          <a:off x="5943600" y="12954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105400" y="3059113"/>
            <a:ext cx="3962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getMinMaxAddress</a:t>
            </a:r>
          </a:p>
        </p:txBody>
      </p:sp>
      <p:graphicFrame>
        <p:nvGraphicFramePr>
          <p:cNvPr id="23" name="Group 58"/>
          <p:cNvGraphicFramePr>
            <a:graphicFrameLocks noGrp="1"/>
          </p:cNvGraphicFramePr>
          <p:nvPr/>
        </p:nvGraphicFramePr>
        <p:xfrm>
          <a:off x="5943600" y="36576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990600" y="1752600"/>
            <a:ext cx="1219200" cy="369888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>
              <a:defRPr/>
            </a:pP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=1</a:t>
            </a:r>
            <a:endParaRPr lang="he-IL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28800" y="1752600"/>
            <a:ext cx="1219200" cy="369888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>
              <a:defRPr/>
            </a:pP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size</a:t>
            </a:r>
            <a:endParaRPr lang="he-IL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48000" y="1752600"/>
            <a:ext cx="1219200" cy="369888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>
              <a:defRPr/>
            </a:pP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</a:t>
            </a:r>
            <a:endParaRPr lang="he-IL" dirty="0">
              <a:latin typeface="+mn-lt"/>
            </a:endParaRPr>
          </a:p>
        </p:txBody>
      </p:sp>
      <p:graphicFrame>
        <p:nvGraphicFramePr>
          <p:cNvPr id="27" name="Group 58"/>
          <p:cNvGraphicFramePr>
            <a:graphicFrameLocks noGrp="1"/>
          </p:cNvGraphicFramePr>
          <p:nvPr/>
        </p:nvGraphicFramePr>
        <p:xfrm>
          <a:off x="5943600" y="12954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Group 58"/>
          <p:cNvGraphicFramePr>
            <a:graphicFrameLocks noGrp="1"/>
          </p:cNvGraphicFramePr>
          <p:nvPr/>
        </p:nvGraphicFramePr>
        <p:xfrm>
          <a:off x="5943600" y="36576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Group 58"/>
          <p:cNvGraphicFramePr>
            <a:graphicFrameLocks noGrp="1"/>
          </p:cNvGraphicFramePr>
          <p:nvPr/>
        </p:nvGraphicFramePr>
        <p:xfrm>
          <a:off x="5943600" y="12954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Group 58"/>
          <p:cNvGraphicFramePr>
            <a:graphicFrameLocks noGrp="1"/>
          </p:cNvGraphicFramePr>
          <p:nvPr/>
        </p:nvGraphicFramePr>
        <p:xfrm>
          <a:off x="5943600" y="36576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[]: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Group 58"/>
          <p:cNvGraphicFramePr>
            <a:graphicFrameLocks noGrp="1"/>
          </p:cNvGraphicFramePr>
          <p:nvPr/>
        </p:nvGraphicFramePr>
        <p:xfrm>
          <a:off x="5943600" y="1295400"/>
          <a:ext cx="31242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990600"/>
                <a:gridCol w="609600"/>
              </a:tblGrid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**: min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**: max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839200" cy="1143000"/>
          </a:xfrm>
        </p:spPr>
        <p:txBody>
          <a:bodyPr/>
          <a:lstStyle/>
          <a:p>
            <a:r>
              <a:rPr lang="he-IL" altLang="he-IL" smtClean="0"/>
              <a:t>הפונקציה </a:t>
            </a:r>
            <a:r>
              <a:rPr lang="en-US" altLang="he-IL" smtClean="0"/>
              <a:t>strtok</a:t>
            </a:r>
            <a:endParaRPr lang="he-IL" altLang="he-IL" smtClean="0"/>
          </a:p>
        </p:txBody>
      </p:sp>
      <p:sp>
        <p:nvSpPr>
          <p:cNvPr id="55299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609600" y="1524000"/>
            <a:ext cx="8229600" cy="4572000"/>
          </a:xfrm>
        </p:spPr>
        <p:txBody>
          <a:bodyPr/>
          <a:lstStyle/>
          <a:p>
            <a:pPr algn="ctr" rtl="0">
              <a:buFont typeface="Wingdings 2" pitchFamily="18" charset="2"/>
              <a:buNone/>
            </a:pPr>
            <a:endParaRPr lang="en-US" altLang="he-IL" dirty="0" smtClean="0"/>
          </a:p>
          <a:p>
            <a:pPr algn="ctr" rtl="0">
              <a:buFont typeface="Wingdings 2" pitchFamily="18" charset="2"/>
              <a:buNone/>
            </a:pPr>
            <a:r>
              <a:rPr lang="en-US" altLang="he-IL" dirty="0" smtClean="0"/>
              <a:t>char* </a:t>
            </a:r>
            <a:r>
              <a:rPr lang="en-US" altLang="he-IL" dirty="0" err="1" smtClean="0"/>
              <a:t>strtok</a:t>
            </a:r>
            <a:r>
              <a:rPr lang="en-US" altLang="he-IL" dirty="0" smtClean="0"/>
              <a:t>(char*, </a:t>
            </a:r>
            <a:r>
              <a:rPr lang="en-US" altLang="he-IL" dirty="0" err="1" smtClean="0"/>
              <a:t>const</a:t>
            </a:r>
            <a:r>
              <a:rPr lang="en-US" altLang="he-IL" dirty="0" smtClean="0"/>
              <a:t> char*)</a:t>
            </a:r>
            <a:endParaRPr lang="he-IL" altLang="he-IL" dirty="0" smtClean="0"/>
          </a:p>
          <a:p>
            <a:endParaRPr lang="he-IL" altLang="he-IL" dirty="0" smtClean="0"/>
          </a:p>
          <a:p>
            <a:r>
              <a:rPr lang="he-IL" altLang="he-IL" dirty="0" smtClean="0"/>
              <a:t>הפונקציה מפרקת מחרוזת ל- </a:t>
            </a:r>
            <a:r>
              <a:rPr lang="en-US" altLang="he-IL" dirty="0" smtClean="0"/>
              <a:t>token</a:t>
            </a:r>
            <a:r>
              <a:rPr lang="he-IL" altLang="he-IL" dirty="0" smtClean="0"/>
              <a:t>'ים עפ"י תווי הפרדה.</a:t>
            </a:r>
          </a:p>
          <a:p>
            <a:pPr lvl="1"/>
            <a:r>
              <a:rPr lang="he-IL" altLang="he-IL" dirty="0" smtClean="0"/>
              <a:t>למשל: המחרוזת </a:t>
            </a:r>
            <a:r>
              <a:rPr lang="en-US" altLang="he-IL" dirty="0" smtClean="0"/>
              <a:t>“AKA: as know as”</a:t>
            </a:r>
            <a:r>
              <a:rPr lang="he-IL" altLang="he-IL" dirty="0" smtClean="0"/>
              <a:t> ותווי ההפרדה ' ' ו- ':' יוחזרו ה- </a:t>
            </a:r>
            <a:r>
              <a:rPr lang="en-US" altLang="he-IL" dirty="0" smtClean="0"/>
              <a:t>token</a:t>
            </a:r>
            <a:r>
              <a:rPr lang="he-IL" altLang="he-IL" dirty="0" smtClean="0"/>
              <a:t>'ים הבאים: </a:t>
            </a:r>
            <a:r>
              <a:rPr lang="en-US" altLang="he-IL" dirty="0" smtClean="0"/>
              <a:t>AKA as known as</a:t>
            </a:r>
            <a:r>
              <a:rPr lang="he-IL" altLang="he-IL" dirty="0" smtClean="0"/>
              <a:t>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2133600" cy="457200"/>
          </a:xfrm>
        </p:spPr>
        <p:txBody>
          <a:bodyPr/>
          <a:lstStyle/>
          <a:p>
            <a:pPr algn="r" rtl="1">
              <a:defRPr/>
            </a:pPr>
            <a:fld id="{05640825-6FD6-4059-A280-D8B12C6FAEF0}" type="slidenum">
              <a:rPr lang="he-IL" smtClean="0">
                <a:latin typeface="+mn-lt"/>
              </a:rPr>
              <a:pPr algn="r" rtl="1">
                <a:defRPr/>
              </a:pPr>
              <a:t>50</a:t>
            </a:fld>
            <a:endParaRPr lang="he-IL" dirty="0" smtClean="0">
              <a:latin typeface="+mn-lt"/>
            </a:endParaRPr>
          </a:p>
          <a:p>
            <a:pPr algn="r" rtl="1">
              <a:defRPr/>
            </a:pPr>
            <a:r>
              <a:rPr lang="en-US" dirty="0" smtClean="0">
                <a:latin typeface="+mn-lt"/>
              </a:rPr>
              <a:t>© </a:t>
            </a:r>
            <a:r>
              <a:rPr lang="en-US" dirty="0" err="1" smtClean="0">
                <a:latin typeface="+mn-lt"/>
              </a:rPr>
              <a:t>Sagie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Feigin</a:t>
            </a:r>
            <a:endParaRPr lang="en-US" dirty="0" smtClean="0">
              <a:latin typeface="+mn-lt"/>
            </a:endParaRPr>
          </a:p>
          <a:p>
            <a:pPr algn="r" rtl="1">
              <a:defRPr/>
            </a:pPr>
            <a:endParaRPr lang="en-US" dirty="0" smtClean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he-IL" altLang="he-IL" smtClean="0"/>
              <a:t>הפונקציה </a:t>
            </a:r>
            <a:r>
              <a:rPr lang="en-US" altLang="he-IL" smtClean="0"/>
              <a:t>strtok</a:t>
            </a:r>
            <a:r>
              <a:rPr lang="he-IL" altLang="he-IL" smtClean="0"/>
              <a:t> (2)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609600" y="1524000"/>
            <a:ext cx="8229600" cy="4572000"/>
          </a:xfrm>
        </p:spPr>
        <p:txBody>
          <a:bodyPr/>
          <a:lstStyle/>
          <a:p>
            <a:pPr algn="ctr" rtl="0">
              <a:buFont typeface="Wingdings 2" pitchFamily="18" charset="2"/>
              <a:buNone/>
            </a:pPr>
            <a:r>
              <a:rPr lang="en-US" altLang="he-IL" dirty="0" smtClean="0"/>
              <a:t>char* </a:t>
            </a:r>
            <a:r>
              <a:rPr lang="en-US" altLang="he-IL" dirty="0" err="1" smtClean="0"/>
              <a:t>strtok</a:t>
            </a:r>
            <a:r>
              <a:rPr lang="en-US" altLang="he-IL" dirty="0" smtClean="0"/>
              <a:t>(char*, </a:t>
            </a:r>
            <a:r>
              <a:rPr lang="en-US" altLang="he-IL" dirty="0" err="1" smtClean="0"/>
              <a:t>const</a:t>
            </a:r>
            <a:r>
              <a:rPr lang="en-US" altLang="he-IL" dirty="0" smtClean="0"/>
              <a:t> char*)</a:t>
            </a:r>
            <a:r>
              <a:rPr lang="he-IL" altLang="he-IL" dirty="0" smtClean="0"/>
              <a:t> </a:t>
            </a:r>
          </a:p>
          <a:p>
            <a:pPr algn="ctr">
              <a:buFont typeface="Wingdings 2" pitchFamily="18" charset="2"/>
              <a:buNone/>
            </a:pPr>
            <a:r>
              <a:rPr lang="he-IL" altLang="he-IL" dirty="0" smtClean="0"/>
              <a:t>הפונקציה מקבלת מחרוזת </a:t>
            </a:r>
            <a:r>
              <a:rPr lang="en-US" altLang="he-IL" dirty="0" smtClean="0"/>
              <a:t>text</a:t>
            </a:r>
            <a:r>
              <a:rPr lang="he-IL" altLang="he-IL" dirty="0" smtClean="0"/>
              <a:t> ומחרוזת נוספת המכילה תווי הפרדה, </a:t>
            </a:r>
            <a:r>
              <a:rPr lang="en-US" altLang="he-IL" dirty="0" smtClean="0"/>
              <a:t>delimiters</a:t>
            </a:r>
            <a:r>
              <a:rPr lang="he-IL" altLang="he-IL" dirty="0" smtClean="0"/>
              <a:t>, ומבצעת את הדברים הבאים:</a:t>
            </a:r>
          </a:p>
          <a:p>
            <a:pPr lvl="1"/>
            <a:r>
              <a:rPr lang="he-IL" altLang="he-IL" dirty="0" smtClean="0"/>
              <a:t>מחליפה את המופע הראשון ב- </a:t>
            </a:r>
            <a:r>
              <a:rPr lang="en-US" altLang="he-IL" dirty="0" smtClean="0"/>
              <a:t>text</a:t>
            </a:r>
            <a:r>
              <a:rPr lang="he-IL" altLang="he-IL" dirty="0" smtClean="0"/>
              <a:t> המכיל את אחד מהתווים שב- </a:t>
            </a:r>
            <a:r>
              <a:rPr lang="en-US" altLang="he-IL" dirty="0" smtClean="0"/>
              <a:t>delimiters</a:t>
            </a:r>
            <a:r>
              <a:rPr lang="he-IL" altLang="he-IL" dirty="0" smtClean="0"/>
              <a:t> ב- '0\'.</a:t>
            </a:r>
          </a:p>
          <a:p>
            <a:pPr lvl="2"/>
            <a:r>
              <a:rPr lang="he-IL" altLang="he-IL" dirty="0" smtClean="0">
                <a:sym typeface="Wingdings" pitchFamily="2" charset="2"/>
              </a:rPr>
              <a:t> המחרוזת </a:t>
            </a:r>
            <a:r>
              <a:rPr lang="en-US" altLang="he-IL" dirty="0" smtClean="0">
                <a:sym typeface="Wingdings" pitchFamily="2" charset="2"/>
              </a:rPr>
              <a:t>text</a:t>
            </a:r>
            <a:r>
              <a:rPr lang="he-IL" altLang="he-IL" dirty="0" smtClean="0">
                <a:sym typeface="Wingdings" pitchFamily="2" charset="2"/>
              </a:rPr>
              <a:t> אינה יכולה להיות </a:t>
            </a:r>
            <a:r>
              <a:rPr lang="en-US" altLang="he-IL" dirty="0" err="1" smtClean="0">
                <a:sym typeface="Wingdings" pitchFamily="2" charset="2"/>
              </a:rPr>
              <a:t>const</a:t>
            </a:r>
            <a:r>
              <a:rPr lang="he-IL" altLang="he-IL" dirty="0" smtClean="0">
                <a:sym typeface="Wingdings" pitchFamily="2" charset="2"/>
              </a:rPr>
              <a:t>.</a:t>
            </a:r>
          </a:p>
          <a:p>
            <a:pPr lvl="1"/>
            <a:r>
              <a:rPr lang="he-IL" altLang="he-IL" dirty="0" smtClean="0">
                <a:sym typeface="Wingdings" pitchFamily="2" charset="2"/>
              </a:rPr>
              <a:t>מחזירה את הכתובת של תחילת ה- </a:t>
            </a:r>
            <a:r>
              <a:rPr lang="en-US" altLang="he-IL" dirty="0" smtClean="0">
                <a:sym typeface="Wingdings" pitchFamily="2" charset="2"/>
              </a:rPr>
              <a:t>.token</a:t>
            </a:r>
            <a:endParaRPr lang="he-IL" altLang="he-IL" dirty="0" smtClean="0">
              <a:sym typeface="Wingdings" pitchFamily="2" charset="2"/>
            </a:endParaRPr>
          </a:p>
          <a:p>
            <a:r>
              <a:rPr lang="he-IL" altLang="he-IL" dirty="0" smtClean="0">
                <a:sym typeface="Wingdings" pitchFamily="2" charset="2"/>
              </a:rPr>
              <a:t>כדי לקרוא ל- </a:t>
            </a:r>
            <a:r>
              <a:rPr lang="en-US" altLang="he-IL" dirty="0" err="1" smtClean="0">
                <a:sym typeface="Wingdings" pitchFamily="2" charset="2"/>
              </a:rPr>
              <a:t>strtok</a:t>
            </a:r>
            <a:r>
              <a:rPr lang="he-IL" altLang="he-IL" dirty="0" smtClean="0">
                <a:sym typeface="Wingdings" pitchFamily="2" charset="2"/>
              </a:rPr>
              <a:t> מהמקום בו הפסיקה בפעם הקודמת יש לקרוא לה עם </a:t>
            </a:r>
            <a:r>
              <a:rPr lang="en-US" altLang="he-IL" dirty="0" smtClean="0">
                <a:sym typeface="Wingdings" pitchFamily="2" charset="2"/>
              </a:rPr>
              <a:t>NULL</a:t>
            </a:r>
            <a:r>
              <a:rPr lang="he-IL" altLang="he-IL" dirty="0" smtClean="0">
                <a:sym typeface="Wingdings" pitchFamily="2" charset="2"/>
              </a:rPr>
              <a:t>.</a:t>
            </a:r>
          </a:p>
          <a:p>
            <a:r>
              <a:rPr lang="he-IL" altLang="he-IL" dirty="0" smtClean="0">
                <a:sym typeface="Wingdings" pitchFamily="2" charset="2"/>
              </a:rPr>
              <a:t>מחזירה </a:t>
            </a:r>
            <a:r>
              <a:rPr lang="en-US" altLang="he-IL" dirty="0" smtClean="0">
                <a:sym typeface="Wingdings" pitchFamily="2" charset="2"/>
              </a:rPr>
              <a:t>NULL</a:t>
            </a:r>
            <a:r>
              <a:rPr lang="he-IL" altLang="he-IL" dirty="0" smtClean="0">
                <a:sym typeface="Wingdings" pitchFamily="2" charset="2"/>
              </a:rPr>
              <a:t> כאשר מגיעה לסוף המחרוזת.</a:t>
            </a:r>
            <a:endParaRPr lang="he-IL" altLang="he-IL" dirty="0" smtClean="0"/>
          </a:p>
          <a:p>
            <a:endParaRPr lang="he-IL" altLang="he-IL" dirty="0" smtClean="0"/>
          </a:p>
          <a:p>
            <a:pPr>
              <a:buFont typeface="Wingdings 2" pitchFamily="18" charset="2"/>
              <a:buNone/>
            </a:pPr>
            <a:endParaRPr lang="he-IL" altLang="he-IL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2133600" cy="457200"/>
          </a:xfrm>
        </p:spPr>
        <p:txBody>
          <a:bodyPr/>
          <a:lstStyle/>
          <a:p>
            <a:pPr algn="r" rtl="1">
              <a:defRPr/>
            </a:pPr>
            <a:fld id="{22EBCEB9-3AED-4197-8C4F-1899B4B23C53}" type="slidenum">
              <a:rPr lang="he-IL" smtClean="0">
                <a:latin typeface="+mn-lt"/>
              </a:rPr>
              <a:pPr algn="r" rtl="1">
                <a:defRPr/>
              </a:pPr>
              <a:t>51</a:t>
            </a:fld>
            <a:endParaRPr lang="he-IL" dirty="0" smtClean="0">
              <a:latin typeface="+mn-lt"/>
            </a:endParaRPr>
          </a:p>
          <a:p>
            <a:pPr algn="r" rtl="1">
              <a:defRPr/>
            </a:pPr>
            <a:r>
              <a:rPr lang="en-US" dirty="0" smtClean="0">
                <a:latin typeface="+mn-lt"/>
              </a:rPr>
              <a:t>© </a:t>
            </a:r>
            <a:r>
              <a:rPr lang="en-US" dirty="0" err="1" smtClean="0">
                <a:latin typeface="+mn-lt"/>
              </a:rPr>
              <a:t>Sagie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Feigin</a:t>
            </a:r>
            <a:endParaRPr lang="en-US" dirty="0" smtClean="0">
              <a:latin typeface="+mn-lt"/>
            </a:endParaRPr>
          </a:p>
          <a:p>
            <a:pPr algn="r" rtl="1">
              <a:defRPr/>
            </a:pPr>
            <a:endParaRPr lang="en-US" dirty="0" smtClean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mtClean="0"/>
              <a:t>strtok</a:t>
            </a:r>
            <a:r>
              <a:rPr lang="he-IL" altLang="he-IL" smtClean="0"/>
              <a:t> – דוגמא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04800" y="1447800"/>
            <a:ext cx="8839200" cy="4572000"/>
          </a:xfrm>
        </p:spPr>
        <p:txBody>
          <a:bodyPr/>
          <a:lstStyle/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void main()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{</a:t>
            </a:r>
            <a:endParaRPr lang="he-IL" altLang="he-IL" sz="1800" smtClean="0"/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	char str[] = "Hello World!";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	char* delimiters = " :-,";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	char* words;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endParaRPr lang="he-IL" altLang="he-IL" sz="1800" smtClean="0"/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	printf("The words in the sentence:\n");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	words = strtok(str, delimiters);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	while (words != NULL)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he-IL" altLang="he-IL" sz="1800" smtClean="0"/>
              <a:t>	}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   	     printf("%s\n", words);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	     words = strtok(NULL, delimiters);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he-IL" altLang="he-IL" sz="1800" smtClean="0"/>
              <a:t>	{</a:t>
            </a:r>
            <a:endParaRPr lang="en-US" altLang="he-IL" sz="1800" smtClean="0"/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1800" smtClean="0"/>
              <a:t>    printf("The orig sentense: %s\n", str);</a:t>
            </a:r>
            <a:endParaRPr lang="he-IL" altLang="he-IL" sz="1800" smtClean="0"/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he-IL" altLang="he-IL" sz="1800" smtClean="0"/>
              <a:t>{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00203" y="5430838"/>
          <a:ext cx="7391397" cy="74136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</a:tblGrid>
              <a:tr h="370681"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1012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1011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1010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1009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1008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1007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1006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1005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1004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1003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1002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1001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1000</a:t>
                      </a:r>
                      <a:endParaRPr lang="he-IL" sz="10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\0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!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d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l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r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o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W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o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l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l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e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H</a:t>
                      </a:r>
                      <a:endParaRPr lang="he-IL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pic>
        <p:nvPicPr>
          <p:cNvPr id="573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45878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8200" y="6477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/>
              <a:t>str</a:t>
            </a:r>
            <a:endParaRPr lang="he-IL" altLang="he-IL"/>
          </a:p>
        </p:txBody>
      </p:sp>
      <p:cxnSp>
        <p:nvCxnSpPr>
          <p:cNvPr id="12" name="Straight Arrow Connector 11"/>
          <p:cNvCxnSpPr/>
          <p:nvPr/>
        </p:nvCxnSpPr>
        <p:spPr>
          <a:xfrm rot="5400000" flipH="1" flipV="1">
            <a:off x="914400" y="5943600"/>
            <a:ext cx="838200" cy="5334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600203" y="5430838"/>
          <a:ext cx="7391397" cy="74136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  <a:gridCol w="568569"/>
              </a:tblGrid>
              <a:tr h="370681"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1012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1011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1010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1009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1008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1007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1006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1005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1004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1003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1002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1001</a:t>
                      </a:r>
                      <a:endParaRPr lang="he-IL" sz="1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 smtClean="0"/>
                        <a:t>1000</a:t>
                      </a:r>
                      <a:endParaRPr lang="he-IL" sz="10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\0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!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d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l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r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o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W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 smtClean="0"/>
                        <a:t>\0</a:t>
                      </a:r>
                      <a:endParaRPr lang="he-IL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o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l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l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e</a:t>
                      </a:r>
                      <a:endParaRPr lang="he-IL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 smtClean="0"/>
                        <a:t>H</a:t>
                      </a:r>
                      <a:endParaRPr lang="he-IL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371600" y="6477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/>
              <a:t>words</a:t>
            </a:r>
            <a:endParaRPr lang="he-IL" altLang="he-IL"/>
          </a:p>
        </p:txBody>
      </p:sp>
      <p:cxnSp>
        <p:nvCxnSpPr>
          <p:cNvPr id="15" name="Straight Arrow Connector 14"/>
          <p:cNvCxnSpPr/>
          <p:nvPr/>
        </p:nvCxnSpPr>
        <p:spPr>
          <a:xfrm rot="5400000" flipH="1" flipV="1">
            <a:off x="1293813" y="6246812"/>
            <a:ext cx="609600" cy="31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1676400" y="5943600"/>
            <a:ext cx="3352800" cy="6096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1676400" y="6019800"/>
            <a:ext cx="6705600" cy="5334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2133600" cy="457200"/>
          </a:xfrm>
        </p:spPr>
        <p:txBody>
          <a:bodyPr/>
          <a:lstStyle/>
          <a:p>
            <a:pPr algn="r" rtl="1">
              <a:defRPr/>
            </a:pPr>
            <a:fld id="{D29C01C3-95C6-4134-A383-27ED1684EEEB}" type="slidenum">
              <a:rPr lang="he-IL" smtClean="0">
                <a:latin typeface="+mn-lt"/>
              </a:rPr>
              <a:pPr algn="r" rtl="1">
                <a:defRPr/>
              </a:pPr>
              <a:t>52</a:t>
            </a:fld>
            <a:endParaRPr lang="he-IL" dirty="0" smtClean="0">
              <a:latin typeface="+mn-lt"/>
            </a:endParaRPr>
          </a:p>
          <a:p>
            <a:pPr algn="r" rtl="1">
              <a:defRPr/>
            </a:pPr>
            <a:r>
              <a:rPr lang="en-US" dirty="0" smtClean="0">
                <a:latin typeface="+mn-lt"/>
              </a:rPr>
              <a:t>© </a:t>
            </a:r>
            <a:r>
              <a:rPr lang="en-US" dirty="0" err="1" smtClean="0">
                <a:latin typeface="+mn-lt"/>
              </a:rPr>
              <a:t>Sagie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Feigin</a:t>
            </a:r>
            <a:endParaRPr lang="en-US" dirty="0" smtClean="0">
              <a:latin typeface="+mn-lt"/>
            </a:endParaRPr>
          </a:p>
          <a:p>
            <a:pPr algn="r" rtl="1">
              <a:defRPr/>
            </a:pPr>
            <a:endParaRPr lang="en-US" dirty="0" smtClean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mtClean="0"/>
              <a:t>strtok</a:t>
            </a:r>
            <a:r>
              <a:rPr lang="he-IL" altLang="he-IL" smtClean="0"/>
              <a:t> – דוגמא נוספת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152400" y="2514600"/>
            <a:ext cx="7772400" cy="4572000"/>
          </a:xfrm>
        </p:spPr>
        <p:txBody>
          <a:bodyPr/>
          <a:lstStyle/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2000" smtClean="0"/>
              <a:t>void main()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2000" smtClean="0"/>
              <a:t>{</a:t>
            </a:r>
            <a:endParaRPr lang="he-IL" altLang="he-IL" sz="2000" smtClean="0"/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2000" smtClean="0"/>
              <a:t>	char str[] = "This is: a lovely - SENTENCE";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2000" smtClean="0"/>
              <a:t>	char* delimiters = " :-,";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2000" smtClean="0"/>
              <a:t>	char* words;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endParaRPr lang="he-IL" altLang="he-IL" sz="2000" smtClean="0"/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2000" smtClean="0"/>
              <a:t>	printf("The words in the sentence:\n");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2000" smtClean="0"/>
              <a:t>	words = strtok(str, delimiters);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2000" smtClean="0"/>
              <a:t>	while (words != NULL)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he-IL" altLang="he-IL" sz="2000" smtClean="0"/>
              <a:t>	}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2000" smtClean="0"/>
              <a:t>	     printf("%s\n", words);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en-US" altLang="he-IL" sz="2000" smtClean="0"/>
              <a:t>	     words = strtok(NULL, delimiters);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he-IL" altLang="he-IL" sz="2000" smtClean="0"/>
              <a:t>	{</a:t>
            </a:r>
          </a:p>
          <a:p>
            <a:pPr marL="514350" indent="-514350" algn="l" rtl="0">
              <a:spcBef>
                <a:spcPct val="0"/>
              </a:spcBef>
              <a:buClr>
                <a:srgbClr val="C00000"/>
              </a:buClr>
              <a:buFont typeface="Franklin Gothic Book" pitchFamily="34" charset="0"/>
              <a:buAutoNum type="arabicPeriod"/>
            </a:pPr>
            <a:r>
              <a:rPr lang="he-IL" altLang="he-IL" sz="2000" smtClean="0"/>
              <a:t>{</a:t>
            </a:r>
          </a:p>
        </p:txBody>
      </p:sp>
      <p:pic>
        <p:nvPicPr>
          <p:cNvPr id="583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688" y="895350"/>
            <a:ext cx="5446712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2133600" cy="457200"/>
          </a:xfrm>
        </p:spPr>
        <p:txBody>
          <a:bodyPr/>
          <a:lstStyle/>
          <a:p>
            <a:pPr algn="r" rtl="1">
              <a:defRPr/>
            </a:pPr>
            <a:fld id="{362BB97E-8BF4-45CC-B8A2-CC6CFBA3F6B0}" type="slidenum">
              <a:rPr lang="he-IL" smtClean="0">
                <a:latin typeface="+mn-lt"/>
              </a:rPr>
              <a:pPr algn="r" rtl="1">
                <a:defRPr/>
              </a:pPr>
              <a:t>53</a:t>
            </a:fld>
            <a:endParaRPr lang="he-IL" dirty="0" smtClean="0">
              <a:latin typeface="+mn-lt"/>
            </a:endParaRPr>
          </a:p>
          <a:p>
            <a:pPr algn="r" rtl="1">
              <a:defRPr/>
            </a:pPr>
            <a:r>
              <a:rPr lang="en-US" dirty="0" smtClean="0">
                <a:latin typeface="+mn-lt"/>
              </a:rPr>
              <a:t>© </a:t>
            </a:r>
            <a:r>
              <a:rPr lang="en-US" dirty="0" err="1" smtClean="0">
                <a:latin typeface="+mn-lt"/>
              </a:rPr>
              <a:t>Sagie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Feigin</a:t>
            </a:r>
            <a:endParaRPr lang="en-US" dirty="0" smtClean="0">
              <a:latin typeface="+mn-lt"/>
            </a:endParaRPr>
          </a:p>
          <a:p>
            <a:pPr algn="r" rtl="1">
              <a:defRPr/>
            </a:pPr>
            <a:endParaRPr lang="en-US" dirty="0" smtClean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הפונקציה </a:t>
            </a:r>
            <a:r>
              <a:rPr lang="en-US" altLang="he-IL" smtClean="0"/>
              <a:t>memcpy</a:t>
            </a:r>
            <a:endParaRPr lang="he-IL" altLang="he-IL" smtClean="0"/>
          </a:p>
        </p:txBody>
      </p:sp>
      <p:sp>
        <p:nvSpPr>
          <p:cNvPr id="59395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pPr algn="l" rtl="0">
              <a:buFont typeface="Wingdings" pitchFamily="2" charset="2"/>
              <a:buNone/>
            </a:pPr>
            <a:r>
              <a:rPr lang="fr-FR" altLang="he-IL" dirty="0" err="1" smtClean="0"/>
              <a:t>void</a:t>
            </a:r>
            <a:r>
              <a:rPr lang="fr-FR" altLang="he-IL" dirty="0" smtClean="0"/>
              <a:t>* </a:t>
            </a:r>
            <a:r>
              <a:rPr lang="fr-FR" altLang="he-IL" dirty="0" err="1" smtClean="0"/>
              <a:t>memcpy</a:t>
            </a:r>
            <a:r>
              <a:rPr lang="fr-FR" altLang="he-IL" dirty="0" smtClean="0"/>
              <a:t>(</a:t>
            </a:r>
            <a:r>
              <a:rPr lang="fr-FR" altLang="he-IL" dirty="0" err="1" smtClean="0"/>
              <a:t>void</a:t>
            </a:r>
            <a:r>
              <a:rPr lang="fr-FR" altLang="he-IL" dirty="0" smtClean="0"/>
              <a:t>* destination, </a:t>
            </a:r>
          </a:p>
          <a:p>
            <a:pPr algn="l" rtl="0">
              <a:buFont typeface="Wingdings" pitchFamily="2" charset="2"/>
              <a:buNone/>
            </a:pPr>
            <a:r>
              <a:rPr lang="fr-FR" altLang="he-IL" dirty="0" smtClean="0"/>
              <a:t>                      </a:t>
            </a:r>
            <a:r>
              <a:rPr lang="fr-FR" altLang="he-IL" dirty="0" err="1" smtClean="0"/>
              <a:t>const</a:t>
            </a:r>
            <a:r>
              <a:rPr lang="fr-FR" altLang="he-IL" dirty="0" smtClean="0"/>
              <a:t> </a:t>
            </a:r>
            <a:r>
              <a:rPr lang="fr-FR" altLang="he-IL" dirty="0" err="1" smtClean="0"/>
              <a:t>void</a:t>
            </a:r>
            <a:r>
              <a:rPr lang="fr-FR" altLang="he-IL" dirty="0" smtClean="0"/>
              <a:t>* source, </a:t>
            </a:r>
          </a:p>
          <a:p>
            <a:pPr algn="l" rtl="0">
              <a:buFont typeface="Wingdings" pitchFamily="2" charset="2"/>
              <a:buNone/>
            </a:pPr>
            <a:r>
              <a:rPr lang="fr-FR" altLang="he-IL" dirty="0" smtClean="0"/>
              <a:t>                      </a:t>
            </a:r>
            <a:r>
              <a:rPr lang="fr-FR" altLang="he-IL" dirty="0" err="1" smtClean="0"/>
              <a:t>int</a:t>
            </a:r>
            <a:r>
              <a:rPr lang="fr-FR" altLang="he-IL" dirty="0" smtClean="0"/>
              <a:t> </a:t>
            </a:r>
            <a:r>
              <a:rPr lang="fr-FR" altLang="he-IL" dirty="0" err="1" smtClean="0"/>
              <a:t>num</a:t>
            </a:r>
            <a:r>
              <a:rPr lang="fr-FR" altLang="he-IL" dirty="0" smtClean="0"/>
              <a:t> );</a:t>
            </a:r>
            <a:endParaRPr lang="he-IL" altLang="he-IL" dirty="0" smtClean="0"/>
          </a:p>
          <a:p>
            <a:r>
              <a:rPr lang="he-IL" altLang="he-IL" dirty="0" smtClean="0"/>
              <a:t>מקבלת כתובת כלשהי </a:t>
            </a:r>
            <a:r>
              <a:rPr lang="en-US" altLang="he-IL" dirty="0" smtClean="0"/>
              <a:t>destination</a:t>
            </a:r>
            <a:r>
              <a:rPr lang="he-IL" altLang="he-IL" dirty="0" smtClean="0"/>
              <a:t> ומעתיקה לתוכה את התוכן שנמצא החל מכתובת </a:t>
            </a:r>
            <a:r>
              <a:rPr lang="en-US" altLang="he-IL" dirty="0" smtClean="0"/>
              <a:t>source</a:t>
            </a:r>
            <a:r>
              <a:rPr lang="he-IL" altLang="he-IL" dirty="0" smtClean="0"/>
              <a:t> באורך </a:t>
            </a:r>
            <a:r>
              <a:rPr lang="en-US" altLang="he-IL" dirty="0" err="1" smtClean="0"/>
              <a:t>num</a:t>
            </a:r>
            <a:r>
              <a:rPr lang="he-IL" altLang="he-IL" dirty="0" smtClean="0"/>
              <a:t> בתים.</a:t>
            </a:r>
          </a:p>
          <a:p>
            <a:r>
              <a:rPr lang="he-IL" altLang="he-IL" dirty="0" smtClean="0"/>
              <a:t>מחזירה את </a:t>
            </a:r>
            <a:r>
              <a:rPr lang="en-US" altLang="he-IL" dirty="0" smtClean="0"/>
              <a:t>destination</a:t>
            </a:r>
            <a:r>
              <a:rPr lang="he-IL" altLang="he-IL" dirty="0" smtClean="0"/>
              <a:t>.</a:t>
            </a:r>
          </a:p>
          <a:p>
            <a:r>
              <a:rPr lang="en-US" altLang="he-IL" dirty="0" smtClean="0"/>
              <a:t>source</a:t>
            </a:r>
            <a:r>
              <a:rPr lang="he-IL" altLang="he-IL" dirty="0" smtClean="0"/>
              <a:t> מועברת כ- </a:t>
            </a:r>
            <a:r>
              <a:rPr lang="en-US" altLang="he-IL" dirty="0" err="1" smtClean="0"/>
              <a:t>const</a:t>
            </a:r>
            <a:r>
              <a:rPr lang="he-IL" altLang="he-IL" dirty="0" smtClean="0"/>
              <a:t> כי לא משנים אותה.</a:t>
            </a:r>
          </a:p>
          <a:p>
            <a:r>
              <a:rPr lang="he-IL" altLang="he-IL" dirty="0" smtClean="0"/>
              <a:t>שימוש אפשרי: העתקת מערכים.</a:t>
            </a: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CA7C367F-179B-402F-A14A-99BC7B000448}" type="slidenum">
              <a:rPr lang="he-IL" altLang="he-IL" smtClean="0">
                <a:latin typeface="Verdana" pitchFamily="34" charset="0"/>
              </a:rPr>
              <a:pPr algn="r" rtl="1" eaLnBrk="1" hangingPunct="1"/>
              <a:t>54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הפונקציה </a:t>
            </a:r>
            <a:r>
              <a:rPr lang="en-US" altLang="he-IL" smtClean="0"/>
              <a:t>memcpy</a:t>
            </a:r>
            <a:r>
              <a:rPr lang="he-IL" altLang="he-IL" smtClean="0"/>
              <a:t> - דוגמא</a:t>
            </a:r>
          </a:p>
        </p:txBody>
      </p:sp>
      <p:sp>
        <p:nvSpPr>
          <p:cNvPr id="60419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524000"/>
            <a:ext cx="8229600" cy="4530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void </a:t>
            </a:r>
            <a:r>
              <a:rPr lang="en-US" altLang="he-IL" sz="1800" dirty="0" err="1"/>
              <a:t>P</a:t>
            </a:r>
            <a:r>
              <a:rPr lang="en-US" altLang="he-IL" sz="1800" dirty="0" err="1" smtClean="0"/>
              <a:t>rintArray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[], 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size)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nn-NO" altLang="he-IL" sz="1800" dirty="0" smtClean="0"/>
              <a:t>	for (i=0 ; i &lt; size ; i++)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	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("%d ", </a:t>
            </a:r>
            <a:r>
              <a:rPr lang="en-US" altLang="he-IL" sz="1800" dirty="0" err="1" smtClean="0"/>
              <a:t>arr</a:t>
            </a:r>
            <a:r>
              <a:rPr lang="en-US" altLang="he-IL" sz="1800" dirty="0" smtClean="0"/>
              <a:t>[</a:t>
            </a:r>
            <a:r>
              <a:rPr lang="en-US" altLang="he-IL" sz="1800" dirty="0" err="1" smtClean="0"/>
              <a:t>i</a:t>
            </a:r>
            <a:r>
              <a:rPr lang="en-US" altLang="he-IL" sz="1800" dirty="0" smtClean="0"/>
              <a:t>]);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("\n");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void main()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 arr1[] = {5,6,3}, arr2[3];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("Array Before:\n");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/>
              <a:t>P</a:t>
            </a:r>
            <a:r>
              <a:rPr lang="en-US" altLang="he-IL" sz="1800" dirty="0" err="1" smtClean="0"/>
              <a:t>rintArray</a:t>
            </a:r>
            <a:r>
              <a:rPr lang="en-US" altLang="he-IL" sz="1800" dirty="0" smtClean="0"/>
              <a:t>(arr2, 3);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memcpy</a:t>
            </a:r>
            <a:r>
              <a:rPr lang="en-US" altLang="he-IL" sz="1800" dirty="0" smtClean="0"/>
              <a:t>(arr2, arr1, 3*</a:t>
            </a:r>
            <a:r>
              <a:rPr lang="en-US" altLang="he-IL" sz="1800" dirty="0" err="1" smtClean="0"/>
              <a:t>sizeof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int</a:t>
            </a:r>
            <a:r>
              <a:rPr lang="en-US" altLang="he-IL" sz="1800" dirty="0" smtClean="0"/>
              <a:t>));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 smtClean="0"/>
              <a:t>printf</a:t>
            </a:r>
            <a:r>
              <a:rPr lang="en-US" altLang="he-IL" sz="1800" dirty="0" smtClean="0"/>
              <a:t>("Array After:\n");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800" dirty="0" smtClean="0"/>
              <a:t>	</a:t>
            </a:r>
            <a:r>
              <a:rPr lang="en-US" altLang="he-IL" sz="1800" dirty="0" err="1"/>
              <a:t>P</a:t>
            </a:r>
            <a:r>
              <a:rPr lang="en-US" altLang="he-IL" sz="1800" dirty="0" err="1" smtClean="0"/>
              <a:t>rintArray</a:t>
            </a:r>
            <a:r>
              <a:rPr lang="en-US" altLang="he-IL" sz="1800" dirty="0" smtClean="0"/>
              <a:t>(arr2, 3);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800" dirty="0" smtClean="0"/>
              <a:t>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800" dirty="0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6E5A411F-562D-438C-A4BB-C1FE2421652A}" type="slidenum">
              <a:rPr lang="he-IL" altLang="he-IL" smtClean="0">
                <a:latin typeface="Verdana" pitchFamily="34" charset="0"/>
              </a:rPr>
              <a:pPr algn="r" rtl="1" eaLnBrk="1" hangingPunct="1"/>
              <a:t>55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313" y="2895600"/>
            <a:ext cx="5119687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ביחידה זו למדנו:</a:t>
            </a:r>
            <a:endParaRPr lang="en-US" altLang="he-IL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הקשר בין מערך למצביע.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פעולות חיבור וחיסור עם מצביעים.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מצביע מטייל על מערך.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הפונקציות </a:t>
            </a:r>
            <a:r>
              <a:rPr lang="en-US" altLang="he-IL" dirty="0" err="1" smtClean="0"/>
              <a:t>strstr</a:t>
            </a:r>
            <a:r>
              <a:rPr lang="he-IL" altLang="he-IL" dirty="0" smtClean="0"/>
              <a:t> ו- </a:t>
            </a:r>
            <a:r>
              <a:rPr lang="en-US" altLang="he-IL" dirty="0" err="1" smtClean="0"/>
              <a:t>strchr</a:t>
            </a:r>
            <a:r>
              <a:rPr lang="he-IL" altLang="he-IL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העברת מערך לפונקציה.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הבעייתיות בהחזרת מערך מפונקציה.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מערך של מצביעים.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err="1" smtClean="0"/>
              <a:t>איתחול</a:t>
            </a:r>
            <a:r>
              <a:rPr lang="he-IL" altLang="he-IL" dirty="0" smtClean="0"/>
              <a:t> מצביע למחרוזת קבועה.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העברת מצביע לפונקציה לצורך שינוי הצבעתו.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הפונקציה </a:t>
            </a:r>
            <a:r>
              <a:rPr lang="en-US" altLang="he-IL" dirty="0" err="1" smtClean="0"/>
              <a:t>strtok</a:t>
            </a:r>
            <a:r>
              <a:rPr lang="he-IL" altLang="he-IL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הפונקציה </a:t>
            </a:r>
            <a:r>
              <a:rPr lang="en-US" altLang="he-IL" dirty="0" err="1" smtClean="0"/>
              <a:t>memcpy</a:t>
            </a:r>
            <a:r>
              <a:rPr lang="he-IL" altLang="he-IL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endParaRPr lang="en-US" altLang="he-IL" dirty="0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AB08AADB-16DC-48A6-8040-246DDAC4337E}" type="slidenum">
              <a:rPr lang="he-IL" altLang="he-IL" smtClean="0">
                <a:latin typeface="Verdana" pitchFamily="34" charset="0"/>
              </a:rPr>
              <a:pPr algn="r" rtl="1" eaLnBrk="1" hangingPunct="1"/>
              <a:t>56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תרגיל 1:</a:t>
            </a:r>
            <a:endParaRPr lang="en-US" altLang="he-IL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he-IL" sz="3200" dirty="0" smtClean="0"/>
              <a:t>כתוב </a:t>
            </a:r>
            <a:r>
              <a:rPr lang="he-IL" altLang="he-IL" sz="3200" dirty="0" err="1" smtClean="0"/>
              <a:t>תוכנית</a:t>
            </a:r>
            <a:r>
              <a:rPr lang="he-IL" altLang="he-IL" sz="3200" dirty="0" smtClean="0"/>
              <a:t>:</a:t>
            </a:r>
            <a:endParaRPr lang="en-US" altLang="he-IL" sz="3200" dirty="0" smtClean="0"/>
          </a:p>
          <a:p>
            <a:pPr lvl="1"/>
            <a:r>
              <a:rPr lang="he-IL" altLang="he-IL" sz="2800" dirty="0" smtClean="0"/>
              <a:t>הגדר מערך של מחרוזות.</a:t>
            </a:r>
            <a:endParaRPr lang="en-US" altLang="he-IL" sz="2800" dirty="0" smtClean="0"/>
          </a:p>
          <a:p>
            <a:pPr lvl="1"/>
            <a:r>
              <a:rPr lang="he-IL" altLang="he-IL" sz="2800" dirty="0" smtClean="0"/>
              <a:t>עבור כל מחרוזת יש לדאוג שהאות הראשונה תהיה גדולה. </a:t>
            </a:r>
          </a:p>
          <a:p>
            <a:pPr lvl="1"/>
            <a:r>
              <a:rPr lang="he-IL" altLang="he-IL" sz="2800" dirty="0" smtClean="0"/>
              <a:t>הדפס את מערך המחרוזות המעודכן.</a:t>
            </a:r>
          </a:p>
          <a:p>
            <a:pPr lvl="1"/>
            <a:endParaRPr lang="he-IL" altLang="he-IL" sz="2800" dirty="0" smtClean="0"/>
          </a:p>
          <a:p>
            <a:r>
              <a:rPr lang="he-IL" altLang="he-IL" dirty="0" smtClean="0"/>
              <a:t>דוגמא:</a:t>
            </a:r>
          </a:p>
          <a:p>
            <a:pPr lvl="1"/>
            <a:r>
              <a:rPr lang="he-IL" altLang="he-IL" dirty="0" smtClean="0"/>
              <a:t>עבור המערך </a:t>
            </a:r>
            <a:r>
              <a:rPr lang="en-US" altLang="he-IL" dirty="0" smtClean="0"/>
              <a:t>“Kuku”, “</a:t>
            </a:r>
            <a:r>
              <a:rPr lang="en-US" altLang="he-IL" dirty="0" err="1" smtClean="0"/>
              <a:t>abc</a:t>
            </a:r>
            <a:r>
              <a:rPr lang="en-US" altLang="he-IL" dirty="0" smtClean="0"/>
              <a:t>”, “good”</a:t>
            </a:r>
            <a:r>
              <a:rPr lang="he-IL" altLang="he-IL" dirty="0" smtClean="0"/>
              <a:t> הפונקציה תשנה אותו להיות </a:t>
            </a:r>
            <a:r>
              <a:rPr lang="en-US" altLang="he-IL" dirty="0" smtClean="0"/>
              <a:t>“Kuku”, “</a:t>
            </a:r>
            <a:r>
              <a:rPr lang="en-US" altLang="he-IL" dirty="0" err="1" smtClean="0"/>
              <a:t>Abc</a:t>
            </a:r>
            <a:r>
              <a:rPr lang="en-US" altLang="he-IL" dirty="0" smtClean="0"/>
              <a:t>”, “Good”</a:t>
            </a:r>
          </a:p>
          <a:p>
            <a:r>
              <a:rPr lang="he-IL" altLang="he-IL" sz="3200" dirty="0" smtClean="0"/>
              <a:t>הגבלה: אין להשתמש ב- [], אלא רק במצביעים.</a:t>
            </a:r>
            <a:endParaRPr lang="en-US" altLang="he-IL" sz="3200" dirty="0" smtClean="0"/>
          </a:p>
          <a:p>
            <a:pPr lvl="1"/>
            <a:endParaRPr lang="he-IL" altLang="he-IL" sz="2800" dirty="0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9A3B29B3-3316-42E6-9E4A-0E2C29B25936}" type="slidenum">
              <a:rPr lang="he-IL" altLang="he-IL" smtClean="0">
                <a:latin typeface="Verdana" pitchFamily="34" charset="0"/>
              </a:rPr>
              <a:pPr algn="r" rtl="1" eaLnBrk="1" hangingPunct="1"/>
              <a:t>57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תרגיל 2:</a:t>
            </a:r>
            <a:endParaRPr lang="en-US" altLang="he-IL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Clr>
                <a:srgbClr val="002060"/>
              </a:buClr>
              <a:buFont typeface="+mj-lt"/>
              <a:buAutoNum type="arabicPeriod"/>
              <a:defRPr/>
            </a:pPr>
            <a:r>
              <a:rPr lang="he-IL" dirty="0" smtClean="0"/>
              <a:t>כתוב פונקציה המקבלת מערך של מספרים עשרוניים וגודלו. הפונקציה תקלוט ערכים לתוך המערך מהמשתמש.</a:t>
            </a:r>
          </a:p>
          <a:p>
            <a:pPr marL="914400" lvl="1" indent="-457200">
              <a:defRPr/>
            </a:pPr>
            <a:r>
              <a:rPr lang="he-IL" dirty="0" smtClean="0">
                <a:ea typeface="+mn-ea"/>
              </a:rPr>
              <a:t>הגבלה: הפונקציה תשתמש אך ורק במצביעים, ולא ב- [].</a:t>
            </a:r>
            <a:endParaRPr lang="en-US" dirty="0" smtClean="0">
              <a:ea typeface="+mn-ea"/>
            </a:endParaRPr>
          </a:p>
          <a:p>
            <a:pPr>
              <a:defRPr/>
            </a:pPr>
            <a:endParaRPr lang="en-US" dirty="0" smtClean="0"/>
          </a:p>
          <a:p>
            <a:pPr marL="514350" indent="-514350">
              <a:buClr>
                <a:srgbClr val="002060"/>
              </a:buClr>
              <a:buFont typeface="+mj-lt"/>
              <a:buAutoNum type="arabicPeriod" startAt="2"/>
              <a:defRPr/>
            </a:pPr>
            <a:r>
              <a:rPr lang="he-IL" dirty="0" smtClean="0"/>
              <a:t>כתוב פונקציה המקבלת מערך של מספרים עשרוניים וגודלו ומדפיסה את איבריו מהסוף להתחלה.</a:t>
            </a:r>
          </a:p>
          <a:p>
            <a:pPr marL="914400" lvl="1" indent="-457200">
              <a:defRPr/>
            </a:pPr>
            <a:r>
              <a:rPr lang="he-IL" dirty="0" smtClean="0">
                <a:ea typeface="+mn-ea"/>
              </a:rPr>
              <a:t>הגבלה: הפונקציה תשתמש אך ורק במצביעים, ולא ב- [].</a:t>
            </a:r>
            <a:endParaRPr lang="en-US" dirty="0" smtClean="0">
              <a:ea typeface="+mn-ea"/>
            </a:endParaRPr>
          </a:p>
          <a:p>
            <a:pPr>
              <a:defRPr/>
            </a:pPr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F8E978AE-0A1B-4D3C-A9D7-A9083ABC75BF}" type="slidenum">
              <a:rPr lang="he-IL" altLang="he-IL" smtClean="0">
                <a:latin typeface="Verdana" pitchFamily="34" charset="0"/>
              </a:rPr>
              <a:pPr algn="r" rtl="1" eaLnBrk="1" hangingPunct="1"/>
              <a:t>58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תרגיל 2 </a:t>
            </a:r>
            <a:r>
              <a:rPr lang="he-IL" altLang="he-IL" sz="3200" smtClean="0"/>
              <a:t>(המשך)</a:t>
            </a:r>
            <a:r>
              <a:rPr lang="he-IL" altLang="he-IL" smtClean="0"/>
              <a:t>:</a:t>
            </a:r>
            <a:endParaRPr lang="en-US" altLang="he-IL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he-IL" dirty="0" smtClean="0"/>
              <a:t>כתוב </a:t>
            </a:r>
            <a:r>
              <a:rPr lang="en-US" altLang="he-IL" dirty="0" smtClean="0"/>
              <a:t>main</a:t>
            </a:r>
            <a:r>
              <a:rPr lang="he-IL" altLang="he-IL" dirty="0" smtClean="0"/>
              <a:t>: </a:t>
            </a:r>
            <a:endParaRPr lang="en-US" altLang="he-IL" dirty="0" smtClean="0"/>
          </a:p>
          <a:p>
            <a:pPr lvl="1"/>
            <a:r>
              <a:rPr lang="he-IL" altLang="he-IL" dirty="0" smtClean="0"/>
              <a:t>הגדר מערך של 7 מספרים עשרוניים.</a:t>
            </a:r>
            <a:endParaRPr lang="en-US" altLang="he-IL" dirty="0" smtClean="0"/>
          </a:p>
          <a:p>
            <a:pPr lvl="1"/>
            <a:r>
              <a:rPr lang="he-IL" altLang="he-IL" dirty="0" smtClean="0"/>
              <a:t>קלוט לתוכו ערכים באמצעות הפונקציה מסעיף 1.</a:t>
            </a:r>
            <a:endParaRPr lang="en-US" altLang="he-IL" dirty="0" smtClean="0"/>
          </a:p>
          <a:p>
            <a:pPr lvl="1"/>
            <a:r>
              <a:rPr lang="he-IL" altLang="he-IL" dirty="0" smtClean="0"/>
              <a:t>קרא לפונקציה מסעיף 2 עבור 3 האיברים האחרונים המערך.</a:t>
            </a:r>
            <a:endParaRPr lang="en-US" altLang="he-IL" dirty="0" smtClean="0"/>
          </a:p>
          <a:p>
            <a:pPr lvl="1"/>
            <a:r>
              <a:rPr lang="he-IL" altLang="he-IL" dirty="0" smtClean="0"/>
              <a:t>קרא לפונקציה מסעיף 2 עבור כל האיברים פרט לראשון ולאחרון.</a:t>
            </a:r>
          </a:p>
          <a:p>
            <a:pPr lvl="1"/>
            <a:endParaRPr lang="en-US" altLang="he-IL" dirty="0" smtClean="0"/>
          </a:p>
          <a:p>
            <a:r>
              <a:rPr lang="he-IL" altLang="he-IL" dirty="0" smtClean="0"/>
              <a:t>שימו לב: הקוד ב-</a:t>
            </a:r>
            <a:r>
              <a:rPr lang="en-US" altLang="he-IL" dirty="0" smtClean="0"/>
              <a:t> main</a:t>
            </a:r>
            <a:r>
              <a:rPr lang="he-IL" altLang="he-IL" dirty="0" smtClean="0"/>
              <a:t> צריך להיות כללי כך שאם נשנה את גודל המערך, לא נצטרך לעשות שינויים נוספים ב- </a:t>
            </a:r>
            <a:r>
              <a:rPr lang="en-US" altLang="he-IL" dirty="0" smtClean="0"/>
              <a:t>main</a:t>
            </a:r>
            <a:r>
              <a:rPr lang="he-IL" altLang="he-IL" dirty="0" smtClean="0"/>
              <a:t>.</a:t>
            </a:r>
            <a:endParaRPr lang="en-US" altLang="he-IL" dirty="0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2B7A295-FDB6-46C7-B0C0-5042581CACFC}" type="slidenum">
              <a:rPr lang="he-IL" altLang="he-IL" smtClean="0">
                <a:latin typeface="Verdana" pitchFamily="34" charset="0"/>
              </a:rPr>
              <a:pPr algn="r" rtl="1" eaLnBrk="1" hangingPunct="1"/>
              <a:t>59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תרגיל 3:</a:t>
            </a:r>
            <a:endParaRPr lang="en-US" altLang="he-IL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he-IL" dirty="0" smtClean="0"/>
              <a:t>בתרגיל זה יש להשתמש ב-2 הפונקציות מתרגיל 2.</a:t>
            </a:r>
          </a:p>
          <a:p>
            <a:endParaRPr lang="he-IL" altLang="he-IL" dirty="0" smtClean="0"/>
          </a:p>
          <a:p>
            <a:r>
              <a:rPr lang="he-IL" altLang="he-IL" dirty="0" smtClean="0"/>
              <a:t>כתוב </a:t>
            </a:r>
            <a:r>
              <a:rPr lang="en-US" altLang="he-IL" dirty="0" smtClean="0"/>
              <a:t>main</a:t>
            </a:r>
            <a:r>
              <a:rPr lang="he-IL" altLang="he-IL" dirty="0" smtClean="0"/>
              <a:t>:</a:t>
            </a:r>
            <a:endParaRPr lang="en-US" altLang="he-IL" dirty="0" smtClean="0"/>
          </a:p>
          <a:p>
            <a:pPr lvl="1"/>
            <a:r>
              <a:rPr lang="he-IL" altLang="he-IL" dirty="0" smtClean="0"/>
              <a:t>הגדר מטריצה של מספרים בגודל  4</a:t>
            </a:r>
            <a:r>
              <a:rPr lang="en-US" altLang="he-IL" dirty="0" smtClean="0"/>
              <a:t>X</a:t>
            </a:r>
            <a:r>
              <a:rPr lang="he-IL" altLang="he-IL" dirty="0" smtClean="0"/>
              <a:t>5.</a:t>
            </a:r>
            <a:endParaRPr lang="en-US" altLang="he-IL" dirty="0" smtClean="0"/>
          </a:p>
          <a:p>
            <a:pPr lvl="1"/>
            <a:r>
              <a:rPr lang="he-IL" altLang="he-IL" dirty="0" smtClean="0"/>
              <a:t>שלח </a:t>
            </a:r>
            <a:r>
              <a:rPr lang="he-IL" altLang="he-IL" u="sng" dirty="0" smtClean="0"/>
              <a:t>כל שורה </a:t>
            </a:r>
            <a:r>
              <a:rPr lang="he-IL" altLang="he-IL" dirty="0" smtClean="0"/>
              <a:t>במטריצה לפונקציה הקוראת נתונים.</a:t>
            </a:r>
            <a:endParaRPr lang="en-US" altLang="he-IL" dirty="0" smtClean="0"/>
          </a:p>
          <a:p>
            <a:pPr lvl="1"/>
            <a:r>
              <a:rPr lang="he-IL" altLang="he-IL" dirty="0" smtClean="0"/>
              <a:t>שלח את חצי האיברים הראשונים לפונקציה </a:t>
            </a:r>
            <a:r>
              <a:rPr lang="he-IL" altLang="he-IL" dirty="0" err="1" smtClean="0"/>
              <a:t>השניה</a:t>
            </a:r>
            <a:r>
              <a:rPr lang="he-IL" altLang="he-IL" dirty="0" smtClean="0"/>
              <a:t>, ואח"כ את חצי האיברים השניים.</a:t>
            </a:r>
            <a:endParaRPr lang="en-US" altLang="he-IL" dirty="0" smtClean="0"/>
          </a:p>
          <a:p>
            <a:endParaRPr lang="en-US" altLang="he-IL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96F3FE5C-BC65-4039-AF5E-CD0D497D1C7E}" type="slidenum">
              <a:rPr lang="he-IL" altLang="he-IL" smtClean="0">
                <a:latin typeface="Verdana" pitchFamily="34" charset="0"/>
              </a:rPr>
              <a:pPr algn="r" rtl="1" eaLnBrk="1" hangingPunct="1"/>
              <a:t>60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תרגיל 3 </a:t>
            </a:r>
            <a:r>
              <a:rPr lang="he-IL" altLang="he-IL" sz="3200" smtClean="0"/>
              <a:t>(המשך)</a:t>
            </a:r>
            <a:r>
              <a:rPr lang="he-IL" altLang="he-IL" smtClean="0"/>
              <a:t>:</a:t>
            </a:r>
            <a:endParaRPr lang="en-US" altLang="he-IL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he-IL" dirty="0" smtClean="0"/>
              <a:t>למשל: עבור המטריצה הבאה בגודל 4</a:t>
            </a:r>
            <a:r>
              <a:rPr lang="en-US" dirty="0" smtClean="0"/>
              <a:t>X</a:t>
            </a:r>
            <a:r>
              <a:rPr lang="he-IL" dirty="0" smtClean="0"/>
              <a:t>5 עם ה- 20 הערכים הבאים (שנקראו ע"י הפונקציה ראשונה)</a:t>
            </a:r>
            <a:endParaRPr lang="en-US" dirty="0" smtClean="0"/>
          </a:p>
          <a:p>
            <a:pPr>
              <a:defRPr/>
            </a:pPr>
            <a:endParaRPr lang="he-IL" dirty="0" smtClean="0"/>
          </a:p>
          <a:p>
            <a:pPr>
              <a:defRPr/>
            </a:pPr>
            <a:endParaRPr lang="he-IL" dirty="0" smtClean="0"/>
          </a:p>
          <a:p>
            <a:pPr>
              <a:defRPr/>
            </a:pPr>
            <a:endParaRPr lang="he-IL" dirty="0" smtClean="0"/>
          </a:p>
          <a:p>
            <a:pPr>
              <a:defRPr/>
            </a:pPr>
            <a:endParaRPr lang="he-IL" dirty="0" smtClean="0"/>
          </a:p>
          <a:p>
            <a:pPr>
              <a:defRPr/>
            </a:pPr>
            <a:r>
              <a:rPr lang="he-IL" dirty="0" smtClean="0"/>
              <a:t>עליך להדפיס את חצי מכמות האיברים הראשונים (בצהוב) מהסוף להתחלה, ואח"כ תדפיס את חצי מכמות האיברים האחרונים (בירוק) מהסוף להתחלה:</a:t>
            </a:r>
            <a:endParaRPr lang="en-US" dirty="0" smtClean="0"/>
          </a:p>
          <a:p>
            <a:pPr algn="ctr">
              <a:buFont typeface="Wingdings" pitchFamily="2" charset="2"/>
              <a:buNone/>
              <a:defRPr/>
            </a:pPr>
            <a:r>
              <a:rPr lang="en-US" dirty="0" smtClean="0"/>
              <a:t>1,2,5,6,7,8,1,2,3,4,   7,8,9,0,3,4,5,6,9,0</a:t>
            </a:r>
          </a:p>
          <a:p>
            <a:pPr marL="514350" indent="-514350">
              <a:buClr>
                <a:srgbClr val="002060"/>
              </a:buClr>
              <a:buFont typeface="+mj-lt"/>
              <a:buAutoNum type="arabicPeriod"/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7895AC97-93AB-4960-A8A3-3E0E13FC9477}" type="slidenum">
              <a:rPr lang="he-IL" altLang="he-IL" smtClean="0">
                <a:latin typeface="Verdana" pitchFamily="34" charset="0"/>
              </a:rPr>
              <a:pPr algn="r" rtl="1" eaLnBrk="1" hangingPunct="1"/>
              <a:t>61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  <p:pic>
        <p:nvPicPr>
          <p:cNvPr id="6554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33600"/>
            <a:ext cx="914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yOpenU2008a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evel">
      <a:majorFont>
        <a:latin typeface="Garamond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29668</TotalTime>
  <Words>7277</Words>
  <Application>Microsoft Office PowerPoint</Application>
  <PresentationFormat>‫הצגה על המסך (4:3)</PresentationFormat>
  <Paragraphs>3841</Paragraphs>
  <Slides>61</Slides>
  <Notes>61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61</vt:i4>
      </vt:variant>
    </vt:vector>
  </HeadingPairs>
  <TitlesOfParts>
    <vt:vector size="62" baseType="lpstr">
      <vt:lpstr>MyOpenU2008aTheme</vt:lpstr>
      <vt:lpstr>כתובות ומערכים  אריתמטיקה של כתובות</vt:lpstr>
      <vt:lpstr>ביחידה זו נלמד:</vt:lpstr>
      <vt:lpstr>הקשר בין מערך וכתובת</vt:lpstr>
      <vt:lpstr>הקשר בין מערך וכתובת (2)</vt:lpstr>
      <vt:lpstr>הקשר בין מערך וכתובת (3)</vt:lpstr>
      <vt:lpstr>פעולות אריתמטיות על כתובות</vt:lpstr>
      <vt:lpstr>פעולות אריתמטיות על כתובות – דוגמא 1</vt:lpstr>
      <vt:lpstr>פעולות אריתמטיות על כתובות – דוגמא 2</vt:lpstr>
      <vt:lpstr>פעולות אריתמטיות על כתובות – דוגמא 3</vt:lpstr>
      <vt:lpstr>חיסור בין כתובות</vt:lpstr>
      <vt:lpstr>פעולות אריתמטיות על שם מערך</vt:lpstr>
      <vt:lpstr>פעולות אריתמטיות על כתובות – דוגמא 4</vt:lpstr>
      <vt:lpstr>סדר פעולות (I)</vt:lpstr>
      <vt:lpstr>סדר פעולות (II)</vt:lpstr>
      <vt:lpstr>מעבר עולה על איברי מערך עם מצביע (ולא עם אינדקס) – מצביע מטייל</vt:lpstr>
      <vt:lpstr>מעבר יורד על איברי מערך עם מצביע (ולא עם אינדקס) – מצביע מטייל</vt:lpstr>
      <vt:lpstr>נשים לב...</vt:lpstr>
      <vt:lpstr>הפונקציה strchr</vt:lpstr>
      <vt:lpstr>הפונקציה strchr  -דוגמא</vt:lpstr>
      <vt:lpstr>הפונקציה strstr</vt:lpstr>
      <vt:lpstr>הפונקציה strstr  -דוגמא</vt:lpstr>
      <vt:lpstr>העברת מערך לפונקציה</vt:lpstr>
      <vt:lpstr>העברת מערך לפונקציה</vt:lpstr>
      <vt:lpstr>דוגמא: פונקציה הסוכמת איברי מערך (1)</vt:lpstr>
      <vt:lpstr>דוגמא: פונקציה הסוכמת איברי מערך (2)</vt:lpstr>
      <vt:lpstr>דוגמא: סכימת רק חלק מאיברי המערך</vt:lpstr>
      <vt:lpstr>דוגמא: פונקציה המגדילה את כל איברי המערך ב- 1</vt:lpstr>
      <vt:lpstr>מדוע צריך להעביר לפונקציה את גודל המערך (ולא להסתמך על sizeof..)</vt:lpstr>
      <vt:lpstr>דוגמא: מימוש הפונקציה  strlen(1)</vt:lpstr>
      <vt:lpstr>דוגמא: מימוש הפונקציה  strlen(1)</vt:lpstr>
      <vt:lpstr>דוגמא: מימוש הפונקציה strlen (2)</vt:lpstr>
      <vt:lpstr>דוגמא: מימוש strcpy</vt:lpstr>
      <vt:lpstr>דוגמא: מימוש strcmp</vt:lpstr>
      <vt:lpstr>דוגמא: מימוש strcat</vt:lpstr>
      <vt:lpstr>החזרת מערך מפונקציה</vt:lpstr>
      <vt:lpstr>החזרת מערך מפונקציה - דוגמא</vt:lpstr>
      <vt:lpstr>העברת מטריצה לפונקציה המקבלת מערך (I)</vt:lpstr>
      <vt:lpstr>העברת מטריצה לפונקציה המקבלת מערך(II)</vt:lpstr>
      <vt:lpstr>העברת מטריצה לפונקציה המקבלת מערך (III)</vt:lpstr>
      <vt:lpstr>אריתמטיקה של מטריצות</vt:lpstr>
      <vt:lpstr>מערך של כתובות</vt:lpstr>
      <vt:lpstr>מערך של מצביעים דוגמא (1)</vt:lpstr>
      <vt:lpstr> מערך של מצביעים  דוגמא (2)</vt:lpstr>
      <vt:lpstr>איתחול מצביע למחרוזת קבועה</vt:lpstr>
      <vt:lpstr>ה- R/O  Data segment</vt:lpstr>
      <vt:lpstr>מערך של מצביעים למחרוזות - דוגמא</vt:lpstr>
      <vt:lpstr>דוגמא: הדפסת איברי מערך של מחרוזות</vt:lpstr>
      <vt:lpstr>פונקציה המשנה מצביע</vt:lpstr>
      <vt:lpstr>פונקציה המשנה מצביע (2)</vt:lpstr>
      <vt:lpstr>הפונקציה strtok</vt:lpstr>
      <vt:lpstr>הפונקציה strtok (2)</vt:lpstr>
      <vt:lpstr>strtok – דוגמא </vt:lpstr>
      <vt:lpstr>strtok – דוגמא נוספת</vt:lpstr>
      <vt:lpstr>הפונקציה memcpy</vt:lpstr>
      <vt:lpstr>הפונקציה memcpy - דוגמא</vt:lpstr>
      <vt:lpstr>ביחידה זו למדנו:</vt:lpstr>
      <vt:lpstr>תרגיל 1:</vt:lpstr>
      <vt:lpstr>תרגיל 2:</vt:lpstr>
      <vt:lpstr>תרגיל 2 (המשך):</vt:lpstr>
      <vt:lpstr>תרגיל 3:</vt:lpstr>
      <vt:lpstr>תרגיל 3 (המשך):</vt:lpstr>
    </vt:vector>
  </TitlesOfParts>
  <Company>Keren Kalif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 pointers aritmethics and arrays</dc:title>
  <dc:creator>Sagie Feigin</dc:creator>
  <cp:lastModifiedBy>Windows User</cp:lastModifiedBy>
  <cp:revision>547</cp:revision>
  <dcterms:created xsi:type="dcterms:W3CDTF">2008-06-04T06:20:55Z</dcterms:created>
  <dcterms:modified xsi:type="dcterms:W3CDTF">2022-05-01T09:21:55Z</dcterms:modified>
</cp:coreProperties>
</file>