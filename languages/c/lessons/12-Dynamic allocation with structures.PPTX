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3696" r:id="rId1"/>
  </p:sldMasterIdLst>
  <p:notesMasterIdLst>
    <p:notesMasterId r:id="rId28"/>
  </p:notesMasterIdLst>
  <p:handoutMasterIdLst>
    <p:handoutMasterId r:id="rId29"/>
  </p:handoutMasterIdLst>
  <p:sldIdLst>
    <p:sldId id="256" r:id="rId2"/>
    <p:sldId id="324" r:id="rId3"/>
    <p:sldId id="337" r:id="rId4"/>
    <p:sldId id="359" r:id="rId5"/>
    <p:sldId id="363" r:id="rId6"/>
    <p:sldId id="361" r:id="rId7"/>
    <p:sldId id="360" r:id="rId8"/>
    <p:sldId id="367" r:id="rId9"/>
    <p:sldId id="353" r:id="rId10"/>
    <p:sldId id="365" r:id="rId11"/>
    <p:sldId id="366" r:id="rId12"/>
    <p:sldId id="364" r:id="rId13"/>
    <p:sldId id="351" r:id="rId14"/>
    <p:sldId id="356" r:id="rId15"/>
    <p:sldId id="354" r:id="rId16"/>
    <p:sldId id="352" r:id="rId17"/>
    <p:sldId id="355" r:id="rId18"/>
    <p:sldId id="349" r:id="rId19"/>
    <p:sldId id="348" r:id="rId20"/>
    <p:sldId id="368" r:id="rId21"/>
    <p:sldId id="369" r:id="rId22"/>
    <p:sldId id="370" r:id="rId23"/>
    <p:sldId id="372" r:id="rId24"/>
    <p:sldId id="373" r:id="rId25"/>
    <p:sldId id="371" r:id="rId26"/>
    <p:sldId id="374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900"/>
    <a:srgbClr val="FFFF66"/>
    <a:srgbClr val="D7EA22"/>
    <a:srgbClr val="FF0000"/>
    <a:srgbClr val="3DB7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45" autoAdjust="0"/>
    <p:restoredTop sz="94660" autoAdjust="0"/>
  </p:normalViewPr>
  <p:slideViewPr>
    <p:cSldViewPr>
      <p:cViewPr>
        <p:scale>
          <a:sx n="76" d="100"/>
          <a:sy n="76" d="100"/>
        </p:scale>
        <p:origin x="-36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FE1BAE5-1EEE-476A-B543-477122643D8F}" type="datetimeFigureOut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D64BDD4-9D2D-45C0-94F6-B05399D77BDA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37983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AE6E870-96FF-4B9B-BF7E-34510C4067A8}" type="datetimeFigureOut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2DEA5B8-CE10-4FE7-AA0E-FF4AB6CAE05B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9599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5AADB7ED-2BC7-47A1-BC76-855E1F670231}" type="slidenum">
              <a:rPr lang="he-IL" altLang="he-IL" smtClean="0">
                <a:latin typeface="Calibri" pitchFamily="34" charset="0"/>
              </a:rPr>
              <a:pPr eaLnBrk="1" hangingPunct="1"/>
              <a:t>1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3326500-6C3B-46F4-9F44-3FD5D117AA2D}" type="slidenum">
              <a:rPr lang="he-IL" altLang="he-IL" smtClean="0">
                <a:latin typeface="Calibri" pitchFamily="34" charset="0"/>
              </a:rPr>
              <a:pPr eaLnBrk="1" hangingPunct="1"/>
              <a:t>2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C2CF0ECD-5AC0-4089-8C83-EC904DB65883}" type="slidenum">
              <a:rPr lang="he-IL" altLang="he-IL" smtClean="0">
                <a:latin typeface="Calibri" pitchFamily="34" charset="0"/>
              </a:rPr>
              <a:pPr eaLnBrk="1" hangingPunct="1"/>
              <a:t>3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9CBCD87-7904-4474-844B-960A059984B9}" type="slidenum">
              <a:rPr lang="he-IL" altLang="he-IL" smtClean="0">
                <a:latin typeface="Calibri" pitchFamily="34" charset="0"/>
              </a:rPr>
              <a:pPr eaLnBrk="1" hangingPunct="1"/>
              <a:t>4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479406C-EE49-4069-8A25-49BC0F3A4342}" type="slidenum">
              <a:rPr lang="he-IL" altLang="he-IL" smtClean="0">
                <a:latin typeface="Calibri" pitchFamily="34" charset="0"/>
              </a:rPr>
              <a:pPr eaLnBrk="1" hangingPunct="1"/>
              <a:t>5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1543F5C-0BCD-4760-92CD-9297A97B5614}" type="slidenum">
              <a:rPr lang="he-IL" altLang="he-IL" smtClean="0">
                <a:latin typeface="Calibri" pitchFamily="34" charset="0"/>
              </a:rPr>
              <a:pPr eaLnBrk="1" hangingPunct="1"/>
              <a:t>6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64DC405-ABAF-4585-92DC-778BFBD79273}" type="slidenum">
              <a:rPr lang="he-IL" altLang="he-IL" smtClean="0">
                <a:latin typeface="Calibri" pitchFamily="34" charset="0"/>
              </a:rPr>
              <a:pPr eaLnBrk="1" hangingPunct="1"/>
              <a:t>7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59399F37-EF82-46EA-8C86-A834BB67B3A8}" type="slidenum">
              <a:rPr lang="he-IL" altLang="he-IL" smtClean="0">
                <a:latin typeface="Calibri" pitchFamily="34" charset="0"/>
              </a:rPr>
              <a:pPr eaLnBrk="1" hangingPunct="1"/>
              <a:t>8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77B4AF2C-ABD9-465F-8614-290BCDFF25A3}" type="slidenum">
              <a:rPr lang="he-IL" altLang="he-IL" smtClean="0">
                <a:latin typeface="Calibri" pitchFamily="34" charset="0"/>
              </a:rPr>
              <a:pPr eaLnBrk="1" hangingPunct="1"/>
              <a:t>9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51079DD-AAE2-43ED-8B06-F4023739B9E0}" type="slidenum">
              <a:rPr lang="he-IL" altLang="he-IL" smtClean="0">
                <a:latin typeface="Calibri" pitchFamily="34" charset="0"/>
              </a:rPr>
              <a:pPr eaLnBrk="1" hangingPunct="1"/>
              <a:t>10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2949307D-8A19-40EA-8CD1-CE49947A2302}" type="slidenum">
              <a:rPr lang="he-IL" altLang="he-IL" smtClean="0">
                <a:latin typeface="Calibri" pitchFamily="34" charset="0"/>
              </a:rPr>
              <a:pPr eaLnBrk="1" hangingPunct="1"/>
              <a:t>11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9820913B-814F-4992-9455-916C2823E028}" type="slidenum">
              <a:rPr lang="he-IL" altLang="he-IL" smtClean="0">
                <a:latin typeface="Calibri" pitchFamily="34" charset="0"/>
              </a:rPr>
              <a:pPr eaLnBrk="1" hangingPunct="1"/>
              <a:t>12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21CF055B-3075-4B35-ADD5-A92630B1A6CE}" type="slidenum">
              <a:rPr lang="he-IL" altLang="he-IL" smtClean="0">
                <a:latin typeface="Calibri" pitchFamily="34" charset="0"/>
              </a:rPr>
              <a:pPr eaLnBrk="1" hangingPunct="1"/>
              <a:t>13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A9C3659-CF4D-4D72-9014-C4F5664CDFB4}" type="slidenum">
              <a:rPr lang="he-IL" altLang="he-IL" smtClean="0">
                <a:latin typeface="Calibri" pitchFamily="34" charset="0"/>
              </a:rPr>
              <a:pPr eaLnBrk="1" hangingPunct="1"/>
              <a:t>14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C80D755-B106-44A6-8480-933BACB02357}" type="slidenum">
              <a:rPr lang="he-IL" altLang="he-IL" smtClean="0">
                <a:latin typeface="Calibri" pitchFamily="34" charset="0"/>
              </a:rPr>
              <a:pPr eaLnBrk="1" hangingPunct="1"/>
              <a:t>15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E299C50-FFD0-4D02-AAB1-CC24689B8F4E}" type="slidenum">
              <a:rPr lang="he-IL" altLang="he-IL" smtClean="0">
                <a:latin typeface="Calibri" pitchFamily="34" charset="0"/>
              </a:rPr>
              <a:pPr eaLnBrk="1" hangingPunct="1"/>
              <a:t>16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2D6F09F-31AD-4217-A173-6038BEE8C798}" type="slidenum">
              <a:rPr lang="he-IL" altLang="he-IL" smtClean="0">
                <a:latin typeface="Calibri" pitchFamily="34" charset="0"/>
              </a:rPr>
              <a:pPr eaLnBrk="1" hangingPunct="1"/>
              <a:t>17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590A530C-0FD6-4811-B639-6E9AD369D9DC}" type="slidenum">
              <a:rPr lang="he-IL" altLang="he-IL" smtClean="0">
                <a:latin typeface="Calibri" pitchFamily="34" charset="0"/>
              </a:rPr>
              <a:pPr eaLnBrk="1" hangingPunct="1"/>
              <a:t>18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314B5A4-26FA-45A9-A3FA-179FFCD9FF47}" type="slidenum">
              <a:rPr lang="he-IL" altLang="he-IL" smtClean="0">
                <a:latin typeface="Calibri" pitchFamily="34" charset="0"/>
              </a:rPr>
              <a:pPr eaLnBrk="1" hangingPunct="1"/>
              <a:t>19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66F7C871-C5AD-4937-B325-2509020A006F}" type="slidenum">
              <a:rPr lang="he-IL" altLang="he-IL" smtClean="0">
                <a:latin typeface="Calibri" pitchFamily="34" charset="0"/>
              </a:rPr>
              <a:pPr eaLnBrk="1" hangingPunct="1"/>
              <a:t>20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9E7302C3-2FD0-488C-9901-C520B430B57B}" type="slidenum">
              <a:rPr lang="he-IL" altLang="he-IL" smtClean="0">
                <a:latin typeface="Calibri" pitchFamily="34" charset="0"/>
              </a:rPr>
              <a:pPr eaLnBrk="1" hangingPunct="1"/>
              <a:t>21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76934BCA-B933-4439-87BA-5C494A6DC354}" type="slidenum">
              <a:rPr lang="he-IL" altLang="he-IL" smtClean="0">
                <a:latin typeface="Calibri" pitchFamily="34" charset="0"/>
              </a:rPr>
              <a:pPr eaLnBrk="1" hangingPunct="1"/>
              <a:t>22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C666D38-BF14-416D-A73B-FC87410EE965}" type="slidenum">
              <a:rPr lang="he-IL" altLang="he-IL" smtClean="0">
                <a:latin typeface="Calibri" pitchFamily="34" charset="0"/>
              </a:rPr>
              <a:pPr eaLnBrk="1" hangingPunct="1"/>
              <a:t>23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891F007-40D3-44ED-BA58-08A79650CE8D}" type="slidenum">
              <a:rPr lang="he-IL" altLang="he-IL" smtClean="0">
                <a:latin typeface="Calibri" pitchFamily="34" charset="0"/>
              </a:rPr>
              <a:pPr eaLnBrk="1" hangingPunct="1"/>
              <a:t>24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7C9B1D7C-92C5-4BD5-BE29-95B4FEFC484C}" type="slidenum">
              <a:rPr lang="he-IL" altLang="he-IL" smtClean="0">
                <a:latin typeface="Calibri" pitchFamily="34" charset="0"/>
              </a:rPr>
              <a:pPr eaLnBrk="1" hangingPunct="1"/>
              <a:t>25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0555564D-D6FB-4D70-B93E-9F0CD4EC936D}" type="slidenum">
              <a:rPr lang="he-IL" altLang="he-IL" smtClean="0">
                <a:latin typeface="Calibri" pitchFamily="34" charset="0"/>
              </a:rPr>
              <a:pPr eaLnBrk="1" hangingPunct="1"/>
              <a:t>26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5" name="Rectangle 8"/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" name="Rectangle 9"/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sp>
        <p:nvSpPr>
          <p:cNvPr id="270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US" smtClean="0"/>
              <a:t>Click to edit Master subtitle style</a:t>
            </a:r>
            <a:endParaRPr lang="he-IL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8C1766-B859-4E37-9E4E-3D38CC9B46F2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A53A9-31AB-4A25-947D-6819CD63EA81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216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D08163-AA99-4A7F-A9CB-C45672EB1466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12C748-DADA-45C8-8DE6-8B6740BC04C1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23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CDE69D-F54B-4B7B-A0F1-01C4D6488D5F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64489E-C955-4173-988A-F563A3F6DF79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97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FDE1CC-9CA5-4CC5-92B5-44BF5C911D85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885047-F49B-4FC8-950B-0BE2D1B274D2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12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9C765-EA66-436C-BF8B-F62C1CE6BBB1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B2F512-D198-42CA-A603-445C7AFD2E46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735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4EE29-6A4F-47AD-81E3-BC1498481F0C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D75300-A73A-466F-B2F0-84DE9E80468A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77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1470B9-3F0F-42BD-9038-6C04F4AB1479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1762F6-2DE2-4E05-B3AE-770C5A433D27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35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DAD7A1-223B-44D1-9EA3-BDE72E9895D8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8F630E-C54D-4420-8715-94BCD39C1051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05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236EAA-1177-4C5E-BB45-04570B681348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84D22-F6E6-47E7-A87D-BD12007A6DEE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72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3F700B-1F99-4E4A-929C-A923C127247B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68E605-A8EC-43C4-AFB8-043DA26B8921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012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1793F-E122-4779-BBCB-E2B4B7C60865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EB3361-3D9B-4DAE-B100-B6A448DBF36D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79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F0DD58-3F99-4BFB-8A94-0289F3FF6882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584F27-BB96-4C6C-B3BE-AEC04A97B32C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103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he-IL" smtClean="0"/>
              <a:t>לחץ כדי לערוך סגנון כותרת של תבנית בסיס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he-IL" smtClean="0"/>
              <a:t>לחץ כדי לערוך סגנונות טקסט של תבנית בסיס</a:t>
            </a:r>
          </a:p>
          <a:p>
            <a:pPr lvl="1"/>
            <a:r>
              <a:rPr lang="he-IL" altLang="he-IL" smtClean="0"/>
              <a:t>רמה שנייה</a:t>
            </a:r>
          </a:p>
          <a:p>
            <a:pPr lvl="2"/>
            <a:r>
              <a:rPr lang="he-IL" altLang="he-IL" smtClean="0"/>
              <a:t>רמה שלישית</a:t>
            </a:r>
          </a:p>
          <a:p>
            <a:pPr lvl="3"/>
            <a:r>
              <a:rPr lang="he-IL" altLang="he-IL" smtClean="0"/>
              <a:t>רמה רביעית</a:t>
            </a:r>
          </a:p>
          <a:p>
            <a:pPr lvl="4"/>
            <a:r>
              <a:rPr lang="he-IL" altLang="he-IL" smtClean="0"/>
              <a:t>רמה חמישית</a:t>
            </a:r>
          </a:p>
        </p:txBody>
      </p:sp>
      <p:sp>
        <p:nvSpPr>
          <p:cNvPr id="2693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000">
                <a:latin typeface="+mn-lt"/>
                <a:cs typeface="+mn-cs"/>
              </a:defRPr>
            </a:lvl1pPr>
          </a:lstStyle>
          <a:p>
            <a:pPr>
              <a:defRPr/>
            </a:pPr>
            <a:fld id="{2F922A4A-B10C-454B-9AA5-43436396D053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2693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Verdana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2693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Verdana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82454FD-E656-4970-B336-472A1C3FD05D}" type="slidenum">
              <a:rPr lang="he-IL"/>
              <a:pPr>
                <a:defRPr/>
              </a:pPr>
              <a:t>‹#›</a:t>
            </a:fld>
            <a:endParaRPr lang="en-US"/>
          </a:p>
        </p:txBody>
      </p:sp>
      <p:sp>
        <p:nvSpPr>
          <p:cNvPr id="269319" name="Rectangle 7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Times New Roman" pitchFamily="18" charset="0"/>
              <a:cs typeface="+mn-cs"/>
            </a:endParaRPr>
          </a:p>
        </p:txBody>
      </p:sp>
      <p:sp>
        <p:nvSpPr>
          <p:cNvPr id="269320" name="Line 8"/>
          <p:cNvSpPr>
            <a:spLocks noChangeShapeType="1"/>
          </p:cNvSpPr>
          <p:nvPr/>
        </p:nvSpPr>
        <p:spPr bwMode="auto">
          <a:xfrm>
            <a:off x="457200" y="144780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69321" name="Rectangle 9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Times New Roman" pitchFamily="18" charset="0"/>
              <a:cs typeface="+mn-cs"/>
            </a:endParaRPr>
          </a:p>
        </p:txBody>
      </p:sp>
      <p:sp>
        <p:nvSpPr>
          <p:cNvPr id="269322" name="Rectangle 10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Times New Roman" pitchFamily="18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3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  <p:sldLayoutId id="214748393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2pPr>
      <a:lvl3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3pPr>
      <a:lvl4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4pPr>
      <a:lvl5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5pPr>
      <a:lvl6pPr marL="457200" algn="l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6pPr>
      <a:lvl7pPr marL="914400" algn="l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7pPr>
      <a:lvl8pPr marL="1371600" algn="l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8pPr>
      <a:lvl9pPr marL="1828800" algn="l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p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p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r" rtl="1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r" rtl="1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r" rtl="1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he-IL" altLang="he-IL" smtClean="0"/>
              <a:t>הקצאות דינאמיות </a:t>
            </a:r>
            <a:br>
              <a:rPr lang="he-IL" altLang="he-IL" smtClean="0"/>
            </a:br>
            <a:r>
              <a:rPr lang="he-IL" altLang="he-IL" smtClean="0"/>
              <a:t>בשילוב מבנים</a:t>
            </a:r>
            <a:endParaRPr lang="en-US" altLang="he-IL" smtClean="0"/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he-IL" altLang="he-IL" dirty="0" smtClean="0"/>
              <a:t>שגיא </a:t>
            </a:r>
            <a:r>
              <a:rPr lang="he-IL" altLang="he-IL" dirty="0" err="1" smtClean="0"/>
              <a:t>פייגין</a:t>
            </a:r>
            <a:endParaRPr lang="en-US" altLang="he-IL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r" eaLnBrk="1" hangingPunct="1"/>
            <a:r>
              <a:rPr lang="he-IL" altLang="he-IL" smtClean="0"/>
              <a:t>ביחידה זו נלמד:</a:t>
            </a:r>
            <a:endParaRPr lang="en-US" altLang="he-IL" smtClean="0"/>
          </a:p>
        </p:txBody>
      </p:sp>
      <p:sp>
        <p:nvSpPr>
          <p:cNvPr id="4099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he-IL" altLang="he-IL" dirty="0" smtClean="0"/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דוגמאות משולבות למבנים והקצאות </a:t>
            </a:r>
            <a:r>
              <a:rPr lang="he-IL" altLang="he-IL" dirty="0" smtClean="0"/>
              <a:t>דינאמיות.</a:t>
            </a:r>
            <a:endParaRPr lang="he-IL" altLang="he-IL" dirty="0" smtClean="0"/>
          </a:p>
        </p:txBody>
      </p:sp>
      <p:sp>
        <p:nvSpPr>
          <p:cNvPr id="4100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F885A0EA-BCB3-4CDC-B511-1C3188F9B643}" type="slidenum">
              <a:rPr lang="he-IL" altLang="he-IL" sz="1000">
                <a:latin typeface="Verdana" pitchFamily="34" charset="0"/>
              </a:rPr>
              <a:pPr algn="r" rtl="1" eaLnBrk="1" hangingPunct="1"/>
              <a:t>2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ChangeArrowheads="1"/>
          </p:cNvSpPr>
          <p:nvPr/>
        </p:nvSpPr>
        <p:spPr bwMode="auto">
          <a:xfrm>
            <a:off x="457200" y="1371600"/>
            <a:ext cx="8153400" cy="152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>
              <a:latin typeface="Verdana" pitchFamily="34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z="4000" smtClean="0"/>
              <a:t>הקצאת מערך של מבנים</a:t>
            </a:r>
            <a:endParaRPr lang="en-US" altLang="he-IL" sz="4000" smtClean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0"/>
            <a:ext cx="8229600" cy="4530725"/>
          </a:xfrm>
        </p:spPr>
        <p:txBody>
          <a:bodyPr/>
          <a:lstStyle/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#include &lt;stdio.h&gt;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#include &lt;stdlib.h&gt;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struct Point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int  x, y;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} typedef  point_t;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void main()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int  size, i;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</a:t>
            </a:r>
            <a:r>
              <a:rPr lang="en-US" altLang="he-IL" sz="1200" b="1" noProof="1" smtClean="0"/>
              <a:t>point_t</a:t>
            </a:r>
            <a:r>
              <a:rPr lang="en-US" altLang="he-IL" sz="1200" noProof="1" smtClean="0"/>
              <a:t>* points;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printf("How many points? 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scanf("%d", &amp;size);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points = (</a:t>
            </a:r>
            <a:r>
              <a:rPr lang="en-US" altLang="he-IL" sz="1200" b="1" noProof="1" smtClean="0"/>
              <a:t>point_t*</a:t>
            </a:r>
            <a:r>
              <a:rPr lang="en-US" altLang="he-IL" sz="1200" noProof="1" smtClean="0"/>
              <a:t>)calloc(size, sizeof(</a:t>
            </a:r>
            <a:r>
              <a:rPr lang="en-US" altLang="he-IL" sz="1200" b="1" noProof="1" smtClean="0"/>
              <a:t>point_t</a:t>
            </a:r>
            <a:r>
              <a:rPr lang="en-US" altLang="he-IL" sz="1200" noProof="1" smtClean="0"/>
              <a:t>));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if (!points)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printf("ERROR! Out of memory!\n");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return;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printf("Points are: 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for (i=0 ; i &lt; size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printf("(%d, %d) ", </a:t>
            </a:r>
            <a:r>
              <a:rPr lang="en-US" altLang="he-IL" sz="1200" b="1" noProof="1" smtClean="0"/>
              <a:t>points[i].x, points[i].y</a:t>
            </a:r>
            <a:r>
              <a:rPr lang="en-US" altLang="he-IL" sz="1200" noProof="1" smtClean="0"/>
              <a:t>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printf("\nPlease enter %d points: \n", size);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for (i=0 ; i &lt; size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printf("Point #%d: ", i+1);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scanf("%d %d", </a:t>
            </a:r>
            <a:r>
              <a:rPr lang="en-US" altLang="he-IL" sz="1200" b="1" noProof="1" smtClean="0"/>
              <a:t>&amp;points[i].x, &amp;points[i].y</a:t>
            </a:r>
            <a:r>
              <a:rPr lang="en-US" altLang="he-IL" sz="1200" noProof="1" smtClean="0"/>
              <a:t>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printf("Points are: 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for (i=0 ; i &lt; size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printf("(%d, %d) ", </a:t>
            </a:r>
            <a:r>
              <a:rPr lang="en-US" altLang="he-IL" sz="1200" b="1" noProof="1" smtClean="0"/>
              <a:t>points[i].x, points[i].y</a:t>
            </a:r>
            <a:r>
              <a:rPr lang="en-US" altLang="he-IL" sz="1200" noProof="1" smtClean="0"/>
              <a:t>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printf("\n");</a:t>
            </a:r>
            <a:endParaRPr lang="en-US" altLang="he-IL" sz="120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smtClean="0"/>
              <a:t>	free(points)</a:t>
            </a: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smtClean="0"/>
          </a:p>
        </p:txBody>
      </p:sp>
      <p:sp>
        <p:nvSpPr>
          <p:cNvPr id="5125" name="Rectangle 4"/>
          <p:cNvSpPr>
            <a:spLocks noChangeArrowheads="1"/>
          </p:cNvSpPr>
          <p:nvPr/>
        </p:nvSpPr>
        <p:spPr bwMode="auto">
          <a:xfrm>
            <a:off x="3886200" y="1752600"/>
            <a:ext cx="4876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אין שום שינוי פרט לטיפוס ב- </a:t>
            </a:r>
            <a:r>
              <a:rPr lang="en-US" altLang="he-IL" b="1">
                <a:solidFill>
                  <a:schemeClr val="bg1"/>
                </a:solidFill>
              </a:rPr>
              <a:t>calloc/malloc</a:t>
            </a:r>
          </a:p>
        </p:txBody>
      </p:sp>
      <p:pic>
        <p:nvPicPr>
          <p:cNvPr id="512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976563"/>
            <a:ext cx="4191000" cy="190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175C29E4-7C75-4255-9F71-3DFB5D9D7A7C}" type="slidenum">
              <a:rPr lang="he-IL" altLang="he-IL" sz="1000">
                <a:latin typeface="Verdana" pitchFamily="34" charset="0"/>
              </a:rPr>
              <a:pPr algn="r" rtl="1" eaLnBrk="1" hangingPunct="1"/>
              <a:t>3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דרכים שונות להגדרת מערך</a:t>
            </a:r>
            <a:endParaRPr lang="en-US" altLang="he-IL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5562600"/>
          </a:xfrm>
        </p:spPr>
        <p:txBody>
          <a:bodyPr/>
          <a:lstStyle/>
          <a:p>
            <a:pPr marL="514350" indent="-514350">
              <a:lnSpc>
                <a:spcPct val="90000"/>
              </a:lnSpc>
              <a:buClr>
                <a:srgbClr val="C00000"/>
              </a:buClr>
              <a:buFont typeface="Garamond" pitchFamily="18" charset="0"/>
              <a:buAutoNum type="arabicPeriod"/>
            </a:pPr>
            <a:r>
              <a:rPr lang="he-IL" altLang="he-IL" sz="2300" dirty="0" smtClean="0"/>
              <a:t>מערך של</a:t>
            </a:r>
            <a:r>
              <a:rPr lang="en-US" altLang="he-IL" sz="2300" dirty="0" smtClean="0"/>
              <a:t> </a:t>
            </a:r>
            <a:r>
              <a:rPr lang="he-IL" altLang="he-IL" sz="2300" dirty="0" smtClean="0"/>
              <a:t> </a:t>
            </a:r>
            <a:r>
              <a:rPr lang="en-US" altLang="he-IL" sz="2300" dirty="0" smtClean="0"/>
              <a:t>Student</a:t>
            </a:r>
            <a:r>
              <a:rPr lang="he-IL" altLang="he-IL" sz="2300" dirty="0" smtClean="0"/>
              <a:t> בגודל הידוע בזמן </a:t>
            </a:r>
            <a:r>
              <a:rPr lang="he-IL" altLang="he-IL" sz="2300" dirty="0" smtClean="0"/>
              <a:t>קומפילציה:</a:t>
            </a:r>
            <a:endParaRPr lang="he-IL" altLang="he-IL" sz="2300" dirty="0" smtClean="0"/>
          </a:p>
          <a:p>
            <a:pPr marL="514350" indent="-514350"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300" dirty="0" err="1" smtClean="0"/>
              <a:t>student_t</a:t>
            </a:r>
            <a:r>
              <a:rPr lang="en-US" altLang="he-IL" sz="2300" dirty="0" smtClean="0"/>
              <a:t> </a:t>
            </a:r>
            <a:r>
              <a:rPr lang="he-IL" altLang="he-IL" sz="2300" dirty="0" smtClean="0"/>
              <a:t> </a:t>
            </a:r>
            <a:r>
              <a:rPr lang="en-US" altLang="he-IL" sz="2300" dirty="0" err="1" smtClean="0"/>
              <a:t>arr</a:t>
            </a:r>
            <a:r>
              <a:rPr lang="en-US" altLang="he-IL" sz="2300" dirty="0" smtClean="0"/>
              <a:t>[3];</a:t>
            </a:r>
          </a:p>
          <a:p>
            <a:pPr marL="514350" indent="-514350">
              <a:lnSpc>
                <a:spcPct val="90000"/>
              </a:lnSpc>
              <a:buFont typeface="Garamond" pitchFamily="18" charset="0"/>
              <a:buAutoNum type="arabicPeriod"/>
            </a:pPr>
            <a:endParaRPr lang="he-IL" altLang="he-IL" sz="2300" dirty="0" smtClean="0"/>
          </a:p>
          <a:p>
            <a:pPr marL="514350" indent="-514350">
              <a:lnSpc>
                <a:spcPct val="90000"/>
              </a:lnSpc>
              <a:buClr>
                <a:srgbClr val="C00000"/>
              </a:buClr>
              <a:buFont typeface="Garamond" pitchFamily="18" charset="0"/>
              <a:buAutoNum type="arabicPeriod" startAt="2"/>
            </a:pPr>
            <a:r>
              <a:rPr lang="he-IL" altLang="he-IL" sz="2300" dirty="0" smtClean="0"/>
              <a:t>מערך של</a:t>
            </a:r>
            <a:r>
              <a:rPr lang="en-US" altLang="he-IL" sz="2300" dirty="0" smtClean="0"/>
              <a:t> </a:t>
            </a:r>
            <a:r>
              <a:rPr lang="he-IL" altLang="he-IL" sz="2300" dirty="0" smtClean="0"/>
              <a:t> </a:t>
            </a:r>
            <a:r>
              <a:rPr lang="en-US" altLang="he-IL" sz="2300" dirty="0" smtClean="0"/>
              <a:t>Student</a:t>
            </a:r>
            <a:r>
              <a:rPr lang="he-IL" altLang="he-IL" sz="2300" dirty="0" smtClean="0"/>
              <a:t> בגודל </a:t>
            </a:r>
            <a:r>
              <a:rPr lang="he-IL" altLang="he-IL" sz="2300" b="1" dirty="0" smtClean="0"/>
              <a:t>שאינו</a:t>
            </a:r>
            <a:r>
              <a:rPr lang="he-IL" altLang="he-IL" sz="2300" dirty="0" smtClean="0"/>
              <a:t> ידוע בזמן </a:t>
            </a:r>
            <a:r>
              <a:rPr lang="he-IL" altLang="he-IL" sz="2300" dirty="0" smtClean="0"/>
              <a:t>קומפילציה:</a:t>
            </a:r>
            <a:endParaRPr lang="he-IL" altLang="he-IL" sz="2300" dirty="0" smtClean="0"/>
          </a:p>
          <a:p>
            <a:pPr marL="514350" indent="-514350"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300" dirty="0" err="1" smtClean="0"/>
              <a:t>scanf</a:t>
            </a:r>
            <a:r>
              <a:rPr lang="en-US" altLang="he-IL" sz="2300" dirty="0" smtClean="0"/>
              <a:t>(“%d”, &amp;size)</a:t>
            </a:r>
          </a:p>
          <a:p>
            <a:pPr marL="514350" indent="-514350"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300" dirty="0" err="1" smtClean="0"/>
              <a:t>student_t</a:t>
            </a:r>
            <a:r>
              <a:rPr lang="en-US" altLang="he-IL" sz="2300" dirty="0" smtClean="0"/>
              <a:t>* </a:t>
            </a:r>
            <a:r>
              <a:rPr lang="he-IL" altLang="he-IL" sz="2300" dirty="0" smtClean="0"/>
              <a:t> </a:t>
            </a:r>
            <a:r>
              <a:rPr lang="en-US" altLang="he-IL" sz="2300" dirty="0" err="1" smtClean="0"/>
              <a:t>arr</a:t>
            </a:r>
            <a:r>
              <a:rPr lang="en-US" altLang="he-IL" sz="2300" dirty="0" smtClean="0"/>
              <a:t> = </a:t>
            </a:r>
            <a:r>
              <a:rPr lang="en-US" altLang="he-IL" sz="2000" dirty="0" smtClean="0"/>
              <a:t>(</a:t>
            </a:r>
            <a:r>
              <a:rPr lang="en-US" altLang="he-IL" sz="2000" dirty="0" err="1" smtClean="0"/>
              <a:t>student_t</a:t>
            </a:r>
            <a:r>
              <a:rPr lang="en-US" altLang="he-IL" sz="2000" dirty="0" smtClean="0"/>
              <a:t>*)</a:t>
            </a:r>
            <a:r>
              <a:rPr lang="en-US" altLang="he-IL" sz="2000" dirty="0" err="1" smtClean="0"/>
              <a:t>malloc</a:t>
            </a:r>
            <a:r>
              <a:rPr lang="en-US" altLang="he-IL" sz="2000" dirty="0" smtClean="0"/>
              <a:t>(</a:t>
            </a:r>
            <a:r>
              <a:rPr lang="en-US" altLang="he-IL" sz="2000" dirty="0" err="1" smtClean="0"/>
              <a:t>sizeof</a:t>
            </a:r>
            <a:r>
              <a:rPr lang="en-US" altLang="he-IL" sz="2000" dirty="0" smtClean="0"/>
              <a:t>(</a:t>
            </a:r>
            <a:r>
              <a:rPr lang="en-US" altLang="he-IL" sz="2000" dirty="0" err="1" smtClean="0"/>
              <a:t>student_t</a:t>
            </a:r>
            <a:r>
              <a:rPr lang="en-US" altLang="he-IL" sz="2000" dirty="0" smtClean="0"/>
              <a:t>)*size);</a:t>
            </a:r>
            <a:endParaRPr lang="he-IL" altLang="he-IL" sz="2300" dirty="0" smtClean="0"/>
          </a:p>
          <a:p>
            <a:pPr marL="514350" indent="-514350">
              <a:lnSpc>
                <a:spcPct val="90000"/>
              </a:lnSpc>
              <a:buFont typeface="Garamond" pitchFamily="18" charset="0"/>
              <a:buAutoNum type="arabicPeriod"/>
            </a:pPr>
            <a:endParaRPr lang="he-IL" altLang="he-IL" sz="2300" dirty="0" smtClean="0"/>
          </a:p>
          <a:p>
            <a:pPr marL="514350" indent="-514350">
              <a:lnSpc>
                <a:spcPct val="90000"/>
              </a:lnSpc>
              <a:buClr>
                <a:srgbClr val="C00000"/>
              </a:buClr>
              <a:buFont typeface="Garamond" pitchFamily="18" charset="0"/>
              <a:buAutoNum type="arabicPeriod" startAt="3"/>
            </a:pPr>
            <a:r>
              <a:rPr lang="he-IL" altLang="he-IL" sz="2300" dirty="0" smtClean="0"/>
              <a:t>מערך של</a:t>
            </a:r>
            <a:r>
              <a:rPr lang="en-US" altLang="he-IL" sz="2300" dirty="0" smtClean="0"/>
              <a:t> </a:t>
            </a:r>
            <a:r>
              <a:rPr lang="he-IL" altLang="he-IL" sz="2300" dirty="0" smtClean="0"/>
              <a:t>מצביעים ל- </a:t>
            </a:r>
            <a:r>
              <a:rPr lang="en-US" altLang="he-IL" sz="2300" dirty="0" smtClean="0"/>
              <a:t>Student</a:t>
            </a:r>
            <a:r>
              <a:rPr lang="he-IL" altLang="he-IL" sz="2300" dirty="0" smtClean="0"/>
              <a:t> בגודל הידוע בזמן </a:t>
            </a:r>
            <a:r>
              <a:rPr lang="he-IL" altLang="he-IL" sz="2300" dirty="0" smtClean="0"/>
              <a:t>קומפילציה:</a:t>
            </a:r>
            <a:endParaRPr lang="he-IL" altLang="he-IL" sz="2300" dirty="0" smtClean="0"/>
          </a:p>
          <a:p>
            <a:pPr marL="514350" indent="-514350" algn="l">
              <a:lnSpc>
                <a:spcPct val="90000"/>
              </a:lnSpc>
              <a:buFont typeface="Garamond" pitchFamily="18" charset="0"/>
              <a:buAutoNum type="arabicPeriod" startAt="3"/>
            </a:pPr>
            <a:r>
              <a:rPr lang="en-US" altLang="he-IL" sz="2300" dirty="0" err="1" smtClean="0"/>
              <a:t>student_t</a:t>
            </a:r>
            <a:r>
              <a:rPr lang="en-US" altLang="he-IL" sz="2300" dirty="0" smtClean="0"/>
              <a:t>*  </a:t>
            </a:r>
            <a:r>
              <a:rPr lang="en-US" altLang="he-IL" sz="2300" dirty="0" err="1" smtClean="0"/>
              <a:t>arr</a:t>
            </a:r>
            <a:r>
              <a:rPr lang="en-US" altLang="he-IL" sz="2300" dirty="0" smtClean="0"/>
              <a:t>[3];</a:t>
            </a:r>
            <a:endParaRPr lang="he-IL" altLang="he-IL" sz="2300" dirty="0" smtClean="0"/>
          </a:p>
          <a:p>
            <a:pPr marL="514350" indent="-514350">
              <a:lnSpc>
                <a:spcPct val="90000"/>
              </a:lnSpc>
              <a:buFont typeface="Garamond" pitchFamily="18" charset="0"/>
              <a:buAutoNum type="arabicPeriod" startAt="3"/>
            </a:pPr>
            <a:endParaRPr lang="he-IL" altLang="he-IL" sz="2300" dirty="0" smtClean="0"/>
          </a:p>
          <a:p>
            <a:pPr marL="514350" indent="-514350">
              <a:lnSpc>
                <a:spcPct val="90000"/>
              </a:lnSpc>
              <a:buClr>
                <a:srgbClr val="C00000"/>
              </a:buClr>
              <a:buFont typeface="Garamond" pitchFamily="18" charset="0"/>
              <a:buAutoNum type="arabicPeriod" startAt="4"/>
            </a:pPr>
            <a:r>
              <a:rPr lang="he-IL" altLang="he-IL" sz="2300" dirty="0" smtClean="0"/>
              <a:t>מערך של</a:t>
            </a:r>
            <a:r>
              <a:rPr lang="en-US" altLang="he-IL" sz="2300" dirty="0" smtClean="0"/>
              <a:t> </a:t>
            </a:r>
            <a:r>
              <a:rPr lang="he-IL" altLang="he-IL" sz="2300" dirty="0" smtClean="0"/>
              <a:t>מצביעים ל- </a:t>
            </a:r>
            <a:r>
              <a:rPr lang="en-US" altLang="he-IL" sz="2300" dirty="0" smtClean="0"/>
              <a:t>Student</a:t>
            </a:r>
            <a:r>
              <a:rPr lang="he-IL" altLang="he-IL" sz="2300" dirty="0" smtClean="0"/>
              <a:t> בגודל </a:t>
            </a:r>
            <a:r>
              <a:rPr lang="he-IL" altLang="he-IL" sz="2300" b="1" dirty="0" smtClean="0"/>
              <a:t>שאינו</a:t>
            </a:r>
            <a:r>
              <a:rPr lang="he-IL" altLang="he-IL" sz="2300" dirty="0" smtClean="0"/>
              <a:t> ידוע בזמן </a:t>
            </a:r>
            <a:r>
              <a:rPr lang="he-IL" altLang="he-IL" sz="2300" dirty="0" smtClean="0"/>
              <a:t>קומפילציה:</a:t>
            </a:r>
            <a:endParaRPr lang="he-IL" altLang="he-IL" sz="2300" dirty="0" smtClean="0"/>
          </a:p>
          <a:p>
            <a:pPr marL="514350" indent="-514350"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300" dirty="0" err="1" smtClean="0"/>
              <a:t>scanf</a:t>
            </a:r>
            <a:r>
              <a:rPr lang="en-US" altLang="he-IL" sz="2300" dirty="0" smtClean="0"/>
              <a:t>(“%d”, &amp;size)</a:t>
            </a:r>
          </a:p>
          <a:p>
            <a:pPr marL="514350" indent="-514350"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300" dirty="0" err="1" smtClean="0"/>
              <a:t>student_t</a:t>
            </a:r>
            <a:r>
              <a:rPr lang="en-US" altLang="he-IL" sz="2300" dirty="0" smtClean="0"/>
              <a:t>** </a:t>
            </a:r>
            <a:r>
              <a:rPr lang="he-IL" altLang="he-IL" sz="2300" dirty="0" smtClean="0"/>
              <a:t> </a:t>
            </a:r>
            <a:r>
              <a:rPr lang="en-US" altLang="he-IL" sz="2300" dirty="0" err="1" smtClean="0"/>
              <a:t>arr</a:t>
            </a:r>
            <a:r>
              <a:rPr lang="en-US" altLang="he-IL" sz="2300" dirty="0" smtClean="0"/>
              <a:t> = </a:t>
            </a:r>
            <a:r>
              <a:rPr lang="en-US" altLang="he-IL" sz="1800" dirty="0" smtClean="0"/>
              <a:t>(</a:t>
            </a:r>
            <a:r>
              <a:rPr lang="en-US" altLang="he-IL" sz="1800" dirty="0" err="1" smtClean="0"/>
              <a:t>student_t</a:t>
            </a:r>
            <a:r>
              <a:rPr lang="en-US" altLang="he-IL" sz="1800" dirty="0" smtClean="0"/>
              <a:t>**)</a:t>
            </a:r>
            <a:r>
              <a:rPr lang="en-US" altLang="he-IL" sz="1800" dirty="0" err="1" smtClean="0"/>
              <a:t>malloc</a:t>
            </a:r>
            <a:r>
              <a:rPr lang="en-US" altLang="he-IL" sz="1800" dirty="0" smtClean="0"/>
              <a:t>(</a:t>
            </a:r>
            <a:r>
              <a:rPr lang="en-US" altLang="he-IL" sz="1800" dirty="0" err="1" smtClean="0"/>
              <a:t>sizeof</a:t>
            </a:r>
            <a:r>
              <a:rPr lang="en-US" altLang="he-IL" sz="1800" dirty="0" smtClean="0"/>
              <a:t>(</a:t>
            </a:r>
            <a:r>
              <a:rPr lang="en-US" altLang="he-IL" sz="1800" dirty="0" err="1" smtClean="0"/>
              <a:t>student_t</a:t>
            </a:r>
            <a:r>
              <a:rPr lang="en-US" altLang="he-IL" sz="1800" dirty="0" smtClean="0"/>
              <a:t>*)*size);</a:t>
            </a:r>
            <a:endParaRPr lang="he-IL" altLang="he-IL" sz="2300" dirty="0" smtClean="0"/>
          </a:p>
        </p:txBody>
      </p:sp>
      <p:sp>
        <p:nvSpPr>
          <p:cNvPr id="6148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B851CE88-F7D3-487B-ACD0-3ACBAC857F8A}" type="slidenum">
              <a:rPr lang="he-IL" altLang="he-IL" sz="1000">
                <a:latin typeface="Verdana" pitchFamily="34" charset="0"/>
              </a:rPr>
              <a:pPr algn="r" rtl="1" eaLnBrk="1" hangingPunct="1"/>
              <a:t>4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דרכים להגדרת מערך (1)</a:t>
            </a:r>
            <a:endParaRPr lang="en-US" altLang="he-IL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he-IL" altLang="he-IL" dirty="0" smtClean="0"/>
              <a:t>מערך של </a:t>
            </a:r>
            <a:r>
              <a:rPr lang="en-US" altLang="he-IL" dirty="0" smtClean="0"/>
              <a:t>Student</a:t>
            </a:r>
            <a:r>
              <a:rPr lang="he-IL" altLang="he-IL" dirty="0" smtClean="0"/>
              <a:t> בגודל הידוע בזמן </a:t>
            </a:r>
            <a:r>
              <a:rPr lang="he-IL" altLang="he-IL" dirty="0" smtClean="0"/>
              <a:t>קומפילציה:</a:t>
            </a:r>
            <a:endParaRPr lang="he-IL" altLang="he-IL" dirty="0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dirty="0" err="1" smtClean="0"/>
              <a:t>student_t</a:t>
            </a:r>
            <a:r>
              <a:rPr lang="en-US" altLang="he-IL" dirty="0" smtClean="0"/>
              <a:t> </a:t>
            </a:r>
            <a:r>
              <a:rPr lang="en-US" altLang="he-IL" dirty="0" err="1" smtClean="0"/>
              <a:t>arr</a:t>
            </a:r>
            <a:r>
              <a:rPr lang="en-US" altLang="he-IL" dirty="0" smtClean="0"/>
              <a:t>[3];</a:t>
            </a:r>
          </a:p>
          <a:p>
            <a:pPr lvl="1">
              <a:lnSpc>
                <a:spcPct val="90000"/>
              </a:lnSpc>
            </a:pPr>
            <a:r>
              <a:rPr lang="he-IL" altLang="he-IL" dirty="0" smtClean="0"/>
              <a:t>במקרה זה כל איברי המערך נמצאים על ה- </a:t>
            </a:r>
            <a:r>
              <a:rPr lang="en-US" altLang="he-IL" dirty="0" smtClean="0"/>
              <a:t>stack</a:t>
            </a:r>
            <a:r>
              <a:rPr lang="he-IL" altLang="he-IL" dirty="0" smtClean="0"/>
              <a:t>:</a:t>
            </a:r>
            <a:endParaRPr lang="he-IL" altLang="he-IL" dirty="0" smtClean="0"/>
          </a:p>
          <a:p>
            <a:pPr>
              <a:lnSpc>
                <a:spcPct val="90000"/>
              </a:lnSpc>
            </a:pPr>
            <a:endParaRPr lang="he-IL" altLang="he-IL" dirty="0" smtClean="0"/>
          </a:p>
          <a:p>
            <a:pPr>
              <a:lnSpc>
                <a:spcPct val="90000"/>
              </a:lnSpc>
            </a:pPr>
            <a:endParaRPr lang="he-IL" altLang="he-IL" dirty="0" smtClean="0"/>
          </a:p>
          <a:p>
            <a:pPr>
              <a:lnSpc>
                <a:spcPct val="90000"/>
              </a:lnSpc>
            </a:pPr>
            <a:endParaRPr lang="he-IL" altLang="he-IL" dirty="0" smtClean="0"/>
          </a:p>
          <a:p>
            <a:pPr>
              <a:lnSpc>
                <a:spcPct val="90000"/>
              </a:lnSpc>
            </a:pPr>
            <a:endParaRPr lang="he-IL" altLang="he-IL" dirty="0" smtClean="0"/>
          </a:p>
          <a:p>
            <a:pPr>
              <a:lnSpc>
                <a:spcPct val="90000"/>
              </a:lnSpc>
            </a:pPr>
            <a:endParaRPr lang="he-IL" altLang="he-IL" dirty="0" smtClean="0"/>
          </a:p>
          <a:p>
            <a:pPr>
              <a:lnSpc>
                <a:spcPct val="90000"/>
              </a:lnSpc>
            </a:pPr>
            <a:r>
              <a:rPr lang="he-IL" altLang="he-IL" dirty="0" smtClean="0"/>
              <a:t>מימוש זה בזבזני במידה ולא נשתמש בכל איברי </a:t>
            </a:r>
            <a:r>
              <a:rPr lang="he-IL" altLang="he-IL" dirty="0" smtClean="0"/>
              <a:t>המערך.</a:t>
            </a:r>
            <a:endParaRPr lang="he-IL" altLang="he-IL" dirty="0" smtClean="0"/>
          </a:p>
          <a:p>
            <a:pPr>
              <a:lnSpc>
                <a:spcPct val="90000"/>
              </a:lnSpc>
            </a:pPr>
            <a:r>
              <a:rPr lang="he-IL" altLang="he-IL" dirty="0" smtClean="0"/>
              <a:t>יעיל מבחינת ביצועים (אין הקצאות דינאמיות</a:t>
            </a:r>
            <a:r>
              <a:rPr lang="he-IL" altLang="he-IL" dirty="0" smtClean="0"/>
              <a:t>).</a:t>
            </a:r>
            <a:endParaRPr lang="he-IL" altLang="he-IL" dirty="0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he-IL" altLang="he-IL" dirty="0" smtClean="0"/>
          </a:p>
          <a:p>
            <a:pPr>
              <a:lnSpc>
                <a:spcPct val="90000"/>
              </a:lnSpc>
            </a:pPr>
            <a:endParaRPr lang="he-IL" altLang="he-IL" dirty="0" smtClean="0"/>
          </a:p>
          <a:p>
            <a:pPr>
              <a:lnSpc>
                <a:spcPct val="90000"/>
              </a:lnSpc>
            </a:pPr>
            <a:endParaRPr lang="he-IL" altLang="he-IL" dirty="0" smtClean="0"/>
          </a:p>
        </p:txBody>
      </p:sp>
      <p:sp>
        <p:nvSpPr>
          <p:cNvPr id="7172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A17F75A5-1C83-42CD-B8AF-57F12A3BC9CA}" type="slidenum">
              <a:rPr lang="he-IL" altLang="he-IL" sz="1000">
                <a:latin typeface="Verdana" pitchFamily="34" charset="0"/>
              </a:rPr>
              <a:pPr algn="r" rtl="1" eaLnBrk="1" hangingPunct="1"/>
              <a:t>5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  <p:graphicFrame>
        <p:nvGraphicFramePr>
          <p:cNvPr id="6" name="Group 221"/>
          <p:cNvGraphicFramePr>
            <a:graphicFrameLocks noGrp="1"/>
          </p:cNvGraphicFramePr>
          <p:nvPr/>
        </p:nvGraphicFramePr>
        <p:xfrm>
          <a:off x="3200400" y="3048000"/>
          <a:ext cx="3657600" cy="2198690"/>
        </p:xfrm>
        <a:graphic>
          <a:graphicData uri="http://schemas.openxmlformats.org/drawingml/2006/table">
            <a:tbl>
              <a:tblPr/>
              <a:tblGrid>
                <a:gridCol w="2133600"/>
                <a:gridCol w="990600"/>
                <a:gridCol w="533400"/>
              </a:tblGrid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student[]: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[0]: name</a:t>
                      </a:r>
                    </a:p>
                  </a:txBody>
                  <a:tcPr marT="45727" marB="4572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             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[0]: id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             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[1]: name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             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[1]: id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             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[2]: name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             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[2]: id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דרכים להגדרת מערך (2)</a:t>
            </a:r>
            <a:endParaRPr lang="en-US" altLang="he-IL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7630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he-IL" altLang="he-IL" dirty="0" smtClean="0"/>
              <a:t>מערך של </a:t>
            </a:r>
            <a:r>
              <a:rPr lang="en-US" altLang="he-IL" dirty="0" smtClean="0"/>
              <a:t>Student</a:t>
            </a:r>
            <a:r>
              <a:rPr lang="he-IL" altLang="he-IL" dirty="0" smtClean="0"/>
              <a:t> בגודל </a:t>
            </a:r>
            <a:r>
              <a:rPr lang="he-IL" altLang="he-IL" b="1" dirty="0" smtClean="0"/>
              <a:t>שאינו</a:t>
            </a:r>
            <a:r>
              <a:rPr lang="he-IL" altLang="he-IL" dirty="0" smtClean="0"/>
              <a:t> ידוע בזמן </a:t>
            </a:r>
            <a:r>
              <a:rPr lang="he-IL" altLang="he-IL" dirty="0" smtClean="0"/>
              <a:t>קומפילציה:</a:t>
            </a:r>
            <a:endParaRPr lang="he-IL" altLang="he-IL" dirty="0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dirty="0" err="1" smtClean="0"/>
              <a:t>scanf</a:t>
            </a:r>
            <a:r>
              <a:rPr lang="en-US" altLang="he-IL" sz="2000" dirty="0" smtClean="0"/>
              <a:t>(“%d”, &amp;size)   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sz="2000" dirty="0" err="1" smtClean="0"/>
              <a:t>student_t</a:t>
            </a:r>
            <a:r>
              <a:rPr lang="en-US" altLang="he-IL" sz="2000" dirty="0" smtClean="0"/>
              <a:t>* </a:t>
            </a:r>
            <a:r>
              <a:rPr lang="en-US" altLang="he-IL" sz="2000" dirty="0" err="1" smtClean="0"/>
              <a:t>arr</a:t>
            </a:r>
            <a:r>
              <a:rPr lang="en-US" altLang="he-IL" sz="2000" dirty="0" smtClean="0"/>
              <a:t> = (</a:t>
            </a:r>
            <a:r>
              <a:rPr lang="en-US" altLang="he-IL" sz="2000" dirty="0" err="1" smtClean="0"/>
              <a:t>student_t</a:t>
            </a:r>
            <a:r>
              <a:rPr lang="en-US" altLang="he-IL" sz="2000" dirty="0" smtClean="0"/>
              <a:t>*)</a:t>
            </a:r>
            <a:r>
              <a:rPr lang="en-US" altLang="he-IL" sz="2000" dirty="0" err="1" smtClean="0"/>
              <a:t>malloc</a:t>
            </a:r>
            <a:r>
              <a:rPr lang="en-US" altLang="he-IL" sz="2000" dirty="0" smtClean="0"/>
              <a:t>(</a:t>
            </a:r>
            <a:r>
              <a:rPr lang="en-US" altLang="he-IL" sz="2000" dirty="0" err="1" smtClean="0"/>
              <a:t>sizeof</a:t>
            </a:r>
            <a:r>
              <a:rPr lang="en-US" altLang="he-IL" sz="2000" dirty="0" smtClean="0"/>
              <a:t>(</a:t>
            </a:r>
            <a:r>
              <a:rPr lang="en-US" altLang="he-IL" sz="2000" dirty="0" err="1" smtClean="0"/>
              <a:t>student_t</a:t>
            </a:r>
            <a:r>
              <a:rPr lang="en-US" altLang="he-IL" sz="2000" dirty="0" smtClean="0"/>
              <a:t>)*size);</a:t>
            </a:r>
            <a:endParaRPr lang="he-IL" altLang="he-IL" sz="2400" dirty="0" smtClean="0"/>
          </a:p>
          <a:p>
            <a:pPr algn="l" rtl="0">
              <a:lnSpc>
                <a:spcPct val="90000"/>
              </a:lnSpc>
              <a:buFont typeface="Wingdings" pitchFamily="2" charset="2"/>
              <a:buNone/>
            </a:pPr>
            <a:endParaRPr lang="en-US" altLang="he-IL" dirty="0" smtClean="0"/>
          </a:p>
          <a:p>
            <a:pPr lvl="1">
              <a:lnSpc>
                <a:spcPct val="90000"/>
              </a:lnSpc>
            </a:pPr>
            <a:r>
              <a:rPr lang="he-IL" altLang="he-IL" dirty="0" smtClean="0"/>
              <a:t>במקרה זה רק כתובת ההתחלה של המערך נמצאת על ה- </a:t>
            </a:r>
            <a:r>
              <a:rPr lang="en-US" altLang="he-IL" dirty="0" smtClean="0"/>
              <a:t>stack</a:t>
            </a:r>
            <a:r>
              <a:rPr lang="he-IL" altLang="he-IL" dirty="0" smtClean="0"/>
              <a:t>, בעוד המבנים עצמם נמצאים על ה- </a:t>
            </a:r>
            <a:r>
              <a:rPr lang="en-US" altLang="he-IL" dirty="0" smtClean="0"/>
              <a:t>heap</a:t>
            </a:r>
            <a:r>
              <a:rPr lang="he-IL" altLang="he-IL" dirty="0" smtClean="0"/>
              <a:t>:</a:t>
            </a:r>
            <a:endParaRPr lang="he-IL" altLang="he-IL" dirty="0" smtClean="0"/>
          </a:p>
          <a:p>
            <a:pPr lvl="1">
              <a:lnSpc>
                <a:spcPct val="90000"/>
              </a:lnSpc>
            </a:pPr>
            <a:endParaRPr lang="he-IL" altLang="he-IL" dirty="0" smtClean="0"/>
          </a:p>
          <a:p>
            <a:pPr lvl="1">
              <a:lnSpc>
                <a:spcPct val="90000"/>
              </a:lnSpc>
            </a:pPr>
            <a:endParaRPr lang="he-IL" altLang="he-IL" dirty="0" smtClean="0"/>
          </a:p>
          <a:p>
            <a:pPr lvl="1">
              <a:lnSpc>
                <a:spcPct val="90000"/>
              </a:lnSpc>
            </a:pPr>
            <a:endParaRPr lang="he-IL" altLang="he-IL" dirty="0" smtClean="0"/>
          </a:p>
          <a:p>
            <a:pPr lvl="1">
              <a:lnSpc>
                <a:spcPct val="90000"/>
              </a:lnSpc>
            </a:pPr>
            <a:endParaRPr lang="he-IL" altLang="he-IL" dirty="0" smtClean="0"/>
          </a:p>
          <a:p>
            <a:pPr>
              <a:lnSpc>
                <a:spcPct val="90000"/>
              </a:lnSpc>
            </a:pPr>
            <a:r>
              <a:rPr lang="he-IL" altLang="he-IL" dirty="0" smtClean="0"/>
              <a:t>גם מימוש זה בזבזני במידה ולא נשתמש בכל איברי </a:t>
            </a:r>
            <a:r>
              <a:rPr lang="he-IL" altLang="he-IL" dirty="0" smtClean="0"/>
              <a:t>המערך.</a:t>
            </a:r>
            <a:endParaRPr lang="he-IL" altLang="he-IL" dirty="0" smtClean="0"/>
          </a:p>
          <a:p>
            <a:pPr>
              <a:lnSpc>
                <a:spcPct val="90000"/>
              </a:lnSpc>
            </a:pPr>
            <a:r>
              <a:rPr lang="he-IL" altLang="he-IL" dirty="0" smtClean="0"/>
              <a:t>יעיל מבחינת ביצועים (יש רק הקצאה אחת</a:t>
            </a:r>
            <a:r>
              <a:rPr lang="he-IL" altLang="he-IL" dirty="0" smtClean="0"/>
              <a:t>).</a:t>
            </a:r>
            <a:endParaRPr lang="he-IL" altLang="he-IL" dirty="0" smtClean="0"/>
          </a:p>
          <a:p>
            <a:pPr>
              <a:lnSpc>
                <a:spcPct val="90000"/>
              </a:lnSpc>
            </a:pPr>
            <a:endParaRPr lang="he-IL" altLang="he-IL" dirty="0" smtClean="0"/>
          </a:p>
          <a:p>
            <a:pPr>
              <a:lnSpc>
                <a:spcPct val="90000"/>
              </a:lnSpc>
            </a:pPr>
            <a:endParaRPr lang="en-US" altLang="he-IL" dirty="0" smtClean="0"/>
          </a:p>
        </p:txBody>
      </p:sp>
      <p:sp>
        <p:nvSpPr>
          <p:cNvPr id="8196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52A6DE1C-AC0A-46F3-AE37-52089AC256FD}" type="slidenum">
              <a:rPr lang="he-IL" altLang="he-IL" sz="1000">
                <a:latin typeface="Verdana" pitchFamily="34" charset="0"/>
              </a:rPr>
              <a:pPr algn="r" rtl="1" eaLnBrk="1" hangingPunct="1"/>
              <a:t>6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  <p:sp>
        <p:nvSpPr>
          <p:cNvPr id="8197" name="Oval 72"/>
          <p:cNvSpPr>
            <a:spLocks noChangeArrowheads="1"/>
          </p:cNvSpPr>
          <p:nvPr/>
        </p:nvSpPr>
        <p:spPr bwMode="auto">
          <a:xfrm>
            <a:off x="4724400" y="3886200"/>
            <a:ext cx="4191000" cy="1676400"/>
          </a:xfrm>
          <a:prstGeom prst="ellipse">
            <a:avLst/>
          </a:prstGeom>
          <a:solidFill>
            <a:srgbClr val="00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he-IL" altLang="he-IL"/>
          </a:p>
        </p:txBody>
      </p:sp>
      <p:graphicFrame>
        <p:nvGraphicFramePr>
          <p:cNvPr id="6" name="Group 221"/>
          <p:cNvGraphicFramePr>
            <a:graphicFrameLocks noGrp="1"/>
          </p:cNvGraphicFramePr>
          <p:nvPr/>
        </p:nvGraphicFramePr>
        <p:xfrm>
          <a:off x="685800" y="4495800"/>
          <a:ext cx="3200400" cy="731838"/>
        </p:xfrm>
        <a:graphic>
          <a:graphicData uri="http://schemas.openxmlformats.org/drawingml/2006/table">
            <a:tbl>
              <a:tblPr/>
              <a:tblGrid>
                <a:gridCol w="1600200"/>
                <a:gridCol w="10668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student_t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2220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Group 298"/>
          <p:cNvGraphicFramePr>
            <a:graphicFrameLocks noGrp="1"/>
          </p:cNvGraphicFramePr>
          <p:nvPr/>
        </p:nvGraphicFramePr>
        <p:xfrm>
          <a:off x="5257800" y="3941763"/>
          <a:ext cx="3429000" cy="1468438"/>
        </p:xfrm>
        <a:graphic>
          <a:graphicData uri="http://schemas.openxmlformats.org/drawingml/2006/table">
            <a:tbl>
              <a:tblPr/>
              <a:tblGrid>
                <a:gridCol w="1933575"/>
                <a:gridCol w="879475"/>
                <a:gridCol w="615950"/>
              </a:tblGrid>
              <a:tr h="36829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student_t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“yoyo”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2220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          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2230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student_t: 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“gogo”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2236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          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2246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דרכים להגדרת מערך (3)</a:t>
            </a:r>
            <a:endParaRPr lang="en-US" altLang="he-IL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6868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he-IL" altLang="he-IL" dirty="0" smtClean="0"/>
              <a:t>מערך של מצביעים ל- </a:t>
            </a:r>
            <a:r>
              <a:rPr lang="en-US" altLang="he-IL" dirty="0" smtClean="0"/>
              <a:t>Student</a:t>
            </a:r>
            <a:r>
              <a:rPr lang="he-IL" altLang="he-IL" dirty="0" smtClean="0"/>
              <a:t> בגודל הידוע בזמן </a:t>
            </a:r>
            <a:r>
              <a:rPr lang="he-IL" altLang="he-IL" dirty="0" smtClean="0"/>
              <a:t>קומפילציה:</a:t>
            </a:r>
            <a:endParaRPr lang="he-IL" altLang="he-IL" dirty="0" smtClean="0"/>
          </a:p>
          <a:p>
            <a:pPr algn="l">
              <a:lnSpc>
                <a:spcPct val="90000"/>
              </a:lnSpc>
              <a:buFont typeface="Wingdings" pitchFamily="2" charset="2"/>
              <a:buNone/>
            </a:pPr>
            <a:r>
              <a:rPr lang="en-US" altLang="he-IL" dirty="0" smtClean="0"/>
              <a:t>  </a:t>
            </a:r>
            <a:r>
              <a:rPr lang="en-US" altLang="he-IL" dirty="0" err="1" smtClean="0"/>
              <a:t>student_t</a:t>
            </a:r>
            <a:r>
              <a:rPr lang="en-US" altLang="he-IL" dirty="0" smtClean="0"/>
              <a:t>* </a:t>
            </a:r>
            <a:r>
              <a:rPr lang="en-US" altLang="he-IL" dirty="0" err="1" smtClean="0"/>
              <a:t>arr</a:t>
            </a:r>
            <a:r>
              <a:rPr lang="en-US" altLang="he-IL" dirty="0" smtClean="0"/>
              <a:t>[3];</a:t>
            </a:r>
            <a:endParaRPr lang="he-IL" altLang="he-IL" dirty="0" smtClean="0"/>
          </a:p>
          <a:p>
            <a:pPr lvl="1">
              <a:lnSpc>
                <a:spcPct val="90000"/>
              </a:lnSpc>
            </a:pPr>
            <a:r>
              <a:rPr lang="he-IL" altLang="he-IL" dirty="0" smtClean="0"/>
              <a:t>במקרה זה יש מערך של 3 כתובות על ה- </a:t>
            </a:r>
            <a:r>
              <a:rPr lang="en-US" altLang="he-IL" dirty="0" smtClean="0"/>
              <a:t>stack</a:t>
            </a:r>
            <a:r>
              <a:rPr lang="he-IL" altLang="he-IL" dirty="0" smtClean="0"/>
              <a:t>, והמבנים עצמם יוקצו דינאמית על ה- </a:t>
            </a:r>
            <a:r>
              <a:rPr lang="en-US" altLang="he-IL" dirty="0" smtClean="0"/>
              <a:t>heap</a:t>
            </a:r>
            <a:r>
              <a:rPr lang="he-IL" altLang="he-IL" dirty="0" smtClean="0"/>
              <a:t> בעת הצורך, או יצביעו למבנים </a:t>
            </a:r>
            <a:r>
              <a:rPr lang="he-IL" altLang="he-IL" dirty="0" smtClean="0"/>
              <a:t>קיימים.</a:t>
            </a:r>
            <a:endParaRPr lang="he-IL" altLang="he-IL" dirty="0" smtClean="0"/>
          </a:p>
          <a:p>
            <a:pPr lvl="1">
              <a:lnSpc>
                <a:spcPct val="90000"/>
              </a:lnSpc>
            </a:pPr>
            <a:endParaRPr lang="he-IL" altLang="he-IL" dirty="0" smtClean="0"/>
          </a:p>
          <a:p>
            <a:pPr lvl="1">
              <a:lnSpc>
                <a:spcPct val="90000"/>
              </a:lnSpc>
            </a:pPr>
            <a:endParaRPr lang="he-IL" altLang="he-IL" dirty="0" smtClean="0"/>
          </a:p>
          <a:p>
            <a:pPr>
              <a:lnSpc>
                <a:spcPct val="90000"/>
              </a:lnSpc>
            </a:pPr>
            <a:endParaRPr lang="he-IL" altLang="he-IL" dirty="0" smtClean="0"/>
          </a:p>
          <a:p>
            <a:pPr>
              <a:lnSpc>
                <a:spcPct val="90000"/>
              </a:lnSpc>
            </a:pPr>
            <a:endParaRPr lang="he-IL" altLang="he-IL" dirty="0" smtClean="0"/>
          </a:p>
          <a:p>
            <a:pPr>
              <a:lnSpc>
                <a:spcPct val="90000"/>
              </a:lnSpc>
            </a:pPr>
            <a:r>
              <a:rPr lang="he-IL" altLang="he-IL" dirty="0" smtClean="0"/>
              <a:t>מימוש זה אופטימלי מבחינת מקום, כלומר נקצה מקום לנתוני המבנה רק בעת הצורך. פחות יעיל מבחינת ביצועים (כל אחד מהאיברים מוקצה דינאמית</a:t>
            </a:r>
            <a:r>
              <a:rPr lang="he-IL" altLang="he-IL" dirty="0" smtClean="0"/>
              <a:t>).</a:t>
            </a:r>
            <a:endParaRPr lang="he-IL" altLang="he-IL" dirty="0" smtClean="0"/>
          </a:p>
        </p:txBody>
      </p:sp>
      <p:sp>
        <p:nvSpPr>
          <p:cNvPr id="9220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F6EEC7C9-7058-4B7A-88F6-9FC359B97CCE}" type="slidenum">
              <a:rPr lang="he-IL" altLang="he-IL" sz="1000">
                <a:latin typeface="Verdana" pitchFamily="34" charset="0"/>
              </a:rPr>
              <a:pPr algn="r" rtl="1" eaLnBrk="1" hangingPunct="1"/>
              <a:t>7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  <p:sp>
        <p:nvSpPr>
          <p:cNvPr id="9221" name="Oval 72"/>
          <p:cNvSpPr>
            <a:spLocks noChangeArrowheads="1"/>
          </p:cNvSpPr>
          <p:nvPr/>
        </p:nvSpPr>
        <p:spPr bwMode="auto">
          <a:xfrm>
            <a:off x="4724400" y="3657600"/>
            <a:ext cx="4191000" cy="1828800"/>
          </a:xfrm>
          <a:prstGeom prst="ellipse">
            <a:avLst/>
          </a:prstGeom>
          <a:solidFill>
            <a:srgbClr val="00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he-IL" altLang="he-IL"/>
          </a:p>
        </p:txBody>
      </p:sp>
      <p:graphicFrame>
        <p:nvGraphicFramePr>
          <p:cNvPr id="6" name="Group 221"/>
          <p:cNvGraphicFramePr>
            <a:graphicFrameLocks noGrp="1"/>
          </p:cNvGraphicFramePr>
          <p:nvPr/>
        </p:nvGraphicFramePr>
        <p:xfrm>
          <a:off x="762000" y="4038600"/>
          <a:ext cx="3200400" cy="1097202"/>
        </p:xfrm>
        <a:graphic>
          <a:graphicData uri="http://schemas.openxmlformats.org/drawingml/2006/table">
            <a:tbl>
              <a:tblPr/>
              <a:tblGrid>
                <a:gridCol w="1600200"/>
                <a:gridCol w="1066800"/>
                <a:gridCol w="533400"/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student_t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*[]: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5400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NULL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Group 298"/>
          <p:cNvGraphicFramePr>
            <a:graphicFrameLocks noGrp="1"/>
          </p:cNvGraphicFramePr>
          <p:nvPr/>
        </p:nvGraphicFramePr>
        <p:xfrm>
          <a:off x="4953000" y="3810000"/>
          <a:ext cx="3429000" cy="735013"/>
        </p:xfrm>
        <a:graphic>
          <a:graphicData uri="http://schemas.openxmlformats.org/drawingml/2006/table">
            <a:tbl>
              <a:tblPr/>
              <a:tblGrid>
                <a:gridCol w="1933575"/>
                <a:gridCol w="879475"/>
                <a:gridCol w="615950"/>
              </a:tblGrid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student_t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“yoyo”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          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Group 298"/>
          <p:cNvGraphicFramePr>
            <a:graphicFrameLocks noGrp="1"/>
          </p:cNvGraphicFramePr>
          <p:nvPr/>
        </p:nvGraphicFramePr>
        <p:xfrm>
          <a:off x="4953000" y="4598988"/>
          <a:ext cx="3429000" cy="735012"/>
        </p:xfrm>
        <a:graphic>
          <a:graphicData uri="http://schemas.openxmlformats.org/drawingml/2006/table">
            <a:tbl>
              <a:tblPr/>
              <a:tblGrid>
                <a:gridCol w="1933575"/>
                <a:gridCol w="879475"/>
                <a:gridCol w="615950"/>
              </a:tblGrid>
              <a:tr h="36829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student_t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“</a:t>
                      </a:r>
                      <a:r>
                        <a:rPr kumimoji="0" lang="en-US" sz="13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gogo</a:t>
                      </a:r>
                      <a:r>
                        <a:rPr kumimoji="0" lang="en-US" sz="1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54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          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דרכים להגדרת מערך (4)</a:t>
            </a:r>
            <a:endParaRPr lang="en-US" altLang="he-IL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610600" cy="49530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he-IL" dirty="0" smtClean="0"/>
              <a:t>מערך של מצביעים ל- </a:t>
            </a:r>
            <a:r>
              <a:rPr lang="en-US" dirty="0" smtClean="0"/>
              <a:t>Student</a:t>
            </a:r>
            <a:r>
              <a:rPr lang="he-IL" dirty="0" smtClean="0"/>
              <a:t> בגודל </a:t>
            </a:r>
            <a:r>
              <a:rPr lang="he-IL" b="1" dirty="0" smtClean="0"/>
              <a:t>שאינו</a:t>
            </a:r>
            <a:r>
              <a:rPr lang="he-IL" dirty="0" smtClean="0"/>
              <a:t> ידוע בזמן </a:t>
            </a:r>
            <a:r>
              <a:rPr lang="he-IL" dirty="0" smtClean="0"/>
              <a:t>קומפילציה:</a:t>
            </a:r>
            <a:endParaRPr lang="he-IL" dirty="0" smtClean="0"/>
          </a:p>
          <a:p>
            <a:pPr marL="514350" indent="-514350" algn="l" rtl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 err="1" smtClean="0"/>
              <a:t>scanf</a:t>
            </a:r>
            <a:r>
              <a:rPr lang="en-US" sz="2000" dirty="0" smtClean="0"/>
              <a:t>(“%d”, &amp;size);</a:t>
            </a:r>
          </a:p>
          <a:p>
            <a:pPr marL="514350" indent="-514350" algn="l" rtl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 err="1" smtClean="0"/>
              <a:t>student_t</a:t>
            </a:r>
            <a:r>
              <a:rPr lang="en-US" sz="2000" dirty="0" smtClean="0"/>
              <a:t>** </a:t>
            </a:r>
            <a:r>
              <a:rPr lang="he-IL" sz="2000" dirty="0" smtClean="0"/>
              <a:t> </a:t>
            </a:r>
            <a:r>
              <a:rPr lang="en-US" sz="2000" dirty="0" err="1" smtClean="0"/>
              <a:t>arr</a:t>
            </a:r>
            <a:r>
              <a:rPr lang="en-US" sz="2000" dirty="0" smtClean="0"/>
              <a:t> = (</a:t>
            </a:r>
            <a:r>
              <a:rPr lang="en-US" sz="2000" dirty="0" err="1" smtClean="0"/>
              <a:t>student_t</a:t>
            </a:r>
            <a:r>
              <a:rPr lang="en-US" sz="2000" dirty="0" smtClean="0"/>
              <a:t>**)</a:t>
            </a:r>
            <a:r>
              <a:rPr lang="en-US" sz="2000" dirty="0" err="1" smtClean="0"/>
              <a:t>malloc</a:t>
            </a:r>
            <a:r>
              <a:rPr lang="en-US" sz="2000" dirty="0" smtClean="0"/>
              <a:t>(</a:t>
            </a:r>
            <a:r>
              <a:rPr lang="en-US" sz="2000" dirty="0" err="1" smtClean="0"/>
              <a:t>sizeof</a:t>
            </a:r>
            <a:r>
              <a:rPr lang="en-US" sz="2000" dirty="0" smtClean="0"/>
              <a:t>(</a:t>
            </a:r>
            <a:r>
              <a:rPr lang="en-US" sz="2000" dirty="0" err="1" smtClean="0"/>
              <a:t>student_t</a:t>
            </a:r>
            <a:r>
              <a:rPr lang="en-US" sz="2000" dirty="0" smtClean="0"/>
              <a:t>*)*size);</a:t>
            </a:r>
            <a:endParaRPr lang="he-IL" sz="2000" dirty="0" smtClean="0"/>
          </a:p>
          <a:p>
            <a:pPr lvl="1">
              <a:lnSpc>
                <a:spcPct val="90000"/>
              </a:lnSpc>
              <a:defRPr/>
            </a:pPr>
            <a:r>
              <a:rPr lang="he-IL" dirty="0" smtClean="0"/>
              <a:t>על ה- </a:t>
            </a:r>
            <a:r>
              <a:rPr lang="en-US" dirty="0" smtClean="0"/>
              <a:t>stack</a:t>
            </a:r>
            <a:r>
              <a:rPr lang="he-IL" dirty="0" smtClean="0"/>
              <a:t> תהיה רק כתובת ההתחלה של מערך </a:t>
            </a:r>
            <a:r>
              <a:rPr lang="he-IL" dirty="0" smtClean="0"/>
              <a:t>הכתובות.</a:t>
            </a:r>
            <a:endParaRPr lang="he-IL" dirty="0" smtClean="0"/>
          </a:p>
          <a:p>
            <a:pPr lvl="1">
              <a:lnSpc>
                <a:spcPct val="90000"/>
              </a:lnSpc>
              <a:defRPr/>
            </a:pPr>
            <a:r>
              <a:rPr lang="he-IL" dirty="0" smtClean="0"/>
              <a:t>מערך הכתובות יוקצה על ה- </a:t>
            </a:r>
            <a:r>
              <a:rPr lang="en-US" dirty="0" smtClean="0"/>
              <a:t>heap</a:t>
            </a:r>
            <a:r>
              <a:rPr lang="he-IL" dirty="0" smtClean="0"/>
              <a:t> שכן גודלו אינו ידוע בזמן </a:t>
            </a:r>
            <a:r>
              <a:rPr lang="he-IL" dirty="0" smtClean="0"/>
              <a:t>קומפילציה.</a:t>
            </a:r>
            <a:endParaRPr lang="he-IL" dirty="0" smtClean="0"/>
          </a:p>
        </p:txBody>
      </p:sp>
      <p:sp>
        <p:nvSpPr>
          <p:cNvPr id="1024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545B03B7-048D-4764-8CF4-201F8B65266D}" type="slidenum">
              <a:rPr lang="he-IL" altLang="he-IL" sz="1000">
                <a:latin typeface="Verdana" pitchFamily="34" charset="0"/>
              </a:rPr>
              <a:pPr algn="r" rtl="1" eaLnBrk="1" hangingPunct="1"/>
              <a:t>8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  <p:sp>
        <p:nvSpPr>
          <p:cNvPr id="10245" name="Oval 72"/>
          <p:cNvSpPr>
            <a:spLocks noChangeArrowheads="1"/>
          </p:cNvSpPr>
          <p:nvPr/>
        </p:nvSpPr>
        <p:spPr bwMode="auto">
          <a:xfrm>
            <a:off x="533400" y="3886200"/>
            <a:ext cx="4191000" cy="2895600"/>
          </a:xfrm>
          <a:prstGeom prst="ellipse">
            <a:avLst/>
          </a:prstGeom>
          <a:solidFill>
            <a:srgbClr val="00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he-IL" altLang="he-IL"/>
          </a:p>
        </p:txBody>
      </p:sp>
      <p:graphicFrame>
        <p:nvGraphicFramePr>
          <p:cNvPr id="6" name="Group 221"/>
          <p:cNvGraphicFramePr>
            <a:graphicFrameLocks noGrp="1"/>
          </p:cNvGraphicFramePr>
          <p:nvPr/>
        </p:nvGraphicFramePr>
        <p:xfrm>
          <a:off x="5486400" y="4572000"/>
          <a:ext cx="3200400" cy="731838"/>
        </p:xfrm>
        <a:graphic>
          <a:graphicData uri="http://schemas.openxmlformats.org/drawingml/2006/table">
            <a:tbl>
              <a:tblPr/>
              <a:tblGrid>
                <a:gridCol w="1600200"/>
                <a:gridCol w="10668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Student**: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Group 298"/>
          <p:cNvGraphicFramePr>
            <a:graphicFrameLocks noGrp="1"/>
          </p:cNvGraphicFramePr>
          <p:nvPr/>
        </p:nvGraphicFramePr>
        <p:xfrm>
          <a:off x="838200" y="4038600"/>
          <a:ext cx="3429000" cy="735013"/>
        </p:xfrm>
        <a:graphic>
          <a:graphicData uri="http://schemas.openxmlformats.org/drawingml/2006/table">
            <a:tbl>
              <a:tblPr/>
              <a:tblGrid>
                <a:gridCol w="1933575"/>
                <a:gridCol w="879475"/>
                <a:gridCol w="615950"/>
              </a:tblGrid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Student: 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“yoyo”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          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Group 298"/>
          <p:cNvGraphicFramePr>
            <a:graphicFrameLocks noGrp="1"/>
          </p:cNvGraphicFramePr>
          <p:nvPr/>
        </p:nvGraphicFramePr>
        <p:xfrm>
          <a:off x="838200" y="4903788"/>
          <a:ext cx="3429000" cy="735012"/>
        </p:xfrm>
        <a:graphic>
          <a:graphicData uri="http://schemas.openxmlformats.org/drawingml/2006/table">
            <a:tbl>
              <a:tblPr/>
              <a:tblGrid>
                <a:gridCol w="1933575"/>
                <a:gridCol w="879475"/>
                <a:gridCol w="615950"/>
              </a:tblGrid>
              <a:tr h="36829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Student: 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“</a:t>
                      </a:r>
                      <a:r>
                        <a:rPr kumimoji="0" lang="en-US" sz="13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gogo</a:t>
                      </a:r>
                      <a:r>
                        <a:rPr kumimoji="0" lang="en-US" sz="1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54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          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Group 298"/>
          <p:cNvGraphicFramePr>
            <a:graphicFrameLocks noGrp="1"/>
          </p:cNvGraphicFramePr>
          <p:nvPr/>
        </p:nvGraphicFramePr>
        <p:xfrm>
          <a:off x="381000" y="5818188"/>
          <a:ext cx="3886200" cy="735012"/>
        </p:xfrm>
        <a:graphic>
          <a:graphicData uri="http://schemas.openxmlformats.org/drawingml/2006/table">
            <a:tbl>
              <a:tblPr/>
              <a:tblGrid>
                <a:gridCol w="2425959"/>
                <a:gridCol w="850641"/>
                <a:gridCol w="609600"/>
              </a:tblGrid>
              <a:tr h="36829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Student*[]: students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+mn-ea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44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Group 221"/>
          <p:cNvGraphicFramePr>
            <a:graphicFrameLocks noGrp="1"/>
          </p:cNvGraphicFramePr>
          <p:nvPr/>
        </p:nvGraphicFramePr>
        <p:xfrm>
          <a:off x="5486400" y="4572000"/>
          <a:ext cx="3200400" cy="731838"/>
        </p:xfrm>
        <a:graphic>
          <a:graphicData uri="http://schemas.openxmlformats.org/drawingml/2006/table">
            <a:tbl>
              <a:tblPr/>
              <a:tblGrid>
                <a:gridCol w="1600200"/>
                <a:gridCol w="1066800"/>
                <a:gridCol w="533400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Student**: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4400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size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Group 298"/>
          <p:cNvGraphicFramePr>
            <a:graphicFrameLocks noGrp="1"/>
          </p:cNvGraphicFramePr>
          <p:nvPr/>
        </p:nvGraphicFramePr>
        <p:xfrm>
          <a:off x="381000" y="5818188"/>
          <a:ext cx="3886200" cy="735012"/>
        </p:xfrm>
        <a:graphic>
          <a:graphicData uri="http://schemas.openxmlformats.org/drawingml/2006/table">
            <a:tbl>
              <a:tblPr/>
              <a:tblGrid>
                <a:gridCol w="2425959"/>
                <a:gridCol w="850641"/>
                <a:gridCol w="609600"/>
              </a:tblGrid>
              <a:tr h="36829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Student*[]: students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+mn-ea"/>
                          <a:cs typeface="Arial" pitchFamily="34" charset="0"/>
                        </a:rPr>
                        <a:t>2200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44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5400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z="4000" smtClean="0"/>
              <a:t>מערך מבנים בתוך מבנה</a:t>
            </a:r>
            <a:endParaRPr lang="en-US" altLang="he-IL" sz="4000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600200"/>
            <a:ext cx="8305800" cy="4530725"/>
          </a:xfrm>
        </p:spPr>
        <p:txBody>
          <a:bodyPr/>
          <a:lstStyle/>
          <a:p>
            <a:r>
              <a:rPr lang="he-IL" altLang="he-IL" dirty="0" smtClean="0"/>
              <a:t>בדוגמא הבאה יש לנו את המבנה "כיתה" שמכיל מערך של </a:t>
            </a:r>
            <a:r>
              <a:rPr lang="en-US" altLang="he-IL" dirty="0" smtClean="0"/>
              <a:t>MAX_STUDNETS</a:t>
            </a:r>
            <a:r>
              <a:rPr lang="he-IL" altLang="he-IL" dirty="0" smtClean="0"/>
              <a:t> </a:t>
            </a:r>
            <a:r>
              <a:rPr lang="he-IL" altLang="he-IL" dirty="0" smtClean="0"/>
              <a:t>סטודנטים.</a:t>
            </a:r>
            <a:endParaRPr lang="he-IL" altLang="he-IL" dirty="0" smtClean="0"/>
          </a:p>
          <a:p>
            <a:r>
              <a:rPr lang="he-IL" altLang="he-IL" dirty="0" smtClean="0"/>
              <a:t>בכל איבר במערך יהיו נתונים של </a:t>
            </a:r>
            <a:r>
              <a:rPr lang="he-IL" altLang="he-IL" dirty="0" smtClean="0"/>
              <a:t>סטודנט. </a:t>
            </a:r>
            <a:endParaRPr lang="en-US" altLang="he-IL" dirty="0" smtClean="0"/>
          </a:p>
          <a:p>
            <a:pPr marL="342900" lvl="1" indent="-342900">
              <a:buClr>
                <a:schemeClr val="bg2"/>
              </a:buClr>
              <a:buFont typeface="Wingdings" pitchFamily="2" charset="2"/>
              <a:buChar char="p"/>
            </a:pPr>
            <a:r>
              <a:rPr lang="he-IL" altLang="he-IL" sz="2800" dirty="0" smtClean="0"/>
              <a:t>כלומר, גודל המערך קבוע - כמות הסטודנטים המקסימלית בכל כיתה </a:t>
            </a:r>
            <a:r>
              <a:rPr lang="he-IL" altLang="he-IL" sz="2800" dirty="0" smtClean="0"/>
              <a:t>זהה.</a:t>
            </a:r>
            <a:endParaRPr lang="he-IL" altLang="he-IL" sz="2800" dirty="0" smtClean="0"/>
          </a:p>
          <a:p>
            <a:endParaRPr lang="en-US" altLang="he-IL" dirty="0" smtClean="0"/>
          </a:p>
        </p:txBody>
      </p:sp>
      <p:graphicFrame>
        <p:nvGraphicFramePr>
          <p:cNvPr id="192529" name="Group 17"/>
          <p:cNvGraphicFramePr>
            <a:graphicFrameLocks noGrp="1"/>
          </p:cNvGraphicFramePr>
          <p:nvPr>
            <p:ph sz="half" idx="2"/>
          </p:nvPr>
        </p:nvGraphicFramePr>
        <p:xfrm>
          <a:off x="2514600" y="4475163"/>
          <a:ext cx="4038600" cy="873125"/>
        </p:xfrm>
        <a:graphic>
          <a:graphicData uri="http://schemas.openxmlformats.org/drawingml/2006/table">
            <a:tbl>
              <a:tblPr/>
              <a:tblGrid>
                <a:gridCol w="1009650"/>
                <a:gridCol w="1009650"/>
                <a:gridCol w="1009650"/>
                <a:gridCol w="1009650"/>
              </a:tblGrid>
              <a:tr h="873125">
                <a:tc>
                  <a:txBody>
                    <a:bodyPr/>
                    <a:lstStyle/>
                    <a:p>
                      <a:pPr marL="0" marR="0" lvl="0" indent="0" algn="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he-IL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he-IL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he-IL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he-IL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80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BCD4D044-A9E2-4C00-A9B8-6BD3452C669A}" type="slidenum">
              <a:rPr lang="he-IL" altLang="he-IL" sz="1000">
                <a:latin typeface="Verdana" pitchFamily="34" charset="0"/>
              </a:rPr>
              <a:pPr algn="r" rtl="1" eaLnBrk="1" hangingPunct="1"/>
              <a:t>9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  <p:pic>
        <p:nvPicPr>
          <p:cNvPr id="11281" name="Picture 21" descr="C:\Documents and Settings\keren\Local Settings\Temporary Internet Files\Content.IE5\29ZK0QFU\MC900215228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563" y="4114800"/>
            <a:ext cx="909637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2" name="Picture 21" descr="C:\Documents and Settings\keren\Local Settings\Temporary Internet Files\Content.IE5\29ZK0QFU\MC900215228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363" y="4114800"/>
            <a:ext cx="909637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3" name="Picture 21" descr="C:\Documents and Settings\keren\Local Settings\Temporary Internet Files\Content.IE5\29ZK0QFU\MC900215228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963" y="4114800"/>
            <a:ext cx="909637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4" name="Picture 21" descr="C:\Documents and Settings\keren\Local Settings\Temporary Internet Files\Content.IE5\29ZK0QFU\MC900215228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3" y="4114800"/>
            <a:ext cx="909637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6"/>
          <p:cNvSpPr>
            <a:spLocks noChangeArrowheads="1"/>
          </p:cNvSpPr>
          <p:nvPr/>
        </p:nvSpPr>
        <p:spPr bwMode="auto">
          <a:xfrm>
            <a:off x="381000" y="1295400"/>
            <a:ext cx="8458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>
              <a:latin typeface="Verdana" pitchFamily="34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-304800" y="460375"/>
            <a:ext cx="4267200" cy="1139825"/>
          </a:xfrm>
        </p:spPr>
        <p:txBody>
          <a:bodyPr/>
          <a:lstStyle/>
          <a:p>
            <a:pPr algn="r"/>
            <a:r>
              <a:rPr lang="he-IL" altLang="he-IL" sz="4000" smtClean="0"/>
              <a:t>דוגמא – </a:t>
            </a:r>
            <a:r>
              <a:rPr lang="en-US" altLang="he-IL" sz="4000" smtClean="0"/>
              <a:t/>
            </a:r>
            <a:br>
              <a:rPr lang="en-US" altLang="he-IL" sz="4000" smtClean="0"/>
            </a:br>
            <a:r>
              <a:rPr lang="he-IL" altLang="he-IL" sz="4000" smtClean="0"/>
              <a:t>כיתה עם סטודנטים</a:t>
            </a:r>
            <a:br>
              <a:rPr lang="he-IL" altLang="he-IL" sz="4000" smtClean="0"/>
            </a:br>
            <a:endParaRPr lang="en-US" altLang="he-IL" sz="2800" smtClean="0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60475"/>
            <a:ext cx="4419600" cy="3311525"/>
          </a:xfrm>
        </p:spPr>
        <p:txBody>
          <a:bodyPr/>
          <a:lstStyle/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#include &lt;stdio.h&gt;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#include &lt;stdlib.h&gt;</a:t>
            </a:r>
            <a:endParaRPr lang="en-US" altLang="he-IL" sz="12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#define MAX_STUDENTS 10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struct Student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char name[10];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int id;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} typedef student_t;</a:t>
            </a:r>
            <a:endParaRPr lang="en-US" altLang="he-IL" sz="12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struct Class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char </a:t>
            </a:r>
            <a:r>
              <a:rPr lang="he-IL" altLang="he-IL" sz="1200" noProof="1" smtClean="0"/>
              <a:t> </a:t>
            </a:r>
            <a:r>
              <a:rPr lang="en-US" altLang="he-IL" sz="1200" noProof="1" smtClean="0"/>
              <a:t>teacherName[10];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int    registeredStudents;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</a:t>
            </a:r>
            <a:r>
              <a:rPr lang="en-US" altLang="he-IL" sz="1200" b="1" noProof="1" smtClean="0"/>
              <a:t>student_t  students[MAX_STUDENTS];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}typedef class_t;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4038600" y="-152400"/>
            <a:ext cx="822960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endParaRPr lang="en-US" sz="1200" dirty="0">
              <a:latin typeface="Verdana" pitchFamily="34" charset="0"/>
              <a:cs typeface="Arial" charset="0"/>
            </a:endParaRPr>
          </a:p>
          <a:p>
            <a:pPr>
              <a:defRPr/>
            </a:pPr>
            <a:r>
              <a:rPr lang="en-US" sz="1200" noProof="1">
                <a:latin typeface="+mn-lt"/>
                <a:cs typeface="Arial" charset="0"/>
              </a:rPr>
              <a:t>void printClass(class_t c)</a:t>
            </a:r>
          </a:p>
          <a:p>
            <a:pPr>
              <a:defRPr/>
            </a:pPr>
            <a:r>
              <a:rPr lang="en-US" sz="1200" noProof="1">
                <a:latin typeface="+mn-lt"/>
                <a:cs typeface="Arial" charset="0"/>
              </a:rPr>
              <a:t>{</a:t>
            </a:r>
          </a:p>
          <a:p>
            <a:pPr>
              <a:defRPr/>
            </a:pPr>
            <a:r>
              <a:rPr lang="en-US" sz="1200" noProof="1">
                <a:latin typeface="+mn-lt"/>
                <a:cs typeface="Arial" charset="0"/>
              </a:rPr>
              <a:t>      int i;</a:t>
            </a:r>
          </a:p>
          <a:p>
            <a:pPr>
              <a:defRPr/>
            </a:pPr>
            <a:r>
              <a:rPr lang="en-US" sz="1200" noProof="1">
                <a:latin typeface="+mn-lt"/>
                <a:cs typeface="Arial" charset="0"/>
              </a:rPr>
              <a:t>      printf("The teacher is %s and the %d students are:\n", </a:t>
            </a:r>
            <a:endParaRPr lang="en-US" sz="1200" dirty="0">
              <a:latin typeface="+mn-lt"/>
              <a:cs typeface="Arial" charset="0"/>
            </a:endParaRP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	</a:t>
            </a:r>
            <a:r>
              <a:rPr lang="en-US" sz="1200" noProof="1">
                <a:latin typeface="+mn-lt"/>
                <a:cs typeface="Arial" charset="0"/>
              </a:rPr>
              <a:t>c.teacherName,  c. registeredStudents);</a:t>
            </a:r>
          </a:p>
          <a:p>
            <a:pPr>
              <a:defRPr/>
            </a:pPr>
            <a:r>
              <a:rPr lang="en-US" sz="1200" noProof="1">
                <a:latin typeface="+mn-lt"/>
                <a:cs typeface="Arial" charset="0"/>
              </a:rPr>
              <a:t>      for (i=0 ; i &lt; c. registeredStudents ; i++)</a:t>
            </a:r>
          </a:p>
          <a:p>
            <a:pPr>
              <a:defRPr/>
            </a:pPr>
            <a:r>
              <a:rPr lang="en-US" sz="1200" noProof="1">
                <a:latin typeface="+mn-lt"/>
                <a:cs typeface="Arial" charset="0"/>
              </a:rPr>
              <a:t>             printf("  %d- Name: %s\tId: %d\n",</a:t>
            </a:r>
            <a:endParaRPr lang="en-US" sz="1200" dirty="0">
              <a:latin typeface="+mn-lt"/>
              <a:cs typeface="Arial" charset="0"/>
            </a:endParaRP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  	  </a:t>
            </a:r>
            <a:r>
              <a:rPr lang="en-US" sz="1200" noProof="1">
                <a:latin typeface="+mn-lt"/>
                <a:cs typeface="Arial" charset="0"/>
              </a:rPr>
              <a:t> i+1, c.students[i].name, </a:t>
            </a:r>
            <a:r>
              <a:rPr lang="en-US" sz="1200" dirty="0">
                <a:latin typeface="+mn-lt"/>
                <a:cs typeface="Arial" charset="0"/>
              </a:rPr>
              <a:t> </a:t>
            </a:r>
            <a:r>
              <a:rPr lang="en-US" sz="1200" noProof="1">
                <a:latin typeface="+mn-lt"/>
                <a:cs typeface="Arial" charset="0"/>
              </a:rPr>
              <a:t>c.students[i].id);</a:t>
            </a:r>
          </a:p>
          <a:p>
            <a:pPr>
              <a:defRPr/>
            </a:pPr>
            <a:r>
              <a:rPr lang="en-US" sz="1200" noProof="1">
                <a:latin typeface="+mn-lt"/>
                <a:cs typeface="Arial" charset="0"/>
              </a:rPr>
              <a:t>}</a:t>
            </a:r>
          </a:p>
          <a:p>
            <a:pPr>
              <a:defRPr/>
            </a:pPr>
            <a:endParaRPr lang="en-US" sz="1200" dirty="0">
              <a:latin typeface="+mn-lt"/>
              <a:cs typeface="Arial" charset="0"/>
            </a:endParaRP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void main()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{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     </a:t>
            </a:r>
            <a:r>
              <a:rPr lang="en-US" sz="1200" dirty="0" err="1">
                <a:latin typeface="+mn-lt"/>
                <a:cs typeface="Arial" charset="0"/>
              </a:rPr>
              <a:t>class_t</a:t>
            </a:r>
            <a:r>
              <a:rPr lang="en-US" sz="1200" dirty="0">
                <a:latin typeface="+mn-lt"/>
                <a:cs typeface="Arial" charset="0"/>
              </a:rPr>
              <a:t>   c = </a:t>
            </a:r>
            <a:r>
              <a:rPr lang="en-US" sz="1200" dirty="0" smtClean="0">
                <a:latin typeface="+mn-lt"/>
                <a:cs typeface="Arial" charset="0"/>
              </a:rPr>
              <a:t>{"</a:t>
            </a:r>
            <a:r>
              <a:rPr lang="en-US" sz="1200" dirty="0" err="1" smtClean="0">
                <a:latin typeface="+mn-lt"/>
                <a:cs typeface="Arial" charset="0"/>
              </a:rPr>
              <a:t>sagie</a:t>
            </a:r>
            <a:r>
              <a:rPr lang="en-US" sz="1200" dirty="0" smtClean="0">
                <a:latin typeface="+mn-lt"/>
                <a:cs typeface="Arial" charset="0"/>
              </a:rPr>
              <a:t>", </a:t>
            </a:r>
            <a:r>
              <a:rPr lang="en-US" sz="1200" dirty="0">
                <a:latin typeface="+mn-lt"/>
                <a:cs typeface="Arial" charset="0"/>
              </a:rPr>
              <a:t>0};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     char      answer;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     </a:t>
            </a:r>
            <a:r>
              <a:rPr lang="en-US" sz="1200" dirty="0" err="1">
                <a:latin typeface="+mn-lt"/>
                <a:cs typeface="Arial" charset="0"/>
              </a:rPr>
              <a:t>int</a:t>
            </a:r>
            <a:r>
              <a:rPr lang="en-US" sz="1200" dirty="0">
                <a:latin typeface="+mn-lt"/>
                <a:cs typeface="Arial" charset="0"/>
              </a:rPr>
              <a:t>         </a:t>
            </a:r>
            <a:r>
              <a:rPr lang="en-US" sz="1200" dirty="0" err="1">
                <a:latin typeface="+mn-lt"/>
                <a:cs typeface="Arial" charset="0"/>
              </a:rPr>
              <a:t>fContinue</a:t>
            </a:r>
            <a:r>
              <a:rPr lang="en-US" sz="1200" dirty="0">
                <a:latin typeface="+mn-lt"/>
                <a:cs typeface="Arial" charset="0"/>
              </a:rPr>
              <a:t> = 1;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	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      </a:t>
            </a:r>
            <a:r>
              <a:rPr lang="en-US" sz="1200" dirty="0" err="1">
                <a:latin typeface="+mn-lt"/>
                <a:cs typeface="Arial" charset="0"/>
              </a:rPr>
              <a:t>printf</a:t>
            </a:r>
            <a:r>
              <a:rPr lang="en-US" sz="1200" dirty="0">
                <a:latin typeface="+mn-lt"/>
                <a:cs typeface="Arial" charset="0"/>
              </a:rPr>
              <a:t>("Enter name and id for each student:\n");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      do 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      {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             </a:t>
            </a:r>
            <a:r>
              <a:rPr lang="en-US" sz="1200" dirty="0" err="1">
                <a:latin typeface="+mn-lt"/>
                <a:cs typeface="Arial" charset="0"/>
              </a:rPr>
              <a:t>printf</a:t>
            </a:r>
            <a:r>
              <a:rPr lang="en-US" sz="1200" dirty="0">
                <a:latin typeface="+mn-lt"/>
                <a:cs typeface="Arial" charset="0"/>
              </a:rPr>
              <a:t>("Enter another student? ");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             </a:t>
            </a:r>
            <a:r>
              <a:rPr lang="en-US" sz="1200" dirty="0" err="1">
                <a:latin typeface="+mn-lt"/>
                <a:cs typeface="Arial" charset="0"/>
              </a:rPr>
              <a:t>flushall</a:t>
            </a:r>
            <a:r>
              <a:rPr lang="en-US" sz="1200" dirty="0">
                <a:latin typeface="+mn-lt"/>
                <a:cs typeface="Arial" charset="0"/>
              </a:rPr>
              <a:t>();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             </a:t>
            </a:r>
            <a:r>
              <a:rPr lang="en-US" sz="1200" dirty="0" err="1">
                <a:latin typeface="+mn-lt"/>
                <a:cs typeface="Arial" charset="0"/>
              </a:rPr>
              <a:t>scanf</a:t>
            </a:r>
            <a:r>
              <a:rPr lang="en-US" sz="1200" dirty="0">
                <a:latin typeface="+mn-lt"/>
                <a:cs typeface="Arial" charset="0"/>
              </a:rPr>
              <a:t>("%c", &amp;answer);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             if (answer == 'n' || answer == 'N')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	   </a:t>
            </a:r>
            <a:r>
              <a:rPr lang="en-US" sz="1200" dirty="0" err="1">
                <a:latin typeface="+mn-lt"/>
                <a:cs typeface="Arial" charset="0"/>
              </a:rPr>
              <a:t>fContinue</a:t>
            </a:r>
            <a:r>
              <a:rPr lang="en-US" sz="1200" dirty="0">
                <a:latin typeface="+mn-lt"/>
                <a:cs typeface="Arial" charset="0"/>
              </a:rPr>
              <a:t> = 0;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             else 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             {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	   </a:t>
            </a:r>
            <a:r>
              <a:rPr lang="en-US" sz="1200" dirty="0" err="1">
                <a:latin typeface="+mn-lt"/>
                <a:cs typeface="Arial" charset="0"/>
              </a:rPr>
              <a:t>printf</a:t>
            </a:r>
            <a:r>
              <a:rPr lang="en-US" sz="1200" dirty="0">
                <a:latin typeface="+mn-lt"/>
                <a:cs typeface="Arial" charset="0"/>
              </a:rPr>
              <a:t>("Student #%d: ", c.registeredStudents+1);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	   </a:t>
            </a:r>
            <a:r>
              <a:rPr lang="en-US" sz="1200" dirty="0" err="1">
                <a:latin typeface="+mn-lt"/>
                <a:cs typeface="Arial" charset="0"/>
              </a:rPr>
              <a:t>scanf</a:t>
            </a:r>
            <a:r>
              <a:rPr lang="en-US" sz="1200" dirty="0">
                <a:latin typeface="+mn-lt"/>
                <a:cs typeface="Arial" charset="0"/>
              </a:rPr>
              <a:t>("%s %d", 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                            </a:t>
            </a:r>
            <a:r>
              <a:rPr lang="en-US" sz="1200" dirty="0" err="1">
                <a:latin typeface="+mn-lt"/>
                <a:cs typeface="Arial" charset="0"/>
              </a:rPr>
              <a:t>c.students</a:t>
            </a:r>
            <a:r>
              <a:rPr lang="en-US" sz="1200" dirty="0">
                <a:latin typeface="+mn-lt"/>
                <a:cs typeface="Arial" charset="0"/>
              </a:rPr>
              <a:t>[</a:t>
            </a:r>
            <a:r>
              <a:rPr lang="en-US" sz="1200" dirty="0" err="1">
                <a:latin typeface="+mn-lt"/>
                <a:cs typeface="Arial" charset="0"/>
              </a:rPr>
              <a:t>c.registeredStudents</a:t>
            </a:r>
            <a:r>
              <a:rPr lang="en-US" sz="1200" dirty="0">
                <a:latin typeface="+mn-lt"/>
                <a:cs typeface="Arial" charset="0"/>
              </a:rPr>
              <a:t>].name, 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                            &amp;</a:t>
            </a:r>
            <a:r>
              <a:rPr lang="en-US" sz="1200" dirty="0" err="1">
                <a:latin typeface="+mn-lt"/>
                <a:cs typeface="Arial" charset="0"/>
              </a:rPr>
              <a:t>c.students</a:t>
            </a:r>
            <a:r>
              <a:rPr lang="en-US" sz="1200" dirty="0">
                <a:latin typeface="+mn-lt"/>
                <a:cs typeface="Arial" charset="0"/>
              </a:rPr>
              <a:t>[</a:t>
            </a:r>
            <a:r>
              <a:rPr lang="en-US" sz="1200" dirty="0" err="1">
                <a:latin typeface="+mn-lt"/>
                <a:cs typeface="Arial" charset="0"/>
              </a:rPr>
              <a:t>c.registeredStudents</a:t>
            </a:r>
            <a:r>
              <a:rPr lang="en-US" sz="1200" dirty="0">
                <a:latin typeface="+mn-lt"/>
                <a:cs typeface="Arial" charset="0"/>
              </a:rPr>
              <a:t>].id);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   	   </a:t>
            </a:r>
            <a:r>
              <a:rPr lang="en-US" sz="1200" dirty="0" err="1">
                <a:latin typeface="+mn-lt"/>
                <a:cs typeface="Arial" charset="0"/>
              </a:rPr>
              <a:t>c.registeredStudents</a:t>
            </a:r>
            <a:r>
              <a:rPr lang="en-US" sz="1200" dirty="0">
                <a:latin typeface="+mn-lt"/>
                <a:cs typeface="Arial" charset="0"/>
              </a:rPr>
              <a:t>++;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              }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        } while (</a:t>
            </a:r>
            <a:r>
              <a:rPr lang="en-US" sz="1200" dirty="0" err="1">
                <a:latin typeface="+mn-lt"/>
                <a:cs typeface="Arial" charset="0"/>
              </a:rPr>
              <a:t>fContinue</a:t>
            </a:r>
            <a:r>
              <a:rPr lang="en-US" sz="1200" dirty="0">
                <a:latin typeface="+mn-lt"/>
                <a:cs typeface="Arial" charset="0"/>
              </a:rPr>
              <a:t> &amp;&amp; 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                    </a:t>
            </a:r>
            <a:r>
              <a:rPr lang="en-US" sz="1200" dirty="0" err="1">
                <a:latin typeface="+mn-lt"/>
                <a:cs typeface="Arial" charset="0"/>
              </a:rPr>
              <a:t>c.registeredStudents</a:t>
            </a:r>
            <a:r>
              <a:rPr lang="en-US" sz="1200" dirty="0">
                <a:latin typeface="+mn-lt"/>
                <a:cs typeface="Arial" charset="0"/>
              </a:rPr>
              <a:t> &lt; MAX_STUDENTS);</a:t>
            </a:r>
          </a:p>
          <a:p>
            <a:pPr>
              <a:defRPr/>
            </a:pPr>
            <a:endParaRPr lang="en-US" sz="1200" dirty="0">
              <a:latin typeface="+mn-lt"/>
              <a:cs typeface="Arial" charset="0"/>
            </a:endParaRP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        </a:t>
            </a:r>
            <a:r>
              <a:rPr lang="en-US" sz="1200" dirty="0" err="1">
                <a:latin typeface="+mn-lt"/>
                <a:cs typeface="Arial" charset="0"/>
              </a:rPr>
              <a:t>printClass</a:t>
            </a:r>
            <a:r>
              <a:rPr lang="en-US" sz="1200" dirty="0">
                <a:latin typeface="+mn-lt"/>
                <a:cs typeface="Arial" charset="0"/>
              </a:rPr>
              <a:t>(c);</a:t>
            </a:r>
          </a:p>
          <a:p>
            <a:pPr>
              <a:defRPr/>
            </a:pPr>
            <a:r>
              <a:rPr lang="en-US" sz="1200" dirty="0">
                <a:latin typeface="+mn-lt"/>
                <a:cs typeface="Arial" charset="0"/>
              </a:rPr>
              <a:t>}  </a:t>
            </a:r>
            <a:r>
              <a:rPr lang="en-US" sz="1200" b="1" dirty="0">
                <a:solidFill>
                  <a:srgbClr val="009900"/>
                </a:solidFill>
                <a:latin typeface="+mn-lt"/>
                <a:cs typeface="Arial" charset="0"/>
              </a:rPr>
              <a:t>// main</a:t>
            </a:r>
          </a:p>
          <a:p>
            <a:pPr>
              <a:lnSpc>
                <a:spcPct val="80000"/>
              </a:lnSpc>
              <a:defRPr/>
            </a:pPr>
            <a:endParaRPr lang="he-IL" sz="1200" dirty="0">
              <a:latin typeface="+mn-lt"/>
              <a:cs typeface="Arial" charset="0"/>
            </a:endParaRPr>
          </a:p>
          <a:p>
            <a:pPr>
              <a:lnSpc>
                <a:spcPct val="80000"/>
              </a:lnSpc>
              <a:defRPr/>
            </a:pPr>
            <a:endParaRPr lang="he-IL" sz="1200" dirty="0">
              <a:latin typeface="+mn-lt"/>
              <a:cs typeface="Arial" charset="0"/>
            </a:endParaRPr>
          </a:p>
          <a:p>
            <a:pPr>
              <a:lnSpc>
                <a:spcPct val="80000"/>
              </a:lnSpc>
              <a:defRPr/>
            </a:pPr>
            <a:endParaRPr lang="en-US" sz="1200" dirty="0">
              <a:latin typeface="+mn-lt"/>
              <a:cs typeface="Arial" charset="0"/>
            </a:endParaRPr>
          </a:p>
          <a:p>
            <a:pPr>
              <a:lnSpc>
                <a:spcPct val="80000"/>
              </a:lnSpc>
              <a:defRPr/>
            </a:pPr>
            <a:endParaRPr lang="en-US" sz="1200" noProof="1">
              <a:latin typeface="Arial" charset="0"/>
              <a:cs typeface="Arial" charset="0"/>
            </a:endParaRPr>
          </a:p>
        </p:txBody>
      </p:sp>
      <p:sp>
        <p:nvSpPr>
          <p:cNvPr id="1229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766A30A8-CBC7-4099-9CC3-C7BD3B1E99F6}" type="slidenum">
              <a:rPr lang="he-IL" altLang="he-IL" sz="1000">
                <a:latin typeface="Verdana" pitchFamily="34" charset="0"/>
              </a:rPr>
              <a:pPr algn="r" rtl="1" eaLnBrk="1" hangingPunct="1"/>
              <a:t>10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  <p:pic>
        <p:nvPicPr>
          <p:cNvPr id="1229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495800"/>
            <a:ext cx="4306186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z="4000" smtClean="0"/>
              <a:t>החיסרונות כאשר גודל המערך קבוע</a:t>
            </a:r>
            <a:endParaRPr lang="en-US" altLang="he-IL" sz="4000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600200"/>
            <a:ext cx="8305800" cy="4530725"/>
          </a:xfrm>
        </p:spPr>
        <p:txBody>
          <a:bodyPr/>
          <a:lstStyle/>
          <a:p>
            <a:r>
              <a:rPr lang="he-IL" altLang="he-IL" dirty="0" smtClean="0"/>
              <a:t>לא ניתן להגדיר כיתות בהן המספר המקסימלי של הסטודנטים </a:t>
            </a:r>
            <a:r>
              <a:rPr lang="he-IL" altLang="he-IL" dirty="0" smtClean="0"/>
              <a:t>שונה.</a:t>
            </a:r>
            <a:endParaRPr lang="he-IL" altLang="he-IL" dirty="0" smtClean="0"/>
          </a:p>
          <a:p>
            <a:pPr lvl="1"/>
            <a:r>
              <a:rPr lang="he-IL" altLang="he-IL" dirty="0" smtClean="0"/>
              <a:t> למשל עבור קורסים עם קבוצות לימוד קטנות, או עבור שיעור שהוא </a:t>
            </a:r>
            <a:r>
              <a:rPr lang="he-IL" altLang="he-IL" dirty="0" smtClean="0"/>
              <a:t>תרגול.</a:t>
            </a:r>
            <a:endParaRPr lang="he-IL" altLang="he-IL" dirty="0" smtClean="0"/>
          </a:p>
          <a:p>
            <a:pPr lvl="1"/>
            <a:endParaRPr lang="he-IL" altLang="he-IL" dirty="0" smtClean="0"/>
          </a:p>
          <a:p>
            <a:r>
              <a:rPr lang="he-IL" altLang="he-IL" dirty="0" smtClean="0"/>
              <a:t>יתכן ו- </a:t>
            </a:r>
            <a:r>
              <a:rPr lang="en-US" altLang="he-IL" dirty="0" err="1" smtClean="0"/>
              <a:t>numOfRegistered</a:t>
            </a:r>
            <a:r>
              <a:rPr lang="he-IL" altLang="he-IL" dirty="0" smtClean="0"/>
              <a:t> קטן משמעותית מ- </a:t>
            </a:r>
            <a:r>
              <a:rPr lang="en-US" altLang="he-IL" dirty="0" smtClean="0"/>
              <a:t>MAX_STUDENTS</a:t>
            </a:r>
            <a:r>
              <a:rPr lang="he-IL" altLang="he-IL" dirty="0" smtClean="0"/>
              <a:t>  ואז יש </a:t>
            </a:r>
            <a:r>
              <a:rPr lang="he-IL" altLang="he-IL" dirty="0" err="1" smtClean="0"/>
              <a:t>ביזבוז</a:t>
            </a:r>
            <a:r>
              <a:rPr lang="he-IL" altLang="he-IL" dirty="0" smtClean="0"/>
              <a:t> רב של </a:t>
            </a:r>
            <a:r>
              <a:rPr lang="he-IL" altLang="he-IL" dirty="0" smtClean="0"/>
              <a:t>מקום.</a:t>
            </a:r>
            <a:endParaRPr lang="he-IL" altLang="he-IL" dirty="0" smtClean="0"/>
          </a:p>
          <a:p>
            <a:pPr lvl="1"/>
            <a:r>
              <a:rPr lang="he-IL" altLang="he-IL" dirty="0" smtClean="0"/>
              <a:t>מבנה תופס יחסית הרבה מקום בזיכרון כי הוא מכיל אוסף של </a:t>
            </a:r>
            <a:r>
              <a:rPr lang="he-IL" altLang="he-IL" dirty="0" smtClean="0"/>
              <a:t>שדות.</a:t>
            </a:r>
            <a:endParaRPr lang="en-US" altLang="he-IL" dirty="0" smtClean="0"/>
          </a:p>
        </p:txBody>
      </p:sp>
      <p:sp>
        <p:nvSpPr>
          <p:cNvPr id="13316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2873FEDD-39C6-42FD-8A05-5B8B7BDA654B}" type="slidenum">
              <a:rPr lang="he-IL" altLang="he-IL" sz="1000">
                <a:latin typeface="Verdana" pitchFamily="34" charset="0"/>
              </a:rPr>
              <a:pPr algn="r" rtl="1" eaLnBrk="1" hangingPunct="1"/>
              <a:t>11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z="4000" smtClean="0"/>
              <a:t>הקצאת מערך מבנים בתוך מבנה</a:t>
            </a:r>
            <a:endParaRPr lang="en-US" altLang="he-IL" sz="4000" smtClean="0"/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4530725"/>
          </a:xfrm>
        </p:spPr>
        <p:txBody>
          <a:bodyPr/>
          <a:lstStyle/>
          <a:p>
            <a:r>
              <a:rPr lang="he-IL" altLang="he-IL" dirty="0" smtClean="0"/>
              <a:t>בדוגמא הבאה יש לנו את המבנה "כיתה" שיכול להכיל מערך של </a:t>
            </a:r>
            <a:r>
              <a:rPr lang="he-IL" altLang="he-IL" dirty="0" smtClean="0"/>
              <a:t>תלמידים.</a:t>
            </a:r>
            <a:endParaRPr lang="he-IL" altLang="he-IL" dirty="0" smtClean="0"/>
          </a:p>
          <a:p>
            <a:r>
              <a:rPr lang="he-IL" altLang="he-IL" dirty="0" smtClean="0"/>
              <a:t>בכל איבר במערך יהיו נתונים של סטודנט </a:t>
            </a:r>
            <a:r>
              <a:rPr lang="he-IL" altLang="he-IL" dirty="0" smtClean="0"/>
              <a:t>.</a:t>
            </a:r>
            <a:endParaRPr lang="he-IL" altLang="he-IL" dirty="0" smtClean="0"/>
          </a:p>
          <a:p>
            <a:r>
              <a:rPr lang="he-IL" altLang="he-IL" b="1" dirty="0" smtClean="0"/>
              <a:t>מספר התלמידים המקסימלי אינו ידוע מראש וניתן ע"י המשתמש בזמן </a:t>
            </a:r>
            <a:r>
              <a:rPr lang="he-IL" altLang="he-IL" b="1" dirty="0" smtClean="0"/>
              <a:t>ריצה.</a:t>
            </a:r>
            <a:endParaRPr lang="he-IL" altLang="he-IL" b="1" dirty="0" smtClean="0"/>
          </a:p>
          <a:p>
            <a:pPr lvl="1"/>
            <a:r>
              <a:rPr lang="he-IL" altLang="he-IL" dirty="0" smtClean="0"/>
              <a:t>לכן מערך התלמידים שבתוך המבנה "כיתה" מוקצה </a:t>
            </a:r>
            <a:r>
              <a:rPr lang="he-IL" altLang="he-IL" dirty="0" smtClean="0"/>
              <a:t>דינאמית.</a:t>
            </a:r>
            <a:endParaRPr lang="he-IL" altLang="he-IL" dirty="0" smtClean="0"/>
          </a:p>
          <a:p>
            <a:endParaRPr lang="en-US" altLang="he-IL" dirty="0" smtClean="0"/>
          </a:p>
        </p:txBody>
      </p:sp>
      <p:sp>
        <p:nvSpPr>
          <p:cNvPr id="14340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0B2DED19-3E1F-4FD3-BA00-312ABCF57112}" type="slidenum">
              <a:rPr lang="he-IL" altLang="he-IL" sz="1000">
                <a:latin typeface="Verdana" pitchFamily="34" charset="0"/>
              </a:rPr>
              <a:pPr algn="r" rtl="1" eaLnBrk="1" hangingPunct="1"/>
              <a:t>12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152400"/>
            <a:ext cx="8229600" cy="1139825"/>
          </a:xfrm>
        </p:spPr>
        <p:txBody>
          <a:bodyPr/>
          <a:lstStyle/>
          <a:p>
            <a:pPr algn="r"/>
            <a:r>
              <a:rPr lang="he-IL" altLang="he-IL" sz="4000" smtClean="0"/>
              <a:t>דוגמא – הקצאת סטודנטים בכיתה</a:t>
            </a:r>
            <a:br>
              <a:rPr lang="he-IL" altLang="he-IL" sz="4000" smtClean="0"/>
            </a:br>
            <a:r>
              <a:rPr lang="he-IL" altLang="he-IL" sz="2800" smtClean="0"/>
              <a:t>(הקוד בלבד, כך שאפשר לראות אותו </a:t>
            </a:r>
            <a:r>
              <a:rPr lang="en-US" altLang="he-IL" sz="2800" smtClean="0">
                <a:sym typeface="Wingdings" pitchFamily="2" charset="2"/>
              </a:rPr>
              <a:t></a:t>
            </a:r>
            <a:r>
              <a:rPr lang="he-IL" altLang="he-IL" sz="2800" smtClean="0"/>
              <a:t>)</a:t>
            </a:r>
            <a:endParaRPr lang="en-US" altLang="he-IL" sz="2800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6200"/>
            <a:ext cx="8229600" cy="6588125"/>
          </a:xfrm>
        </p:spPr>
        <p:txBody>
          <a:bodyPr/>
          <a:lstStyle/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#include &lt;stdio.h&gt;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#include &lt;stdlib.h&gt;</a:t>
            </a:r>
            <a:endParaRPr lang="en-US" altLang="he-IL" sz="12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struct Student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char name[10];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int id;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} typedef student_t;</a:t>
            </a:r>
            <a:endParaRPr lang="en-US" altLang="he-IL" sz="12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struct Class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char teacherName[10];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int numOfStudents;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</a:t>
            </a:r>
            <a:r>
              <a:rPr lang="en-US" altLang="he-IL" sz="1200" b="1" noProof="1" smtClean="0"/>
              <a:t>student_t* students;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}typedef class_t;</a:t>
            </a:r>
            <a:endParaRPr lang="en-US" altLang="he-IL" sz="12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void main()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int i;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class_t </a:t>
            </a:r>
            <a:r>
              <a:rPr lang="en-US" altLang="he-IL" sz="1200" dirty="0" smtClean="0"/>
              <a:t>c</a:t>
            </a:r>
            <a:r>
              <a:rPr lang="en-US" altLang="he-IL" sz="1200" noProof="1" smtClean="0"/>
              <a:t> = {"</a:t>
            </a:r>
            <a:r>
              <a:rPr lang="en-US" altLang="he-IL" sz="1200" noProof="1" smtClean="0"/>
              <a:t>sagie“, 0};</a:t>
            </a: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printf("How many students? 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scanf("%d", &amp;</a:t>
            </a:r>
            <a:r>
              <a:rPr lang="en-US" altLang="he-IL" sz="1200" dirty="0" err="1" smtClean="0"/>
              <a:t>c.numOfStudents</a:t>
            </a:r>
            <a:r>
              <a:rPr lang="en-US" altLang="he-IL" sz="1200" noProof="1" smtClean="0"/>
              <a:t>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</a:t>
            </a:r>
            <a:r>
              <a:rPr lang="en-US" altLang="he-IL" sz="1200" b="1" dirty="0" smtClean="0"/>
              <a:t>c</a:t>
            </a:r>
            <a:r>
              <a:rPr lang="en-US" altLang="he-IL" sz="1200" b="1" noProof="1" smtClean="0"/>
              <a:t>.students</a:t>
            </a:r>
            <a:r>
              <a:rPr lang="en-US" altLang="he-IL" sz="1200" noProof="1" smtClean="0"/>
              <a:t> = (student_t*)</a:t>
            </a:r>
            <a:r>
              <a:rPr lang="en-US" altLang="he-IL" sz="1200" dirty="0" smtClean="0"/>
              <a:t>c</a:t>
            </a:r>
            <a:r>
              <a:rPr lang="en-US" altLang="he-IL" sz="1200" noProof="1" smtClean="0"/>
              <a:t>alloc(</a:t>
            </a:r>
            <a:r>
              <a:rPr lang="en-US" altLang="he-IL" sz="1200" dirty="0" smtClean="0"/>
              <a:t>c</a:t>
            </a:r>
            <a:r>
              <a:rPr lang="en-US" altLang="he-IL" sz="1200" noProof="1" smtClean="0"/>
              <a:t>.numOfStudents </a:t>
            </a:r>
            <a:r>
              <a:rPr lang="en-US" altLang="he-IL" sz="1200" dirty="0" smtClean="0"/>
              <a:t>, </a:t>
            </a:r>
            <a:r>
              <a:rPr lang="he-IL" altLang="he-IL" sz="1200" dirty="0" smtClean="0"/>
              <a:t> </a:t>
            </a:r>
            <a:endParaRPr lang="en-US" altLang="he-IL" sz="12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dirty="0" smtClean="0"/>
              <a:t>				  </a:t>
            </a:r>
            <a:r>
              <a:rPr lang="en-US" altLang="he-IL" sz="1200" noProof="1" smtClean="0"/>
              <a:t>sizeof(student_t));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</a:t>
            </a:r>
            <a:r>
              <a:rPr lang="en-US" altLang="he-IL" sz="1200" dirty="0" smtClean="0">
                <a:solidFill>
                  <a:srgbClr val="009900"/>
                </a:solidFill>
              </a:rPr>
              <a:t>// check if allocation succeeded..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>
              <a:solidFill>
                <a:srgbClr val="009900"/>
              </a:solidFill>
            </a:endParaRP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printf("Enter name and id for each student:\n");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for (i=0 ; i &lt; </a:t>
            </a:r>
            <a:r>
              <a:rPr lang="en-US" altLang="he-IL" sz="1200" dirty="0" smtClean="0"/>
              <a:t>c</a:t>
            </a:r>
            <a:r>
              <a:rPr lang="en-US" altLang="he-IL" sz="1200" noProof="1" smtClean="0"/>
              <a:t>.numOfStudents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printf("Student #%d: ", i+1);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scanf("%s %d", </a:t>
            </a:r>
            <a:r>
              <a:rPr lang="en-US" altLang="he-IL" sz="1200" dirty="0" smtClean="0"/>
              <a:t>c</a:t>
            </a:r>
            <a:r>
              <a:rPr lang="en-US" altLang="he-IL" sz="1200" noProof="1" smtClean="0"/>
              <a:t>.students[i].name, </a:t>
            </a:r>
            <a:endParaRPr lang="en-US" altLang="he-IL" sz="12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dirty="0" smtClean="0"/>
              <a:t>                                        </a:t>
            </a:r>
            <a:r>
              <a:rPr lang="en-US" altLang="he-IL" sz="1200" noProof="1" smtClean="0"/>
              <a:t>&amp;</a:t>
            </a:r>
            <a:r>
              <a:rPr lang="en-US" altLang="he-IL" sz="1200" dirty="0" smtClean="0"/>
              <a:t>c</a:t>
            </a:r>
            <a:r>
              <a:rPr lang="en-US" altLang="he-IL" sz="1200" noProof="1" smtClean="0"/>
              <a:t>.students[i].id);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}</a:t>
            </a:r>
            <a:endParaRPr lang="en-US" altLang="he-IL" sz="12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printClass(</a:t>
            </a:r>
            <a:r>
              <a:rPr lang="en-US" altLang="he-IL" sz="1200" dirty="0" smtClean="0"/>
              <a:t>c</a:t>
            </a:r>
            <a:r>
              <a:rPr lang="en-US" altLang="he-IL" sz="1200" noProof="1" smtClean="0"/>
              <a:t>);</a:t>
            </a:r>
            <a:endParaRPr lang="en-US" altLang="he-IL" sz="12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dirty="0" smtClean="0"/>
              <a:t>	</a:t>
            </a:r>
            <a:r>
              <a:rPr lang="en-US" altLang="he-IL" sz="1200" b="1" dirty="0" smtClean="0"/>
              <a:t>free(</a:t>
            </a:r>
            <a:r>
              <a:rPr lang="en-US" altLang="he-IL" sz="1200" b="1" dirty="0" err="1" smtClean="0"/>
              <a:t>c.students</a:t>
            </a:r>
            <a:r>
              <a:rPr lang="en-US" altLang="he-IL" sz="1200" b="1" dirty="0" smtClean="0"/>
              <a:t>);</a:t>
            </a:r>
            <a:endParaRPr lang="en-US" altLang="he-IL" sz="1200" b="1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b="1" noProof="1" smtClean="0"/>
              <a:t>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b="1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he-IL" altLang="he-IL" sz="12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he-IL" altLang="he-IL" sz="12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3733800" y="838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altLang="he-IL" sz="1200" dirty="0">
              <a:latin typeface="Verdana" pitchFamily="34" charset="0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void printClass(class_t c)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{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int i;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printf("The teacher is %s and the %d students are:\n", </a:t>
            </a:r>
            <a:endParaRPr lang="en-US" altLang="he-IL" sz="1200" dirty="0">
              <a:latin typeface="Verdana" pitchFamily="34" charset="0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dirty="0">
                <a:latin typeface="Verdana" pitchFamily="34" charset="0"/>
              </a:rPr>
              <a:t>				</a:t>
            </a:r>
            <a:r>
              <a:rPr lang="en-US" altLang="he-IL" sz="1200" noProof="1">
                <a:latin typeface="Verdana" pitchFamily="34" charset="0"/>
              </a:rPr>
              <a:t>c.teacherName, </a:t>
            </a:r>
            <a:endParaRPr lang="en-US" altLang="he-IL" sz="1200" dirty="0">
              <a:latin typeface="Verdana" pitchFamily="34" charset="0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dirty="0">
                <a:latin typeface="Verdana" pitchFamily="34" charset="0"/>
              </a:rPr>
              <a:t>				</a:t>
            </a:r>
            <a:r>
              <a:rPr lang="en-US" altLang="he-IL" sz="1200" noProof="1">
                <a:latin typeface="Verdana" pitchFamily="34" charset="0"/>
              </a:rPr>
              <a:t>c.numOfStudents);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for (i=0 ; i &lt; c.numOfStudents ; i++)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	printf("  %d- Name: %s\tId: %d\n",</a:t>
            </a:r>
            <a:endParaRPr lang="en-US" altLang="he-IL" sz="1200" dirty="0">
              <a:latin typeface="Verdana" pitchFamily="34" charset="0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dirty="0">
                <a:latin typeface="Verdana" pitchFamily="34" charset="0"/>
              </a:rPr>
              <a:t>				</a:t>
            </a:r>
            <a:r>
              <a:rPr lang="en-US" altLang="he-IL" sz="1200" noProof="1">
                <a:latin typeface="Verdana" pitchFamily="34" charset="0"/>
              </a:rPr>
              <a:t> i+1, c.students[i].name, </a:t>
            </a:r>
            <a:endParaRPr lang="en-US" altLang="he-IL" sz="1200" dirty="0">
              <a:latin typeface="Verdana" pitchFamily="34" charset="0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dirty="0">
                <a:latin typeface="Verdana" pitchFamily="34" charset="0"/>
              </a:rPr>
              <a:t>				 </a:t>
            </a:r>
            <a:r>
              <a:rPr lang="en-US" altLang="he-IL" sz="1200" noProof="1">
                <a:latin typeface="Verdana" pitchFamily="34" charset="0"/>
              </a:rPr>
              <a:t>c.students[i].id);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altLang="he-IL" sz="1200" dirty="0">
              <a:latin typeface="Verdana" pitchFamily="34" charset="0"/>
            </a:endParaRPr>
          </a:p>
        </p:txBody>
      </p:sp>
      <p:sp>
        <p:nvSpPr>
          <p:cNvPr id="15366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E1E7F7BF-95A4-4A50-8420-DB77C38DA47C}" type="slidenum">
              <a:rPr lang="he-IL" altLang="he-IL" sz="1000">
                <a:latin typeface="Verdana" pitchFamily="34" charset="0"/>
              </a:rPr>
              <a:pPr algn="r" rtl="1" eaLnBrk="1" hangingPunct="1"/>
              <a:t>13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  <p:pic>
        <p:nvPicPr>
          <p:cNvPr id="1536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495800"/>
            <a:ext cx="491524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z="4000" smtClean="0"/>
              <a:t>אבל מה אם נרצה להקצות מערך ולהשתמש רק בחלק מהאיברים?</a:t>
            </a:r>
            <a:endParaRPr lang="en-US" altLang="he-IL" sz="4000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altLang="he-IL" dirty="0" smtClean="0"/>
              <a:t>החיסרון במימוש המחזיק מערך של סטודנטים, בין אם הוקצה דינאמית או לא, הוא כאשר לא מנצלים את כל איברי המערך, ואז יש </a:t>
            </a:r>
            <a:r>
              <a:rPr lang="he-IL" altLang="he-IL" dirty="0" err="1" smtClean="0"/>
              <a:t>ביזבוז</a:t>
            </a:r>
            <a:r>
              <a:rPr lang="he-IL" altLang="he-IL" dirty="0" smtClean="0"/>
              <a:t> </a:t>
            </a:r>
            <a:r>
              <a:rPr lang="he-IL" altLang="he-IL" dirty="0" smtClean="0"/>
              <a:t>זיכרון.</a:t>
            </a:r>
            <a:endParaRPr lang="he-IL" altLang="he-IL" dirty="0" smtClean="0"/>
          </a:p>
          <a:p>
            <a:endParaRPr lang="he-IL" altLang="he-IL" dirty="0" smtClean="0"/>
          </a:p>
          <a:p>
            <a:r>
              <a:rPr lang="he-IL" altLang="he-IL" dirty="0" smtClean="0"/>
              <a:t>לכן נקצה </a:t>
            </a:r>
            <a:r>
              <a:rPr lang="he-IL" altLang="he-IL" b="1" dirty="0" smtClean="0"/>
              <a:t>מערך של מצביעים למבנים </a:t>
            </a:r>
            <a:r>
              <a:rPr lang="he-IL" altLang="he-IL" dirty="0" smtClean="0"/>
              <a:t>בגודל המקסימלי שאנחנו רוצים, וכל איבר שיהיה בשימוש יצביע למבנה שיוקצה </a:t>
            </a:r>
            <a:r>
              <a:rPr lang="he-IL" altLang="he-IL" dirty="0" smtClean="0"/>
              <a:t>דינאמית.</a:t>
            </a:r>
            <a:endParaRPr lang="en-US" altLang="he-IL" dirty="0" smtClean="0"/>
          </a:p>
        </p:txBody>
      </p:sp>
      <p:sp>
        <p:nvSpPr>
          <p:cNvPr id="17412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E112469F-F71D-407B-9E6F-2E11332BFD19}" type="slidenum">
              <a:rPr lang="he-IL" altLang="he-IL" sz="1000">
                <a:latin typeface="Verdana" pitchFamily="34" charset="0"/>
              </a:rPr>
              <a:pPr algn="r" rtl="1" eaLnBrk="1" hangingPunct="1"/>
              <a:t>14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he-IL" altLang="he-IL" sz="2400" dirty="0" smtClean="0"/>
              <a:t>בדוגמא הבאה יש לנו את המבנה "כיתה" שיכול להכיל אוסף של </a:t>
            </a:r>
            <a:r>
              <a:rPr lang="he-IL" altLang="he-IL" sz="2400" dirty="0" smtClean="0"/>
              <a:t>תלמידים.</a:t>
            </a:r>
            <a:endParaRPr lang="he-IL" altLang="he-IL" sz="2400" dirty="0" smtClean="0"/>
          </a:p>
          <a:p>
            <a:pPr>
              <a:lnSpc>
                <a:spcPct val="90000"/>
              </a:lnSpc>
            </a:pPr>
            <a:r>
              <a:rPr lang="he-IL" altLang="he-IL" sz="2400" dirty="0" smtClean="0"/>
              <a:t>מספר הסטודנטים המקסימלי </a:t>
            </a:r>
            <a:r>
              <a:rPr lang="he-IL" altLang="he-IL" sz="2400" b="1" dirty="0" smtClean="0"/>
              <a:t>ידוע מראש</a:t>
            </a:r>
            <a:r>
              <a:rPr lang="he-IL" altLang="he-IL" sz="2400" dirty="0" smtClean="0"/>
              <a:t> ויש מערך של </a:t>
            </a:r>
            <a:r>
              <a:rPr lang="he-IL" altLang="he-IL" sz="2400" b="1" dirty="0" smtClean="0"/>
              <a:t>מצביעים</a:t>
            </a:r>
            <a:r>
              <a:rPr lang="he-IL" altLang="he-IL" sz="2400" dirty="0" smtClean="0"/>
              <a:t> ל"סטודנט"</a:t>
            </a:r>
          </a:p>
          <a:p>
            <a:pPr>
              <a:lnSpc>
                <a:spcPct val="90000"/>
              </a:lnSpc>
            </a:pPr>
            <a:r>
              <a:rPr lang="he-IL" altLang="he-IL" sz="2400" dirty="0" smtClean="0"/>
              <a:t>בתחילה רשומים לכיתה 0 סטודנטים, וכל פעם נוסיף סטודנט נוסף לכיתה</a:t>
            </a:r>
          </a:p>
          <a:p>
            <a:pPr>
              <a:lnSpc>
                <a:spcPct val="90000"/>
              </a:lnSpc>
            </a:pPr>
            <a:r>
              <a:rPr lang="he-IL" altLang="he-IL" sz="2400" dirty="0" smtClean="0"/>
              <a:t>כל איבר יהיה מצביע ל"סטודנט". כל עוד לא נרשם סטודנט המצביע הוא </a:t>
            </a:r>
            <a:r>
              <a:rPr lang="en-US" altLang="he-IL" sz="2400" dirty="0" smtClean="0"/>
              <a:t>NULL</a:t>
            </a:r>
            <a:endParaRPr lang="he-IL" altLang="he-IL" sz="2400" dirty="0" smtClean="0"/>
          </a:p>
          <a:p>
            <a:pPr lvl="1">
              <a:lnSpc>
                <a:spcPct val="90000"/>
              </a:lnSpc>
            </a:pPr>
            <a:r>
              <a:rPr lang="he-IL" altLang="he-IL" sz="2000" dirty="0" smtClean="0"/>
              <a:t>דוגמא: כיתה שיכולים להיות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he-IL" altLang="he-IL" sz="2000" dirty="0" smtClean="0"/>
              <a:t>בה מקסימום 4 סטודנטים</a:t>
            </a:r>
          </a:p>
          <a:p>
            <a:pPr lvl="2">
              <a:lnSpc>
                <a:spcPct val="90000"/>
              </a:lnSpc>
            </a:pPr>
            <a:r>
              <a:rPr lang="he-IL" altLang="he-IL" sz="1800" dirty="0" smtClean="0"/>
              <a:t>לאחר רישום סטודנט</a:t>
            </a:r>
          </a:p>
          <a:p>
            <a:pPr lvl="2">
              <a:lnSpc>
                <a:spcPct val="90000"/>
              </a:lnSpc>
            </a:pPr>
            <a:r>
              <a:rPr lang="he-IL" altLang="he-IL" sz="1800" dirty="0" smtClean="0"/>
              <a:t>לאחר רישום סטודנט</a:t>
            </a:r>
            <a:endParaRPr lang="en-US" altLang="he-IL" sz="1800" dirty="0" smtClean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z="4000" smtClean="0"/>
              <a:t>הקצאת מערך של </a:t>
            </a:r>
            <a:r>
              <a:rPr lang="he-IL" altLang="he-IL" sz="4000" b="1" smtClean="0"/>
              <a:t>מצביעים למבנים </a:t>
            </a:r>
            <a:r>
              <a:rPr lang="he-IL" altLang="he-IL" sz="4000" smtClean="0"/>
              <a:t>בתוך מבנה</a:t>
            </a:r>
            <a:endParaRPr lang="en-US" altLang="he-IL" sz="4000" smtClean="0"/>
          </a:p>
        </p:txBody>
      </p:sp>
      <p:graphicFrame>
        <p:nvGraphicFramePr>
          <p:cNvPr id="194564" name="Group 4"/>
          <p:cNvGraphicFramePr>
            <a:graphicFrameLocks noGrp="1"/>
          </p:cNvGraphicFramePr>
          <p:nvPr>
            <p:ph sz="half" idx="2"/>
          </p:nvPr>
        </p:nvGraphicFramePr>
        <p:xfrm>
          <a:off x="457200" y="5741988"/>
          <a:ext cx="4038600" cy="873125"/>
        </p:xfrm>
        <a:graphic>
          <a:graphicData uri="http://schemas.openxmlformats.org/drawingml/2006/table">
            <a:tbl>
              <a:tblPr/>
              <a:tblGrid>
                <a:gridCol w="1009650"/>
                <a:gridCol w="1009650"/>
                <a:gridCol w="1009650"/>
                <a:gridCol w="1009650"/>
              </a:tblGrid>
              <a:tr h="873125">
                <a:tc>
                  <a:txBody>
                    <a:bodyPr/>
                    <a:lstStyle/>
                    <a:p>
                      <a:pPr marL="0" marR="0" lvl="0" indent="0" algn="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he-IL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he-IL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he-IL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he-IL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4580" name="Oval 20"/>
          <p:cNvSpPr>
            <a:spLocks noChangeArrowheads="1"/>
          </p:cNvSpPr>
          <p:nvPr/>
        </p:nvSpPr>
        <p:spPr bwMode="auto">
          <a:xfrm>
            <a:off x="914400" y="6172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194581" name="Oval 21"/>
          <p:cNvSpPr>
            <a:spLocks noChangeArrowheads="1"/>
          </p:cNvSpPr>
          <p:nvPr/>
        </p:nvSpPr>
        <p:spPr bwMode="auto">
          <a:xfrm>
            <a:off x="1905000" y="6172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194582" name="Oval 22"/>
          <p:cNvSpPr>
            <a:spLocks noChangeArrowheads="1"/>
          </p:cNvSpPr>
          <p:nvPr/>
        </p:nvSpPr>
        <p:spPr bwMode="auto">
          <a:xfrm>
            <a:off x="2971800" y="6172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194583" name="Oval 23"/>
          <p:cNvSpPr>
            <a:spLocks noChangeArrowheads="1"/>
          </p:cNvSpPr>
          <p:nvPr/>
        </p:nvSpPr>
        <p:spPr bwMode="auto">
          <a:xfrm>
            <a:off x="3962400" y="6172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194584" name="Line 24"/>
          <p:cNvSpPr>
            <a:spLocks noChangeShapeType="1"/>
          </p:cNvSpPr>
          <p:nvPr/>
        </p:nvSpPr>
        <p:spPr bwMode="auto">
          <a:xfrm flipV="1">
            <a:off x="914400" y="5334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94585" name="Line 25"/>
          <p:cNvSpPr>
            <a:spLocks noChangeShapeType="1"/>
          </p:cNvSpPr>
          <p:nvPr/>
        </p:nvSpPr>
        <p:spPr bwMode="auto">
          <a:xfrm flipV="1">
            <a:off x="1905000" y="5334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94586" name="Line 26"/>
          <p:cNvSpPr>
            <a:spLocks noChangeShapeType="1"/>
          </p:cNvSpPr>
          <p:nvPr/>
        </p:nvSpPr>
        <p:spPr bwMode="auto">
          <a:xfrm flipV="1">
            <a:off x="2971800" y="5334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94587" name="Line 27"/>
          <p:cNvSpPr>
            <a:spLocks noChangeShapeType="1"/>
          </p:cNvSpPr>
          <p:nvPr/>
        </p:nvSpPr>
        <p:spPr bwMode="auto">
          <a:xfrm flipV="1">
            <a:off x="3962400" y="5334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2743200" y="5105400"/>
            <a:ext cx="381000" cy="152400"/>
            <a:chOff x="1776" y="3216"/>
            <a:chExt cx="240" cy="96"/>
          </a:xfrm>
        </p:grpSpPr>
        <p:sp>
          <p:nvSpPr>
            <p:cNvPr id="18472" name="Line 28"/>
            <p:cNvSpPr>
              <a:spLocks noChangeShapeType="1"/>
            </p:cNvSpPr>
            <p:nvPr/>
          </p:nvSpPr>
          <p:spPr bwMode="auto">
            <a:xfrm>
              <a:off x="1776" y="331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473" name="Line 29"/>
            <p:cNvSpPr>
              <a:spLocks noChangeShapeType="1"/>
            </p:cNvSpPr>
            <p:nvPr/>
          </p:nvSpPr>
          <p:spPr bwMode="auto">
            <a:xfrm>
              <a:off x="1824" y="326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474" name="Line 31"/>
            <p:cNvSpPr>
              <a:spLocks noChangeShapeType="1"/>
            </p:cNvSpPr>
            <p:nvPr/>
          </p:nvSpPr>
          <p:spPr bwMode="auto">
            <a:xfrm>
              <a:off x="1872" y="32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3810000" y="5105400"/>
            <a:ext cx="381000" cy="152400"/>
            <a:chOff x="2400" y="3216"/>
            <a:chExt cx="240" cy="96"/>
          </a:xfrm>
        </p:grpSpPr>
        <p:sp>
          <p:nvSpPr>
            <p:cNvPr id="18469" name="Line 32"/>
            <p:cNvSpPr>
              <a:spLocks noChangeShapeType="1"/>
            </p:cNvSpPr>
            <p:nvPr/>
          </p:nvSpPr>
          <p:spPr bwMode="auto">
            <a:xfrm>
              <a:off x="2400" y="331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470" name="Line 33"/>
            <p:cNvSpPr>
              <a:spLocks noChangeShapeType="1"/>
            </p:cNvSpPr>
            <p:nvPr/>
          </p:nvSpPr>
          <p:spPr bwMode="auto">
            <a:xfrm>
              <a:off x="2448" y="326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471" name="Line 34"/>
            <p:cNvSpPr>
              <a:spLocks noChangeShapeType="1"/>
            </p:cNvSpPr>
            <p:nvPr/>
          </p:nvSpPr>
          <p:spPr bwMode="auto">
            <a:xfrm>
              <a:off x="2496" y="32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685800" y="5105400"/>
            <a:ext cx="381000" cy="152400"/>
            <a:chOff x="1776" y="3216"/>
            <a:chExt cx="240" cy="96"/>
          </a:xfrm>
        </p:grpSpPr>
        <p:sp>
          <p:nvSpPr>
            <p:cNvPr id="18466" name="Line 38"/>
            <p:cNvSpPr>
              <a:spLocks noChangeShapeType="1"/>
            </p:cNvSpPr>
            <p:nvPr/>
          </p:nvSpPr>
          <p:spPr bwMode="auto">
            <a:xfrm>
              <a:off x="1776" y="331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467" name="Line 39"/>
            <p:cNvSpPr>
              <a:spLocks noChangeShapeType="1"/>
            </p:cNvSpPr>
            <p:nvPr/>
          </p:nvSpPr>
          <p:spPr bwMode="auto">
            <a:xfrm>
              <a:off x="1824" y="326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468" name="Line 40"/>
            <p:cNvSpPr>
              <a:spLocks noChangeShapeType="1"/>
            </p:cNvSpPr>
            <p:nvPr/>
          </p:nvSpPr>
          <p:spPr bwMode="auto">
            <a:xfrm>
              <a:off x="1872" y="32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5" name="Group 41"/>
          <p:cNvGrpSpPr>
            <a:grpSpLocks/>
          </p:cNvGrpSpPr>
          <p:nvPr/>
        </p:nvGrpSpPr>
        <p:grpSpPr bwMode="auto">
          <a:xfrm>
            <a:off x="1676400" y="5105400"/>
            <a:ext cx="381000" cy="152400"/>
            <a:chOff x="1776" y="3216"/>
            <a:chExt cx="240" cy="96"/>
          </a:xfrm>
        </p:grpSpPr>
        <p:sp>
          <p:nvSpPr>
            <p:cNvPr id="18463" name="Line 42"/>
            <p:cNvSpPr>
              <a:spLocks noChangeShapeType="1"/>
            </p:cNvSpPr>
            <p:nvPr/>
          </p:nvSpPr>
          <p:spPr bwMode="auto">
            <a:xfrm>
              <a:off x="1776" y="331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464" name="Line 43"/>
            <p:cNvSpPr>
              <a:spLocks noChangeShapeType="1"/>
            </p:cNvSpPr>
            <p:nvPr/>
          </p:nvSpPr>
          <p:spPr bwMode="auto">
            <a:xfrm>
              <a:off x="1824" y="326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465" name="Line 44"/>
            <p:cNvSpPr>
              <a:spLocks noChangeShapeType="1"/>
            </p:cNvSpPr>
            <p:nvPr/>
          </p:nvSpPr>
          <p:spPr bwMode="auto">
            <a:xfrm>
              <a:off x="1872" y="32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18460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AB706AA2-71F6-4853-A13E-377B6967D22E}" type="slidenum">
              <a:rPr lang="he-IL" altLang="he-IL" sz="1000">
                <a:latin typeface="Verdana" pitchFamily="34" charset="0"/>
              </a:rPr>
              <a:pPr algn="r" rtl="1" eaLnBrk="1" hangingPunct="1"/>
              <a:t>15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  <p:pic>
        <p:nvPicPr>
          <p:cNvPr id="32" name="Picture 21" descr="C:\Documents and Settings\keren\Local Settings\Temporary Internet Files\Content.IE5\29ZK0QFU\MC900215228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298950"/>
            <a:ext cx="762000" cy="103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21" descr="C:\Documents and Settings\keren\Local Settings\Temporary Internet Files\Content.IE5\29ZK0QFU\MC900215228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298950"/>
            <a:ext cx="762000" cy="103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251075"/>
            <a:ext cx="8229600" cy="4530725"/>
          </a:xfrm>
        </p:spPr>
        <p:txBody>
          <a:bodyPr/>
          <a:lstStyle/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#include &lt;stdio.h&gt;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#include &lt;stdlib.h&gt;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#define MAX_STUDENTS  </a:t>
            </a:r>
            <a:r>
              <a:rPr lang="he-IL" altLang="he-IL" sz="1200" smtClean="0"/>
              <a:t>2</a:t>
            </a:r>
            <a:endParaRPr lang="he-IL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he-IL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struct Student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char   name[10];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int     id;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} typedef student_t;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struct Class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char   teacherName[10];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</a:t>
            </a:r>
            <a:r>
              <a:rPr lang="en-US" altLang="he-IL" sz="1200" b="1" noProof="1" smtClean="0"/>
              <a:t>int     registeredStudents;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b="1" noProof="1" smtClean="0"/>
              <a:t>	student_t* students[MAX_STUDENTS];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}typedef class_t;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void printClass(class_t c)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int i;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printf("The teacher is %s and the %d students are:\n", c.teacherName, c.registeredStudents);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for (i=0 ; i &lt; c.registeredStudents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printf("  %d- Name: %s\tId: %d\n", i+1, c.students[i]-&gt;name, c.students[i]-&gt;id);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</p:txBody>
      </p:sp>
      <p:sp>
        <p:nvSpPr>
          <p:cNvPr id="191494" name="AutoShape 6"/>
          <p:cNvSpPr>
            <a:spLocks noChangeArrowheads="1"/>
          </p:cNvSpPr>
          <p:nvPr/>
        </p:nvSpPr>
        <p:spPr bwMode="auto">
          <a:xfrm>
            <a:off x="2590800" y="4267200"/>
            <a:ext cx="1905000" cy="381000"/>
          </a:xfrm>
          <a:prstGeom prst="wedgeRectCallout">
            <a:avLst>
              <a:gd name="adj1" fmla="val -115750"/>
              <a:gd name="adj2" fmla="val 14180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מערך של מצביעים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>
          <a:xfrm>
            <a:off x="-457200" y="76200"/>
            <a:ext cx="3886200" cy="1139825"/>
          </a:xfrm>
        </p:spPr>
        <p:txBody>
          <a:bodyPr/>
          <a:lstStyle/>
          <a:p>
            <a:pPr algn="r"/>
            <a:r>
              <a:rPr lang="he-IL" altLang="he-IL" sz="4000" smtClean="0"/>
              <a:t>דוגמא – רישום </a:t>
            </a:r>
            <a:br>
              <a:rPr lang="he-IL" altLang="he-IL" sz="4000" smtClean="0"/>
            </a:br>
            <a:r>
              <a:rPr lang="he-IL" altLang="he-IL" sz="4000" smtClean="0"/>
              <a:t>סטודנטים לכיתה</a:t>
            </a:r>
            <a:endParaRPr lang="en-US" altLang="he-IL" sz="4000" smtClean="0"/>
          </a:p>
        </p:txBody>
      </p:sp>
      <p:sp>
        <p:nvSpPr>
          <p:cNvPr id="191492" name="Rectangle 4"/>
          <p:cNvSpPr>
            <a:spLocks noChangeArrowheads="1"/>
          </p:cNvSpPr>
          <p:nvPr/>
        </p:nvSpPr>
        <p:spPr bwMode="auto">
          <a:xfrm>
            <a:off x="3962400" y="0"/>
            <a:ext cx="8229600" cy="689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void main()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int i, fExit=0;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char answer;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class_t 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 = </a:t>
            </a:r>
            <a:r>
              <a:rPr lang="en-US" altLang="he-IL" sz="1200" noProof="1" smtClean="0">
                <a:latin typeface="Verdana" pitchFamily="34" charset="0"/>
              </a:rPr>
              <a:t>{"sagie”, </a:t>
            </a:r>
            <a:r>
              <a:rPr lang="en-US" altLang="he-IL" sz="1200" noProof="1">
                <a:latin typeface="Verdana" pitchFamily="34" charset="0"/>
              </a:rPr>
              <a:t>0};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altLang="he-IL" sz="1200" noProof="1">
              <a:latin typeface="Verdana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do {</a:t>
            </a:r>
            <a:endParaRPr lang="en-US" altLang="he-IL" sz="1200" dirty="0">
              <a:latin typeface="Verdana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dirty="0">
                <a:latin typeface="Verdana" pitchFamily="34" charset="0"/>
              </a:rPr>
              <a:t>	    </a:t>
            </a:r>
            <a:r>
              <a:rPr lang="en-US" altLang="he-IL" sz="1200" b="1" noProof="1">
                <a:latin typeface="Verdana" pitchFamily="34" charset="0"/>
              </a:rPr>
              <a:t>if (</a:t>
            </a:r>
            <a:r>
              <a:rPr lang="en-US" altLang="he-IL" sz="1200" b="1" dirty="0">
                <a:latin typeface="Verdana" pitchFamily="34" charset="0"/>
              </a:rPr>
              <a:t>c</a:t>
            </a:r>
            <a:r>
              <a:rPr lang="en-US" altLang="he-IL" sz="1200" b="1" noProof="1">
                <a:latin typeface="Verdana" pitchFamily="34" charset="0"/>
              </a:rPr>
              <a:t>.registeredStudents == MAX_STUDENTS)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</a:t>
            </a:r>
            <a:r>
              <a:rPr lang="en-US" altLang="he-IL" sz="1200" noProof="1">
                <a:latin typeface="Verdana" pitchFamily="34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         </a:t>
            </a:r>
            <a:r>
              <a:rPr lang="en-US" altLang="he-IL" sz="1200" noProof="1">
                <a:latin typeface="Verdana" pitchFamily="34" charset="0"/>
              </a:rPr>
              <a:t>printf("Class is full!\n");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	</a:t>
            </a:r>
            <a:r>
              <a:rPr lang="en-US" altLang="he-IL" sz="1200" dirty="0">
                <a:latin typeface="Verdana" pitchFamily="34" charset="0"/>
              </a:rPr>
              <a:t>  break</a:t>
            </a:r>
            <a:r>
              <a:rPr lang="en-US" altLang="he-IL" sz="1200" noProof="1">
                <a:latin typeface="Verdana" pitchFamily="34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dirty="0">
                <a:latin typeface="Verdana" pitchFamily="34" charset="0"/>
              </a:rPr>
              <a:t>           </a:t>
            </a:r>
            <a:r>
              <a:rPr lang="en-US" altLang="he-IL" sz="1200" noProof="1">
                <a:latin typeface="Verdana" pitchFamily="34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</a:t>
            </a:r>
            <a:r>
              <a:rPr lang="en-US" altLang="he-IL" sz="1200" noProof="1">
                <a:latin typeface="Verdana" pitchFamily="34" charset="0"/>
              </a:rPr>
              <a:t>printf("Register a student (Y/N)? ");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</a:t>
            </a:r>
            <a:r>
              <a:rPr lang="en-US" altLang="he-IL" sz="1200" noProof="1">
                <a:latin typeface="Verdana" pitchFamily="34" charset="0"/>
              </a:rPr>
              <a:t>flushall();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</a:t>
            </a:r>
            <a:r>
              <a:rPr lang="en-US" altLang="he-IL" sz="1200" noProof="1">
                <a:latin typeface="Verdana" pitchFamily="34" charset="0"/>
              </a:rPr>
              <a:t>scanf("%c", &amp;answer);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</a:t>
            </a:r>
            <a:r>
              <a:rPr lang="en-US" altLang="he-IL" sz="1200" noProof="1">
                <a:latin typeface="Verdana" pitchFamily="34" charset="0"/>
              </a:rPr>
              <a:t>if (answer == 'N')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     </a:t>
            </a:r>
            <a:r>
              <a:rPr lang="en-US" altLang="he-IL" sz="1200" noProof="1">
                <a:latin typeface="Verdana" pitchFamily="34" charset="0"/>
              </a:rPr>
              <a:t>fExit = 1;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</a:t>
            </a:r>
            <a:r>
              <a:rPr lang="en-US" altLang="he-IL" sz="1200" noProof="1">
                <a:latin typeface="Verdana" pitchFamily="34" charset="0"/>
              </a:rPr>
              <a:t>else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</a:t>
            </a:r>
            <a:r>
              <a:rPr lang="en-US" altLang="he-IL" sz="1200" noProof="1">
                <a:latin typeface="Verdana" pitchFamily="34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       c</a:t>
            </a:r>
            <a:r>
              <a:rPr lang="en-US" altLang="he-IL" sz="1200" noProof="1">
                <a:latin typeface="Verdana" pitchFamily="34" charset="0"/>
              </a:rPr>
              <a:t>.students[</a:t>
            </a:r>
            <a:r>
              <a:rPr lang="en-US" altLang="he-IL" sz="1200" b="1" dirty="0">
                <a:latin typeface="Verdana" pitchFamily="34" charset="0"/>
              </a:rPr>
              <a:t>c</a:t>
            </a:r>
            <a:r>
              <a:rPr lang="en-US" altLang="he-IL" sz="1200" b="1" noProof="1">
                <a:latin typeface="Verdana" pitchFamily="34" charset="0"/>
              </a:rPr>
              <a:t>.registeredStudents</a:t>
            </a:r>
            <a:r>
              <a:rPr lang="en-US" altLang="he-IL" sz="1200" noProof="1">
                <a:latin typeface="Verdana" pitchFamily="34" charset="0"/>
              </a:rPr>
              <a:t>] = </a:t>
            </a:r>
            <a:endParaRPr lang="he-IL" altLang="he-IL" sz="1200" dirty="0">
              <a:latin typeface="Verdana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he-IL" altLang="he-IL" sz="1200" dirty="0">
                <a:latin typeface="Verdana" pitchFamily="34" charset="0"/>
              </a:rPr>
              <a:t>                                              </a:t>
            </a:r>
            <a:r>
              <a:rPr lang="en-US" altLang="he-IL" sz="1200" noProof="1">
                <a:latin typeface="Verdana" pitchFamily="34" charset="0"/>
              </a:rPr>
              <a:t>(student_t*)calloc(1, sizeof(student_t));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       </a:t>
            </a:r>
            <a:r>
              <a:rPr lang="en-US" altLang="he-IL" sz="1200" noProof="1">
                <a:latin typeface="Verdana" pitchFamily="34" charset="0"/>
              </a:rPr>
              <a:t>printf("Enter name and id: ");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	</a:t>
            </a:r>
            <a:r>
              <a:rPr lang="en-US" altLang="he-IL" sz="1200" dirty="0">
                <a:latin typeface="Verdana" pitchFamily="34" charset="0"/>
              </a:rPr>
              <a:t> </a:t>
            </a:r>
            <a:r>
              <a:rPr lang="en-US" altLang="he-IL" sz="1200" noProof="1">
                <a:latin typeface="Verdana" pitchFamily="34" charset="0"/>
              </a:rPr>
              <a:t>scanf("%s %d", </a:t>
            </a:r>
            <a:endParaRPr lang="he-IL" altLang="he-IL" sz="1200" dirty="0">
              <a:latin typeface="Verdana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he-IL" altLang="he-IL" sz="1200" dirty="0">
                <a:latin typeface="Verdana" pitchFamily="34" charset="0"/>
              </a:rPr>
              <a:t>                             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.students[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.registeredStudents]-&gt;name,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   </a:t>
            </a:r>
            <a:r>
              <a:rPr lang="en-US" altLang="he-IL" sz="1200" noProof="1">
                <a:latin typeface="Verdana" pitchFamily="34" charset="0"/>
              </a:rPr>
              <a:t>          &amp;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.students[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.registeredStudents]-&gt;id);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	</a:t>
            </a:r>
            <a:r>
              <a:rPr lang="en-US" altLang="he-IL" sz="1200" dirty="0">
                <a:latin typeface="Verdana" pitchFamily="34" charset="0"/>
              </a:rPr>
              <a:t> c</a:t>
            </a:r>
            <a:r>
              <a:rPr lang="en-US" altLang="he-IL" sz="1200" noProof="1">
                <a:latin typeface="Verdana" pitchFamily="34" charset="0"/>
              </a:rPr>
              <a:t>.registeredStudents++;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dirty="0">
                <a:latin typeface="Verdana" pitchFamily="34" charset="0"/>
              </a:rPr>
              <a:t>          </a:t>
            </a:r>
            <a:r>
              <a:rPr lang="en-US" altLang="he-IL" sz="1200" noProof="1">
                <a:latin typeface="Verdana" pitchFamily="34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}</a:t>
            </a:r>
            <a:r>
              <a:rPr lang="en-US" altLang="he-IL" sz="1200" dirty="0">
                <a:latin typeface="Verdana" pitchFamily="34" charset="0"/>
              </a:rPr>
              <a:t> </a:t>
            </a:r>
            <a:r>
              <a:rPr lang="en-US" altLang="he-IL" sz="1200" noProof="1">
                <a:latin typeface="Verdana" pitchFamily="34" charset="0"/>
              </a:rPr>
              <a:t>while (fExit==0);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printClass(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for (i=0 ; i &lt; 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.registeredStudents ; i++)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	free(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.students[i]);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altLang="he-IL" sz="1200" dirty="0">
              <a:latin typeface="Verdana" pitchFamily="34" charset="0"/>
            </a:endParaRPr>
          </a:p>
        </p:txBody>
      </p:sp>
      <p:sp>
        <p:nvSpPr>
          <p:cNvPr id="19462" name="Rectangle 5"/>
          <p:cNvSpPr>
            <a:spLocks noChangeArrowheads="1"/>
          </p:cNvSpPr>
          <p:nvPr/>
        </p:nvSpPr>
        <p:spPr bwMode="auto">
          <a:xfrm>
            <a:off x="-76200" y="1143000"/>
            <a:ext cx="3733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r>
              <a:rPr lang="he-IL" altLang="he-IL">
                <a:solidFill>
                  <a:schemeClr val="tx2"/>
                </a:solidFill>
              </a:rPr>
              <a:t>(הקוד בלבד, כך שאפשר לראות אותו </a:t>
            </a:r>
            <a:r>
              <a:rPr lang="en-US" altLang="he-IL">
                <a:solidFill>
                  <a:schemeClr val="tx2"/>
                </a:solidFill>
                <a:sym typeface="Wingdings" pitchFamily="2" charset="2"/>
              </a:rPr>
              <a:t></a:t>
            </a:r>
            <a:r>
              <a:rPr lang="he-IL" altLang="he-IL">
                <a:solidFill>
                  <a:schemeClr val="tx2"/>
                </a:solidFill>
              </a:rPr>
              <a:t>)</a:t>
            </a:r>
            <a:endParaRPr lang="en-US" altLang="he-IL">
              <a:solidFill>
                <a:schemeClr val="tx2"/>
              </a:solidFill>
            </a:endParaRPr>
          </a:p>
        </p:txBody>
      </p:sp>
      <p:sp>
        <p:nvSpPr>
          <p:cNvPr id="191495" name="AutoShape 7"/>
          <p:cNvSpPr>
            <a:spLocks noChangeArrowheads="1"/>
          </p:cNvSpPr>
          <p:nvPr/>
        </p:nvSpPr>
        <p:spPr bwMode="auto">
          <a:xfrm>
            <a:off x="5638800" y="914400"/>
            <a:ext cx="3352800" cy="304800"/>
          </a:xfrm>
          <a:prstGeom prst="wedgeRectCallout">
            <a:avLst>
              <a:gd name="adj1" fmla="val -50537"/>
              <a:gd name="adj2" fmla="val 8071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he-IL" altLang="he-IL" b="1">
                <a:solidFill>
                  <a:schemeClr val="bg1"/>
                </a:solidFill>
              </a:rPr>
              <a:t>בדיקה אם יש מקום לסטודנט נוסף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191496" name="AutoShape 8"/>
          <p:cNvSpPr>
            <a:spLocks noChangeArrowheads="1"/>
          </p:cNvSpPr>
          <p:nvPr/>
        </p:nvSpPr>
        <p:spPr bwMode="auto">
          <a:xfrm>
            <a:off x="6019800" y="2743200"/>
            <a:ext cx="2971800" cy="609600"/>
          </a:xfrm>
          <a:prstGeom prst="wedgeRectCallout">
            <a:avLst>
              <a:gd name="adj1" fmla="val -45310"/>
              <a:gd name="adj2" fmla="val 6990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he-IL" altLang="he-IL" b="1">
                <a:solidFill>
                  <a:schemeClr val="bg1"/>
                </a:solidFill>
              </a:rPr>
              <a:t>פניה לאיבר הפנוי הבא בעזרת </a:t>
            </a:r>
            <a:r>
              <a:rPr lang="en-US" altLang="he-IL" b="1">
                <a:solidFill>
                  <a:schemeClr val="bg1"/>
                </a:solidFill>
              </a:rPr>
              <a:t>registeredStudents</a:t>
            </a:r>
          </a:p>
        </p:txBody>
      </p:sp>
      <p:sp>
        <p:nvSpPr>
          <p:cNvPr id="191497" name="AutoShape 9"/>
          <p:cNvSpPr>
            <a:spLocks noChangeArrowheads="1"/>
          </p:cNvSpPr>
          <p:nvPr/>
        </p:nvSpPr>
        <p:spPr bwMode="auto">
          <a:xfrm>
            <a:off x="6400800" y="4724400"/>
            <a:ext cx="2667000" cy="609600"/>
          </a:xfrm>
          <a:prstGeom prst="wedgeRectCallout">
            <a:avLst>
              <a:gd name="adj1" fmla="val 9875"/>
              <a:gd name="adj2" fmla="val -79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he-IL" altLang="he-IL" b="1">
                <a:solidFill>
                  <a:schemeClr val="bg1"/>
                </a:solidFill>
              </a:rPr>
              <a:t>פניה לשדות איברי המערך בעזרת &lt;- (כי הם מצביעים)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19466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92ADE7BE-7713-4FE0-B5B2-84E614B8E5CE}" type="slidenum">
              <a:rPr lang="he-IL" altLang="he-IL" sz="1000">
                <a:latin typeface="Verdana" pitchFamily="34" charset="0"/>
              </a:rPr>
              <a:pPr algn="r" rtl="1" eaLnBrk="1" hangingPunct="1"/>
              <a:t>16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4530725"/>
          </a:xfrm>
        </p:spPr>
        <p:txBody>
          <a:bodyPr/>
          <a:lstStyle/>
          <a:p>
            <a:r>
              <a:rPr lang="he-IL" altLang="he-IL" sz="2400" dirty="0" smtClean="0"/>
              <a:t>בדוגמא הבאה יש לנו את המבנה "כיתה" שיכול להכיל אוסף של </a:t>
            </a:r>
            <a:r>
              <a:rPr lang="he-IL" altLang="he-IL" sz="2400" dirty="0" smtClean="0"/>
              <a:t>תלמידים.</a:t>
            </a:r>
            <a:endParaRPr lang="he-IL" altLang="he-IL" sz="2400" dirty="0" smtClean="0"/>
          </a:p>
          <a:p>
            <a:r>
              <a:rPr lang="he-IL" altLang="he-IL" sz="2400" dirty="0" smtClean="0"/>
              <a:t>מספר הסטודנטים המקסימלי </a:t>
            </a:r>
            <a:r>
              <a:rPr lang="he-IL" altLang="he-IL" sz="2400" b="1" dirty="0" smtClean="0"/>
              <a:t>אינו</a:t>
            </a:r>
            <a:r>
              <a:rPr lang="he-IL" altLang="he-IL" sz="2400" dirty="0" smtClean="0"/>
              <a:t> ידוע מראש וניתן ע"י המשתמש בזמן ריצה</a:t>
            </a:r>
          </a:p>
          <a:p>
            <a:r>
              <a:rPr lang="he-IL" altLang="he-IL" sz="2400" dirty="0" smtClean="0"/>
              <a:t>בתחילה רשומים לכיתה 0 סטודנטים, וכל פעם נוסיף סטודנט נוסף לכיתה</a:t>
            </a:r>
          </a:p>
          <a:p>
            <a:r>
              <a:rPr lang="he-IL" altLang="he-IL" sz="2400" dirty="0" smtClean="0"/>
              <a:t>בכל איבר יהיה מצביע ל"סטודנט". כל עוד לא נרשם סטודנט המצביע הוא </a:t>
            </a:r>
            <a:r>
              <a:rPr lang="en-US" altLang="he-IL" sz="2400" dirty="0" smtClean="0"/>
              <a:t>NULL</a:t>
            </a:r>
            <a:endParaRPr lang="he-IL" altLang="he-IL" sz="2400" dirty="0" smtClean="0"/>
          </a:p>
          <a:p>
            <a:pPr lvl="1"/>
            <a:r>
              <a:rPr lang="he-IL" altLang="he-IL" sz="2000" dirty="0" smtClean="0"/>
              <a:t>דוגמא: כיתה </a:t>
            </a:r>
            <a:r>
              <a:rPr lang="he-IL" altLang="he-IL" sz="2000" b="1" dirty="0" smtClean="0"/>
              <a:t>שהמשתמש החליט</a:t>
            </a:r>
          </a:p>
          <a:p>
            <a:pPr lvl="1">
              <a:buFont typeface="Wingdings" pitchFamily="2" charset="2"/>
              <a:buNone/>
            </a:pPr>
            <a:r>
              <a:rPr lang="he-IL" altLang="he-IL" sz="2000" dirty="0" smtClean="0"/>
              <a:t> 	שיכולים להיות בה מקסימום 4 </a:t>
            </a:r>
          </a:p>
          <a:p>
            <a:pPr lvl="1">
              <a:buFont typeface="Wingdings" pitchFamily="2" charset="2"/>
              <a:buNone/>
            </a:pPr>
            <a:r>
              <a:rPr lang="he-IL" altLang="he-IL" sz="2000" dirty="0" smtClean="0"/>
              <a:t>	סטודנטים:</a:t>
            </a:r>
          </a:p>
          <a:p>
            <a:pPr lvl="2"/>
            <a:r>
              <a:rPr lang="he-IL" altLang="he-IL" sz="1800" dirty="0" smtClean="0"/>
              <a:t>לאחר רישום סטודנט</a:t>
            </a:r>
          </a:p>
          <a:p>
            <a:pPr lvl="2"/>
            <a:r>
              <a:rPr lang="he-IL" altLang="he-IL" sz="1800" dirty="0" smtClean="0"/>
              <a:t>לאחר רישום סטודנט</a:t>
            </a:r>
            <a:endParaRPr lang="en-US" altLang="he-IL" sz="1800" dirty="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z="4000" smtClean="0"/>
              <a:t>הקצאת מערך של מצביעים למבנים בתוך מבנה</a:t>
            </a:r>
            <a:endParaRPr lang="en-US" altLang="he-IL" sz="4000" smtClean="0"/>
          </a:p>
        </p:txBody>
      </p:sp>
      <p:graphicFrame>
        <p:nvGraphicFramePr>
          <p:cNvPr id="195588" name="Group 4"/>
          <p:cNvGraphicFramePr>
            <a:graphicFrameLocks noGrp="1"/>
          </p:cNvGraphicFramePr>
          <p:nvPr>
            <p:ph sz="half" idx="2"/>
          </p:nvPr>
        </p:nvGraphicFramePr>
        <p:xfrm>
          <a:off x="457200" y="5741988"/>
          <a:ext cx="4038600" cy="873125"/>
        </p:xfrm>
        <a:graphic>
          <a:graphicData uri="http://schemas.openxmlformats.org/drawingml/2006/table">
            <a:tbl>
              <a:tblPr/>
              <a:tblGrid>
                <a:gridCol w="1009650"/>
                <a:gridCol w="1009650"/>
                <a:gridCol w="1009650"/>
                <a:gridCol w="1009650"/>
              </a:tblGrid>
              <a:tr h="873125">
                <a:tc>
                  <a:txBody>
                    <a:bodyPr/>
                    <a:lstStyle/>
                    <a:p>
                      <a:pPr marL="0" marR="0" lvl="0" indent="0" algn="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he-IL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he-IL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he-IL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he-IL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5602" name="Oval 18"/>
          <p:cNvSpPr>
            <a:spLocks noChangeArrowheads="1"/>
          </p:cNvSpPr>
          <p:nvPr/>
        </p:nvSpPr>
        <p:spPr bwMode="auto">
          <a:xfrm>
            <a:off x="914400" y="6172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195603" name="Oval 19"/>
          <p:cNvSpPr>
            <a:spLocks noChangeArrowheads="1"/>
          </p:cNvSpPr>
          <p:nvPr/>
        </p:nvSpPr>
        <p:spPr bwMode="auto">
          <a:xfrm>
            <a:off x="1905000" y="6172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195604" name="Oval 20"/>
          <p:cNvSpPr>
            <a:spLocks noChangeArrowheads="1"/>
          </p:cNvSpPr>
          <p:nvPr/>
        </p:nvSpPr>
        <p:spPr bwMode="auto">
          <a:xfrm>
            <a:off x="2971800" y="6172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195605" name="Oval 21"/>
          <p:cNvSpPr>
            <a:spLocks noChangeArrowheads="1"/>
          </p:cNvSpPr>
          <p:nvPr/>
        </p:nvSpPr>
        <p:spPr bwMode="auto">
          <a:xfrm>
            <a:off x="3962400" y="6172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195606" name="Line 22"/>
          <p:cNvSpPr>
            <a:spLocks noChangeShapeType="1"/>
          </p:cNvSpPr>
          <p:nvPr/>
        </p:nvSpPr>
        <p:spPr bwMode="auto">
          <a:xfrm flipV="1">
            <a:off x="914400" y="5334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95607" name="Line 23"/>
          <p:cNvSpPr>
            <a:spLocks noChangeShapeType="1"/>
          </p:cNvSpPr>
          <p:nvPr/>
        </p:nvSpPr>
        <p:spPr bwMode="auto">
          <a:xfrm flipV="1">
            <a:off x="1905000" y="5334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95608" name="Line 24"/>
          <p:cNvSpPr>
            <a:spLocks noChangeShapeType="1"/>
          </p:cNvSpPr>
          <p:nvPr/>
        </p:nvSpPr>
        <p:spPr bwMode="auto">
          <a:xfrm flipV="1">
            <a:off x="2971800" y="5334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95609" name="Line 25"/>
          <p:cNvSpPr>
            <a:spLocks noChangeShapeType="1"/>
          </p:cNvSpPr>
          <p:nvPr/>
        </p:nvSpPr>
        <p:spPr bwMode="auto">
          <a:xfrm flipV="1">
            <a:off x="3962400" y="5334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2743200" y="5105400"/>
            <a:ext cx="381000" cy="152400"/>
            <a:chOff x="1776" y="3216"/>
            <a:chExt cx="240" cy="96"/>
          </a:xfrm>
        </p:grpSpPr>
        <p:sp>
          <p:nvSpPr>
            <p:cNvPr id="21544" name="Line 27"/>
            <p:cNvSpPr>
              <a:spLocks noChangeShapeType="1"/>
            </p:cNvSpPr>
            <p:nvPr/>
          </p:nvSpPr>
          <p:spPr bwMode="auto">
            <a:xfrm>
              <a:off x="1776" y="331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1545" name="Line 28"/>
            <p:cNvSpPr>
              <a:spLocks noChangeShapeType="1"/>
            </p:cNvSpPr>
            <p:nvPr/>
          </p:nvSpPr>
          <p:spPr bwMode="auto">
            <a:xfrm>
              <a:off x="1824" y="326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1546" name="Line 29"/>
            <p:cNvSpPr>
              <a:spLocks noChangeShapeType="1"/>
            </p:cNvSpPr>
            <p:nvPr/>
          </p:nvSpPr>
          <p:spPr bwMode="auto">
            <a:xfrm>
              <a:off x="1872" y="32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3810000" y="5105400"/>
            <a:ext cx="381000" cy="152400"/>
            <a:chOff x="2400" y="3216"/>
            <a:chExt cx="240" cy="96"/>
          </a:xfrm>
        </p:grpSpPr>
        <p:sp>
          <p:nvSpPr>
            <p:cNvPr id="21541" name="Line 31"/>
            <p:cNvSpPr>
              <a:spLocks noChangeShapeType="1"/>
            </p:cNvSpPr>
            <p:nvPr/>
          </p:nvSpPr>
          <p:spPr bwMode="auto">
            <a:xfrm>
              <a:off x="2400" y="331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1542" name="Line 32"/>
            <p:cNvSpPr>
              <a:spLocks noChangeShapeType="1"/>
            </p:cNvSpPr>
            <p:nvPr/>
          </p:nvSpPr>
          <p:spPr bwMode="auto">
            <a:xfrm>
              <a:off x="2448" y="326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1543" name="Line 33"/>
            <p:cNvSpPr>
              <a:spLocks noChangeShapeType="1"/>
            </p:cNvSpPr>
            <p:nvPr/>
          </p:nvSpPr>
          <p:spPr bwMode="auto">
            <a:xfrm>
              <a:off x="2496" y="32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685800" y="5105400"/>
            <a:ext cx="381000" cy="152400"/>
            <a:chOff x="1776" y="3216"/>
            <a:chExt cx="240" cy="96"/>
          </a:xfrm>
        </p:grpSpPr>
        <p:sp>
          <p:nvSpPr>
            <p:cNvPr id="21538" name="Line 35"/>
            <p:cNvSpPr>
              <a:spLocks noChangeShapeType="1"/>
            </p:cNvSpPr>
            <p:nvPr/>
          </p:nvSpPr>
          <p:spPr bwMode="auto">
            <a:xfrm>
              <a:off x="1776" y="331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1539" name="Line 36"/>
            <p:cNvSpPr>
              <a:spLocks noChangeShapeType="1"/>
            </p:cNvSpPr>
            <p:nvPr/>
          </p:nvSpPr>
          <p:spPr bwMode="auto">
            <a:xfrm>
              <a:off x="1824" y="326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1540" name="Line 37"/>
            <p:cNvSpPr>
              <a:spLocks noChangeShapeType="1"/>
            </p:cNvSpPr>
            <p:nvPr/>
          </p:nvSpPr>
          <p:spPr bwMode="auto">
            <a:xfrm>
              <a:off x="1872" y="32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1676400" y="5105400"/>
            <a:ext cx="381000" cy="152400"/>
            <a:chOff x="1776" y="3216"/>
            <a:chExt cx="240" cy="96"/>
          </a:xfrm>
        </p:grpSpPr>
        <p:sp>
          <p:nvSpPr>
            <p:cNvPr id="21535" name="Line 39"/>
            <p:cNvSpPr>
              <a:spLocks noChangeShapeType="1"/>
            </p:cNvSpPr>
            <p:nvPr/>
          </p:nvSpPr>
          <p:spPr bwMode="auto">
            <a:xfrm>
              <a:off x="1776" y="331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1536" name="Line 40"/>
            <p:cNvSpPr>
              <a:spLocks noChangeShapeType="1"/>
            </p:cNvSpPr>
            <p:nvPr/>
          </p:nvSpPr>
          <p:spPr bwMode="auto">
            <a:xfrm>
              <a:off x="1824" y="326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1537" name="Line 41"/>
            <p:cNvSpPr>
              <a:spLocks noChangeShapeType="1"/>
            </p:cNvSpPr>
            <p:nvPr/>
          </p:nvSpPr>
          <p:spPr bwMode="auto">
            <a:xfrm>
              <a:off x="1872" y="32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21532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CBC7D424-5785-4A82-B0AD-C2E101AC76FE}" type="slidenum">
              <a:rPr lang="he-IL" altLang="he-IL" sz="1000">
                <a:latin typeface="Verdana" pitchFamily="34" charset="0"/>
              </a:rPr>
              <a:pPr algn="r" rtl="1" eaLnBrk="1" hangingPunct="1"/>
              <a:t>17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  <p:pic>
        <p:nvPicPr>
          <p:cNvPr id="32" name="Picture 21" descr="C:\Documents and Settings\keren\Local Settings\Temporary Internet Files\Content.IE5\29ZK0QFU\MC900215228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375150"/>
            <a:ext cx="762000" cy="103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21" descr="C:\Documents and Settings\keren\Local Settings\Temporary Internet Files\Content.IE5\29ZK0QFU\MC900215228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375150"/>
            <a:ext cx="762000" cy="103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92163"/>
            <a:ext cx="8229600" cy="655637"/>
          </a:xfrm>
        </p:spPr>
        <p:txBody>
          <a:bodyPr/>
          <a:lstStyle/>
          <a:p>
            <a:pPr algn="r"/>
            <a:r>
              <a:rPr lang="he-IL" altLang="he-IL" sz="3600" smtClean="0"/>
              <a:t>דוגמא – רישום סטודנטים לכיתה דינאמית (1)</a:t>
            </a:r>
            <a:endParaRPr lang="en-US" altLang="he-IL" sz="3600" smtClean="0"/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229600" cy="4530725"/>
          </a:xfrm>
        </p:spPr>
        <p:txBody>
          <a:bodyPr/>
          <a:lstStyle/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#include &lt;stdio.h&gt;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#include &lt;stdlib.h&gt;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struct Student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char name[10];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int id;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} typedef student_t;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struct Class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char teacherName[10];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int numOfStudents;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int registeredStudents;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b="1" noProof="1" smtClean="0"/>
              <a:t>	student_t** students;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}typedef class_t;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void printClass(class_t c)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int i;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printf("The teacher is %s and the %d students are:\n", </a:t>
            </a:r>
            <a:endParaRPr lang="en-US" altLang="he-IL" sz="12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dirty="0" smtClean="0"/>
              <a:t>                    </a:t>
            </a:r>
            <a:r>
              <a:rPr lang="en-US" altLang="he-IL" sz="1200" noProof="1" smtClean="0"/>
              <a:t>c.teacherName, c.registeredStudents);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for (i=0 ; i &lt; c.registeredStudents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printf("  %d- Name: %s\tId: %d\n", </a:t>
            </a:r>
            <a:endParaRPr lang="en-US" altLang="he-IL" sz="12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dirty="0" smtClean="0"/>
              <a:t>                   </a:t>
            </a:r>
            <a:r>
              <a:rPr lang="en-US" altLang="he-IL" sz="1200" noProof="1" smtClean="0"/>
              <a:t>i+1, c.students[i]-&gt;name, c.students[i]-&gt;id);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he-IL" altLang="he-IL" sz="12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he-IL" altLang="he-IL" sz="1200" noProof="1" smtClean="0"/>
          </a:p>
        </p:txBody>
      </p:sp>
      <p:sp>
        <p:nvSpPr>
          <p:cNvPr id="188421" name="AutoShape 5"/>
          <p:cNvSpPr>
            <a:spLocks noChangeArrowheads="1"/>
          </p:cNvSpPr>
          <p:nvPr/>
        </p:nvSpPr>
        <p:spPr bwMode="auto">
          <a:xfrm>
            <a:off x="3505200" y="3048000"/>
            <a:ext cx="5334000" cy="1219200"/>
          </a:xfrm>
          <a:prstGeom prst="wedgeRectCallout">
            <a:avLst>
              <a:gd name="adj1" fmla="val -65352"/>
              <a:gd name="adj2" fmla="val 5128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r>
              <a:rPr lang="he-IL" altLang="he-IL" b="1" dirty="0">
                <a:solidFill>
                  <a:schemeClr val="bg1"/>
                </a:solidFill>
              </a:rPr>
              <a:t>מערך בגודל שאינו ידוע עדיין ושכל איבר בו יהיה מצביע</a:t>
            </a:r>
            <a:r>
              <a:rPr lang="en-US" altLang="he-IL" b="1" dirty="0">
                <a:solidFill>
                  <a:schemeClr val="bg1"/>
                </a:solidFill>
              </a:rPr>
              <a:t>:</a:t>
            </a:r>
          </a:p>
          <a:p>
            <a:pPr algn="r" rtl="1" eaLnBrk="1" hangingPunct="1">
              <a:buFont typeface="Arial" pitchFamily="34" charset="0"/>
              <a:buChar char="•"/>
            </a:pPr>
            <a:r>
              <a:rPr lang="he-IL" altLang="he-IL" b="1" dirty="0">
                <a:solidFill>
                  <a:schemeClr val="bg1"/>
                </a:solidFill>
              </a:rPr>
              <a:t>   כוכבית אחת כי זהו מערך </a:t>
            </a:r>
            <a:r>
              <a:rPr lang="he-IL" altLang="he-IL" b="1" dirty="0" smtClean="0">
                <a:solidFill>
                  <a:schemeClr val="bg1"/>
                </a:solidFill>
              </a:rPr>
              <a:t>שמוקצה </a:t>
            </a:r>
            <a:r>
              <a:rPr lang="he-IL" altLang="he-IL" b="1" dirty="0">
                <a:solidFill>
                  <a:schemeClr val="bg1"/>
                </a:solidFill>
              </a:rPr>
              <a:t>דינאמית, כדי </a:t>
            </a:r>
          </a:p>
          <a:p>
            <a:pPr algn="r" rtl="1" eaLnBrk="1" hangingPunct="1"/>
            <a:r>
              <a:rPr lang="he-IL" altLang="he-IL" b="1" dirty="0">
                <a:solidFill>
                  <a:schemeClr val="bg1"/>
                </a:solidFill>
              </a:rPr>
              <a:t>    להכיל את כתובת תחילת </a:t>
            </a:r>
            <a:r>
              <a:rPr lang="he-IL" altLang="he-IL" b="1" dirty="0" smtClean="0">
                <a:solidFill>
                  <a:schemeClr val="bg1"/>
                </a:solidFill>
              </a:rPr>
              <a:t>המערך.</a:t>
            </a:r>
            <a:endParaRPr lang="he-IL" altLang="he-IL" b="1" dirty="0">
              <a:solidFill>
                <a:schemeClr val="bg1"/>
              </a:solidFill>
            </a:endParaRPr>
          </a:p>
          <a:p>
            <a:pPr algn="r" rtl="1" eaLnBrk="1" hangingPunct="1">
              <a:buFont typeface="Arial" pitchFamily="34" charset="0"/>
              <a:buChar char="•"/>
            </a:pPr>
            <a:r>
              <a:rPr lang="he-IL" altLang="he-IL" b="1" dirty="0">
                <a:solidFill>
                  <a:schemeClr val="bg1"/>
                </a:solidFill>
              </a:rPr>
              <a:t>   כוכבית שניה כי כל איבר במערך הוא </a:t>
            </a:r>
            <a:r>
              <a:rPr lang="he-IL" altLang="he-IL" b="1" dirty="0" smtClean="0">
                <a:solidFill>
                  <a:schemeClr val="bg1"/>
                </a:solidFill>
              </a:rPr>
              <a:t>כתובת.</a:t>
            </a:r>
            <a:endParaRPr lang="he-IL" altLang="he-IL" b="1" dirty="0">
              <a:solidFill>
                <a:schemeClr val="bg1"/>
              </a:solidFill>
            </a:endParaRPr>
          </a:p>
        </p:txBody>
      </p:sp>
      <p:sp>
        <p:nvSpPr>
          <p:cNvPr id="22533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765A3B23-1D7E-475F-9D3D-DF6931D948F8}" type="slidenum">
              <a:rPr lang="he-IL" altLang="he-IL" sz="1000">
                <a:latin typeface="Verdana" pitchFamily="34" charset="0"/>
              </a:rPr>
              <a:pPr algn="r" rtl="1" eaLnBrk="1" hangingPunct="1"/>
              <a:t>18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655638"/>
          </a:xfrm>
        </p:spPr>
        <p:txBody>
          <a:bodyPr/>
          <a:lstStyle/>
          <a:p>
            <a:pPr algn="r"/>
            <a:r>
              <a:rPr lang="he-IL" altLang="he-IL" sz="3600" smtClean="0"/>
              <a:t>דוגמא – רישום סטודנטים לכיתה דינאמית (2)</a:t>
            </a:r>
            <a:endParaRPr lang="en-US" altLang="he-IL" sz="3600" smtClean="0"/>
          </a:p>
        </p:txBody>
      </p:sp>
      <p:sp>
        <p:nvSpPr>
          <p:cNvPr id="185348" name="Rectangle 4"/>
          <p:cNvSpPr>
            <a:spLocks noChangeArrowheads="1"/>
          </p:cNvSpPr>
          <p:nvPr/>
        </p:nvSpPr>
        <p:spPr bwMode="auto">
          <a:xfrm>
            <a:off x="0" y="41275"/>
            <a:ext cx="8229600" cy="681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he-IL" altLang="he-IL" sz="1200" noProof="1">
              <a:solidFill>
                <a:srgbClr val="009900"/>
              </a:solidFill>
              <a:latin typeface="Verdana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void main()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int i, fExit=0;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char answer;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class_t 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 = </a:t>
            </a:r>
            <a:r>
              <a:rPr lang="en-US" altLang="he-IL" sz="1200" noProof="1" smtClean="0">
                <a:latin typeface="Verdana" pitchFamily="34" charset="0"/>
              </a:rPr>
              <a:t>{"sagie"};</a:t>
            </a:r>
            <a:endParaRPr lang="en-US" altLang="he-IL" sz="1200" noProof="1">
              <a:latin typeface="Verdana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printf("How many max students? ");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scanf("%d", &amp;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.numOfStudents);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.students = (student_t**)malloc(sizeof(student_t*)*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.numOfStudents);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noProof="1">
                <a:solidFill>
                  <a:srgbClr val="009900"/>
                </a:solidFill>
                <a:latin typeface="Verdana" pitchFamily="34" charset="0"/>
              </a:rPr>
              <a:t>// check if allocation succeeded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endParaRPr lang="en-US" altLang="he-IL" sz="1200" dirty="0">
              <a:latin typeface="Verdana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dirty="0">
                <a:latin typeface="Verdana" pitchFamily="34" charset="0"/>
              </a:rPr>
              <a:t>      </a:t>
            </a:r>
            <a:r>
              <a:rPr lang="en-US" altLang="he-IL" sz="1200" noProof="1">
                <a:latin typeface="Verdana" pitchFamily="34" charset="0"/>
              </a:rPr>
              <a:t>do {</a:t>
            </a:r>
            <a:endParaRPr lang="en-US" altLang="he-IL" sz="1200" dirty="0">
              <a:latin typeface="Verdana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dirty="0">
                <a:latin typeface="Verdana" pitchFamily="34" charset="0"/>
              </a:rPr>
              <a:t>	    </a:t>
            </a:r>
            <a:r>
              <a:rPr lang="en-US" altLang="he-IL" sz="1200" noProof="1">
                <a:latin typeface="Verdana" pitchFamily="34" charset="0"/>
              </a:rPr>
              <a:t>if (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.registeredStudents == 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.numOfStudents)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</a:t>
            </a:r>
            <a:r>
              <a:rPr lang="en-US" altLang="he-IL" sz="1200" noProof="1">
                <a:latin typeface="Verdana" pitchFamily="34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	printf("Class is full!\n");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	break;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</a:t>
            </a:r>
            <a:r>
              <a:rPr lang="en-US" altLang="he-IL" sz="1200" noProof="1">
                <a:latin typeface="Verdana" pitchFamily="34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</a:t>
            </a:r>
            <a:r>
              <a:rPr lang="en-US" altLang="he-IL" sz="1200" noProof="1">
                <a:latin typeface="Verdana" pitchFamily="34" charset="0"/>
              </a:rPr>
              <a:t>printf("Register a student (Y/N)? ");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</a:t>
            </a:r>
            <a:r>
              <a:rPr lang="en-US" altLang="he-IL" sz="1200" noProof="1">
                <a:latin typeface="Verdana" pitchFamily="34" charset="0"/>
              </a:rPr>
              <a:t>flushall();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s</a:t>
            </a:r>
            <a:r>
              <a:rPr lang="en-US" altLang="he-IL" sz="1200" noProof="1">
                <a:latin typeface="Verdana" pitchFamily="34" charset="0"/>
              </a:rPr>
              <a:t>canf("%c", &amp;answer);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</a:t>
            </a:r>
            <a:r>
              <a:rPr lang="en-US" altLang="he-IL" sz="1200" noProof="1">
                <a:latin typeface="Verdana" pitchFamily="34" charset="0"/>
              </a:rPr>
              <a:t>if (answer == 'N')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    </a:t>
            </a:r>
            <a:r>
              <a:rPr lang="en-US" altLang="he-IL" sz="1200" noProof="1">
                <a:latin typeface="Verdana" pitchFamily="34" charset="0"/>
              </a:rPr>
              <a:t>fExit = 1;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</a:t>
            </a:r>
            <a:r>
              <a:rPr lang="en-US" altLang="he-IL" sz="1200" noProof="1">
                <a:latin typeface="Verdana" pitchFamily="34" charset="0"/>
              </a:rPr>
              <a:t>else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</a:t>
            </a:r>
            <a:r>
              <a:rPr lang="en-US" altLang="he-IL" sz="1200" noProof="1">
                <a:latin typeface="Verdana" pitchFamily="34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       c</a:t>
            </a:r>
            <a:r>
              <a:rPr lang="en-US" altLang="he-IL" sz="1200" noProof="1">
                <a:latin typeface="Verdana" pitchFamily="34" charset="0"/>
              </a:rPr>
              <a:t>.students[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.registeredStudents] =</a:t>
            </a:r>
            <a:endParaRPr lang="en-US" altLang="he-IL" sz="1200" dirty="0">
              <a:latin typeface="Verdana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dirty="0">
                <a:latin typeface="Verdana" pitchFamily="34" charset="0"/>
              </a:rPr>
              <a:t>                                    </a:t>
            </a:r>
            <a:r>
              <a:rPr lang="en-US" altLang="he-IL" sz="1200" noProof="1">
                <a:latin typeface="Verdana" pitchFamily="34" charset="0"/>
              </a:rPr>
              <a:t> (student_t*)calloc(1, sizeof(student_t));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       </a:t>
            </a:r>
            <a:r>
              <a:rPr lang="en-US" altLang="he-IL" sz="1200" noProof="1">
                <a:latin typeface="Verdana" pitchFamily="34" charset="0"/>
              </a:rPr>
              <a:t>printf("Enter name and id: ");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	</a:t>
            </a:r>
            <a:r>
              <a:rPr lang="en-US" altLang="he-IL" sz="1200" dirty="0">
                <a:latin typeface="Verdana" pitchFamily="34" charset="0"/>
              </a:rPr>
              <a:t> </a:t>
            </a:r>
            <a:r>
              <a:rPr lang="en-US" altLang="he-IL" sz="1200" noProof="1">
                <a:latin typeface="Verdana" pitchFamily="34" charset="0"/>
              </a:rPr>
              <a:t>scanf("%s %d", 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.students[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.registeredStudents]-&gt;name,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	</a:t>
            </a:r>
            <a:r>
              <a:rPr lang="en-US" altLang="he-IL" sz="1200" dirty="0">
                <a:latin typeface="Verdana" pitchFamily="34" charset="0"/>
              </a:rPr>
              <a:t>                </a:t>
            </a:r>
            <a:r>
              <a:rPr lang="en-US" altLang="he-IL" sz="1200" noProof="1">
                <a:latin typeface="Verdana" pitchFamily="34" charset="0"/>
              </a:rPr>
              <a:t>        &amp;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.students[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.registeredStudents]-&gt;id);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	</a:t>
            </a:r>
            <a:r>
              <a:rPr lang="en-US" altLang="he-IL" sz="1200" dirty="0">
                <a:latin typeface="Verdana" pitchFamily="34" charset="0"/>
              </a:rPr>
              <a:t> c</a:t>
            </a:r>
            <a:r>
              <a:rPr lang="en-US" altLang="he-IL" sz="1200" noProof="1">
                <a:latin typeface="Verdana" pitchFamily="34" charset="0"/>
              </a:rPr>
              <a:t>.registeredStudents++;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     </a:t>
            </a:r>
            <a:r>
              <a:rPr lang="en-US" altLang="he-IL" sz="1200" noProof="1">
                <a:latin typeface="Verdana" pitchFamily="34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dirty="0">
                <a:latin typeface="Verdana" pitchFamily="34" charset="0"/>
              </a:rPr>
              <a:t>   </a:t>
            </a:r>
            <a:r>
              <a:rPr lang="en-US" altLang="he-IL" sz="1200" noProof="1">
                <a:latin typeface="Verdana" pitchFamily="34" charset="0"/>
              </a:rPr>
              <a:t>	</a:t>
            </a:r>
            <a:r>
              <a:rPr lang="en-US" altLang="he-IL" sz="1200" dirty="0">
                <a:latin typeface="Verdana" pitchFamily="34" charset="0"/>
              </a:rPr>
              <a:t>} </a:t>
            </a:r>
            <a:r>
              <a:rPr lang="en-US" altLang="he-IL" sz="1200" noProof="1">
                <a:latin typeface="Verdana" pitchFamily="34" charset="0"/>
              </a:rPr>
              <a:t>while (fExit==0);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printClass(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for (i=0 ; i &lt; 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.registeredStudents ; i++)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	free(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.students[i]);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	free(</a:t>
            </a:r>
            <a:r>
              <a:rPr lang="en-US" altLang="he-IL" sz="1200" dirty="0">
                <a:latin typeface="Verdana" pitchFamily="34" charset="0"/>
              </a:rPr>
              <a:t>c</a:t>
            </a:r>
            <a:r>
              <a:rPr lang="en-US" altLang="he-IL" sz="1200" noProof="1">
                <a:latin typeface="Verdana" pitchFamily="34" charset="0"/>
              </a:rPr>
              <a:t>.students);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altLang="he-IL" sz="1200" dirty="0">
              <a:latin typeface="Verdana" pitchFamily="34" charset="0"/>
            </a:endParaRPr>
          </a:p>
        </p:txBody>
      </p:sp>
      <p:sp>
        <p:nvSpPr>
          <p:cNvPr id="185350" name="AutoShape 6"/>
          <p:cNvSpPr>
            <a:spLocks noChangeArrowheads="1"/>
          </p:cNvSpPr>
          <p:nvPr/>
        </p:nvSpPr>
        <p:spPr bwMode="auto">
          <a:xfrm>
            <a:off x="3810000" y="685800"/>
            <a:ext cx="4724400" cy="381000"/>
          </a:xfrm>
          <a:prstGeom prst="wedgeRectCallout">
            <a:avLst>
              <a:gd name="adj1" fmla="val -66287"/>
              <a:gd name="adj2" fmla="val 14208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קבלת מספר הסטודנטים המקסימלי מהמשתמש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185351" name="AutoShape 7"/>
          <p:cNvSpPr>
            <a:spLocks noChangeArrowheads="1"/>
          </p:cNvSpPr>
          <p:nvPr/>
        </p:nvSpPr>
        <p:spPr bwMode="auto">
          <a:xfrm>
            <a:off x="4953000" y="1752600"/>
            <a:ext cx="3581400" cy="381000"/>
          </a:xfrm>
          <a:prstGeom prst="wedgeRectCallout">
            <a:avLst>
              <a:gd name="adj1" fmla="val -104611"/>
              <a:gd name="adj2" fmla="val -7361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he-IL" altLang="he-IL" b="1">
                <a:solidFill>
                  <a:schemeClr val="bg1"/>
                </a:solidFill>
              </a:rPr>
              <a:t>הקצאת מערך של מצביעים לסטודנט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185352" name="AutoShape 8"/>
          <p:cNvSpPr>
            <a:spLocks noChangeArrowheads="1"/>
          </p:cNvSpPr>
          <p:nvPr/>
        </p:nvSpPr>
        <p:spPr bwMode="auto">
          <a:xfrm>
            <a:off x="4038600" y="5486400"/>
            <a:ext cx="3200400" cy="381000"/>
          </a:xfrm>
          <a:prstGeom prst="wedgeRectCallout">
            <a:avLst>
              <a:gd name="adj1" fmla="val -97954"/>
              <a:gd name="adj2" fmla="val 18442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he-IL" altLang="he-IL" b="1">
                <a:solidFill>
                  <a:schemeClr val="bg1"/>
                </a:solidFill>
              </a:rPr>
              <a:t>שיחרור כל אחד מאיברי המערך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185353" name="AutoShape 9"/>
          <p:cNvSpPr>
            <a:spLocks noChangeArrowheads="1"/>
          </p:cNvSpPr>
          <p:nvPr/>
        </p:nvSpPr>
        <p:spPr bwMode="auto">
          <a:xfrm>
            <a:off x="4038600" y="5943600"/>
            <a:ext cx="4419600" cy="609600"/>
          </a:xfrm>
          <a:prstGeom prst="wedgeRectCallout">
            <a:avLst>
              <a:gd name="adj1" fmla="val -101787"/>
              <a:gd name="adj2" fmla="val 5247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he-IL" altLang="he-IL" b="1">
                <a:solidFill>
                  <a:schemeClr val="bg1"/>
                </a:solidFill>
              </a:rPr>
              <a:t>שיחרור מערך המצביעים שגם הוקצה דינאמית</a:t>
            </a:r>
            <a:endParaRPr lang="en-US" altLang="he-IL" b="1">
              <a:solidFill>
                <a:schemeClr val="bg1"/>
              </a:solidFill>
            </a:endParaRPr>
          </a:p>
          <a:p>
            <a:pPr algn="ctr" eaLnBrk="1" hangingPunct="1"/>
            <a:r>
              <a:rPr lang="he-IL" altLang="he-IL" b="1">
                <a:solidFill>
                  <a:schemeClr val="bg1"/>
                </a:solidFill>
              </a:rPr>
              <a:t>(כמו בדוגמא "מערך של מערכים")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23560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DC7AB438-1C5A-445A-9158-B7186EC288D5}" type="slidenum">
              <a:rPr lang="he-IL" altLang="he-IL" sz="1000">
                <a:latin typeface="Verdana" pitchFamily="34" charset="0"/>
              </a:rPr>
              <a:pPr algn="r" rtl="1" eaLnBrk="1" hangingPunct="1"/>
              <a:t>19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r" eaLnBrk="1" hangingPunct="1"/>
            <a:r>
              <a:rPr lang="he-IL" altLang="he-IL" smtClean="0"/>
              <a:t>ביחידה זו למדנו:</a:t>
            </a:r>
            <a:endParaRPr lang="en-US" altLang="he-IL" smtClean="0"/>
          </a:p>
        </p:txBody>
      </p:sp>
      <p:sp>
        <p:nvSpPr>
          <p:cNvPr id="26627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דוגמאות משולבות למבנים והקצאות </a:t>
            </a:r>
            <a:r>
              <a:rPr lang="he-IL" altLang="he-IL" dirty="0" smtClean="0"/>
              <a:t>דינאמיות.</a:t>
            </a:r>
            <a:endParaRPr lang="he-IL" altLang="he-IL" dirty="0" smtClean="0"/>
          </a:p>
        </p:txBody>
      </p:sp>
      <p:sp>
        <p:nvSpPr>
          <p:cNvPr id="26628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C735C57A-3773-4652-A0AE-2E34D85E6BF6}" type="slidenum">
              <a:rPr lang="he-IL" altLang="he-IL" sz="1000">
                <a:latin typeface="Verdana" pitchFamily="34" charset="0"/>
              </a:rPr>
              <a:pPr algn="r" rtl="1" eaLnBrk="1" hangingPunct="1"/>
              <a:t>20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r" eaLnBrk="1" hangingPunct="1"/>
            <a:r>
              <a:rPr lang="he-IL" altLang="he-IL" smtClean="0"/>
              <a:t>תרגיל 1:</a:t>
            </a:r>
            <a:endParaRPr lang="en-US" altLang="he-IL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הגדר את המבנה </a:t>
            </a:r>
            <a:r>
              <a:rPr lang="en-US" altLang="he-IL" dirty="0" smtClean="0"/>
              <a:t>Point</a:t>
            </a:r>
            <a:r>
              <a:rPr lang="he-IL" altLang="he-IL" dirty="0" smtClean="0"/>
              <a:t> אשר נתוניו הם </a:t>
            </a:r>
            <a:r>
              <a:rPr lang="en-US" altLang="he-IL" dirty="0" smtClean="0"/>
              <a:t>x</a:t>
            </a:r>
            <a:r>
              <a:rPr lang="he-IL" altLang="he-IL" dirty="0" smtClean="0"/>
              <a:t> ו- </a:t>
            </a:r>
            <a:r>
              <a:rPr lang="en-US" altLang="he-IL" dirty="0" smtClean="0"/>
              <a:t>y</a:t>
            </a:r>
            <a:endParaRPr lang="he-IL" altLang="he-IL" dirty="0" smtClean="0"/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הגדר את המבנה </a:t>
            </a:r>
            <a:r>
              <a:rPr lang="en-US" altLang="he-IL" dirty="0" smtClean="0"/>
              <a:t>Polygon</a:t>
            </a:r>
            <a:r>
              <a:rPr lang="he-IL" altLang="he-IL" dirty="0" smtClean="0"/>
              <a:t> אשר נתוניו הם מספר </a:t>
            </a:r>
            <a:r>
              <a:rPr lang="he-IL" altLang="he-IL" dirty="0" err="1" smtClean="0"/>
              <a:t>הקודקודים</a:t>
            </a:r>
            <a:r>
              <a:rPr lang="he-IL" altLang="he-IL" dirty="0" smtClean="0"/>
              <a:t> שלו וכן מערך </a:t>
            </a:r>
            <a:r>
              <a:rPr lang="he-IL" altLang="he-IL" dirty="0" err="1" smtClean="0"/>
              <a:t>לקודקודים</a:t>
            </a:r>
            <a:endParaRPr lang="he-IL" altLang="he-IL" dirty="0" smtClean="0"/>
          </a:p>
          <a:p>
            <a:pPr eaLnBrk="1" hangingPunct="1">
              <a:lnSpc>
                <a:spcPct val="90000"/>
              </a:lnSpc>
            </a:pPr>
            <a:endParaRPr lang="he-IL" altLang="he-IL" dirty="0" smtClean="0"/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הגדר ב- </a:t>
            </a:r>
            <a:r>
              <a:rPr lang="en-US" altLang="he-IL" dirty="0" smtClean="0"/>
              <a:t>main</a:t>
            </a:r>
            <a:r>
              <a:rPr lang="he-IL" altLang="he-IL" dirty="0" smtClean="0"/>
              <a:t> 3 נקודות ואתחל את ערכיהן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הגדר פוליגון ושאל את המשתמש לכמות </a:t>
            </a:r>
            <a:r>
              <a:rPr lang="he-IL" altLang="he-IL" dirty="0" err="1" smtClean="0"/>
              <a:t>קודקודיו</a:t>
            </a:r>
            <a:endParaRPr lang="he-IL" altLang="he-IL" dirty="0" smtClean="0"/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3 </a:t>
            </a:r>
            <a:r>
              <a:rPr lang="he-IL" altLang="he-IL" dirty="0" err="1" smtClean="0"/>
              <a:t>הקודקודים</a:t>
            </a:r>
            <a:r>
              <a:rPr lang="he-IL" altLang="he-IL" dirty="0" smtClean="0"/>
              <a:t> הראשונים יהיו 3 הנקודות שהוגדרו מקודם, ושאר </a:t>
            </a:r>
            <a:r>
              <a:rPr lang="he-IL" altLang="he-IL" dirty="0" err="1" smtClean="0"/>
              <a:t>הקודקודים</a:t>
            </a:r>
            <a:r>
              <a:rPr lang="he-IL" altLang="he-IL" dirty="0" smtClean="0"/>
              <a:t> יוגרלו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הדפס את נתוני הפוליגון</a:t>
            </a:r>
          </a:p>
        </p:txBody>
      </p:sp>
      <p:sp>
        <p:nvSpPr>
          <p:cNvPr id="27652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56FDC8E7-BFD3-4633-B3BD-C879AC289DD2}" type="slidenum">
              <a:rPr lang="he-IL" altLang="he-IL" sz="1000">
                <a:latin typeface="Verdana" pitchFamily="34" charset="0"/>
              </a:rPr>
              <a:pPr algn="r" rtl="1" eaLnBrk="1" hangingPunct="1"/>
              <a:t>21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r" eaLnBrk="1" hangingPunct="1"/>
            <a:r>
              <a:rPr lang="he-IL" altLang="he-IL" smtClean="0"/>
              <a:t>תרגיל 2:</a:t>
            </a:r>
            <a:endParaRPr lang="en-US" altLang="he-IL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הגדר את המבנה </a:t>
            </a:r>
            <a:r>
              <a:rPr lang="en-US" altLang="he-IL" dirty="0" smtClean="0"/>
              <a:t>Person</a:t>
            </a:r>
            <a:r>
              <a:rPr lang="he-IL" altLang="he-IL" dirty="0" smtClean="0"/>
              <a:t> ששדותיו הם שם (הגודל אינו מוגבל) </a:t>
            </a:r>
            <a:r>
              <a:rPr lang="he-IL" altLang="he-IL" dirty="0" err="1" smtClean="0"/>
              <a:t>ות.ז</a:t>
            </a:r>
            <a:r>
              <a:rPr lang="he-IL" altLang="he-IL" dirty="0" smtClean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הגדר את המבנה </a:t>
            </a:r>
            <a:r>
              <a:rPr lang="en-US" altLang="he-IL" dirty="0" smtClean="0"/>
              <a:t>Family</a:t>
            </a:r>
            <a:r>
              <a:rPr lang="he-IL" altLang="he-IL" dirty="0" smtClean="0"/>
              <a:t> שנתוניו הם אבא </a:t>
            </a:r>
            <a:r>
              <a:rPr lang="he-IL" altLang="he-IL" dirty="0" err="1" smtClean="0"/>
              <a:t>ואמא</a:t>
            </a:r>
            <a:r>
              <a:rPr lang="he-IL" altLang="he-IL" dirty="0" smtClean="0"/>
              <a:t> (מטיפוס </a:t>
            </a:r>
            <a:r>
              <a:rPr lang="en-US" altLang="he-IL" dirty="0" smtClean="0"/>
              <a:t>Person</a:t>
            </a:r>
            <a:r>
              <a:rPr lang="he-IL" altLang="he-IL" dirty="0" smtClean="0"/>
              <a:t>), וכן מערך של 10 מצביעים ל- </a:t>
            </a:r>
            <a:r>
              <a:rPr lang="en-US" altLang="he-IL" dirty="0" smtClean="0"/>
              <a:t>Person</a:t>
            </a:r>
            <a:r>
              <a:rPr lang="he-IL" altLang="he-IL" dirty="0" smtClean="0"/>
              <a:t> שייצג את הכמות המקסימלית של ילדים </a:t>
            </a:r>
            <a:r>
              <a:rPr lang="he-IL" altLang="he-IL" dirty="0" smtClean="0"/>
              <a:t>במשפחה.</a:t>
            </a:r>
            <a:endParaRPr lang="he-IL" altLang="he-IL" dirty="0" smtClean="0"/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כתוב פונקציות לקליטת </a:t>
            </a:r>
            <a:r>
              <a:rPr lang="he-IL" altLang="he-IL" dirty="0" smtClean="0"/>
              <a:t>הנתונים.</a:t>
            </a:r>
            <a:endParaRPr lang="he-IL" altLang="he-IL" dirty="0" smtClean="0"/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כתוב פונקציות להדפסת </a:t>
            </a:r>
            <a:r>
              <a:rPr lang="he-IL" altLang="he-IL" dirty="0" smtClean="0"/>
              <a:t>הנתונים.</a:t>
            </a:r>
            <a:endParaRPr lang="he-IL" altLang="he-IL" dirty="0" smtClean="0"/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כתוב </a:t>
            </a:r>
            <a:r>
              <a:rPr lang="en-US" altLang="he-IL" dirty="0" smtClean="0"/>
              <a:t>main</a:t>
            </a:r>
            <a:r>
              <a:rPr lang="he-IL" altLang="he-IL" dirty="0" smtClean="0"/>
              <a:t> הבודק את </a:t>
            </a:r>
            <a:r>
              <a:rPr lang="he-IL" altLang="he-IL" dirty="0" smtClean="0"/>
              <a:t>התוכנית.</a:t>
            </a:r>
            <a:endParaRPr lang="he-IL" altLang="he-IL" dirty="0" smtClean="0"/>
          </a:p>
          <a:p>
            <a:pPr eaLnBrk="1" hangingPunct="1">
              <a:lnSpc>
                <a:spcPct val="90000"/>
              </a:lnSpc>
            </a:pPr>
            <a:endParaRPr lang="he-IL" altLang="he-IL" dirty="0" smtClean="0"/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יש להקפיד על מודולריות!</a:t>
            </a:r>
          </a:p>
        </p:txBody>
      </p:sp>
      <p:sp>
        <p:nvSpPr>
          <p:cNvPr id="28676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E8EA6CEF-20DE-4960-9036-D0604C1A89E3}" type="slidenum">
              <a:rPr lang="he-IL" altLang="he-IL" sz="1000">
                <a:latin typeface="Verdana" pitchFamily="34" charset="0"/>
              </a:rPr>
              <a:pPr algn="r" rtl="1" eaLnBrk="1" hangingPunct="1"/>
              <a:t>22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r" eaLnBrk="1" hangingPunct="1"/>
            <a:r>
              <a:rPr lang="he-IL" altLang="he-IL" smtClean="0"/>
              <a:t>תרגיל  3 </a:t>
            </a:r>
            <a:r>
              <a:rPr lang="he-IL" altLang="he-IL" sz="3200" smtClean="0"/>
              <a:t>(1)</a:t>
            </a:r>
            <a:r>
              <a:rPr lang="he-IL" altLang="he-IL" smtClean="0"/>
              <a:t>:</a:t>
            </a:r>
            <a:endParaRPr lang="en-US" altLang="he-IL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>
              <a:defRPr/>
            </a:pPr>
            <a:r>
              <a:rPr lang="he-IL" dirty="0" smtClean="0"/>
              <a:t>כתוב את המבנה </a:t>
            </a:r>
            <a:r>
              <a:rPr lang="en-US" dirty="0" smtClean="0"/>
              <a:t>Friend</a:t>
            </a:r>
            <a:r>
              <a:rPr lang="he-IL" dirty="0" smtClean="0"/>
              <a:t> המכיל שם ואת המרחק ממנו הוא גר ממני (בק"מ)</a:t>
            </a: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he-IL" dirty="0" smtClean="0"/>
              <a:t>את אוסף החברים שלי נפריד לקבוצות לפי המרחק שבו הם גרים ממני:</a:t>
            </a:r>
            <a:endParaRPr lang="en-US" dirty="0" smtClean="0"/>
          </a:p>
          <a:p>
            <a:pPr lvl="1">
              <a:defRPr/>
            </a:pPr>
            <a:r>
              <a:rPr lang="he-IL" dirty="0" smtClean="0">
                <a:ea typeface="+mn-ea"/>
              </a:rPr>
              <a:t>חברים שניתן ללכת אליהם ברגל: גרים עד 2 ק"מ ממני</a:t>
            </a:r>
            <a:endParaRPr lang="en-US" dirty="0" smtClean="0">
              <a:ea typeface="+mn-ea"/>
            </a:endParaRPr>
          </a:p>
          <a:p>
            <a:pPr lvl="1">
              <a:defRPr/>
            </a:pPr>
            <a:r>
              <a:rPr lang="he-IL" dirty="0" smtClean="0">
                <a:ea typeface="+mn-ea"/>
              </a:rPr>
              <a:t>חברים שניתן לרכוב אליהם באופניים: גרים עד 5 ק"מ ממני</a:t>
            </a:r>
            <a:endParaRPr lang="en-US" dirty="0" smtClean="0">
              <a:ea typeface="+mn-ea"/>
            </a:endParaRPr>
          </a:p>
          <a:p>
            <a:pPr lvl="1">
              <a:defRPr/>
            </a:pPr>
            <a:r>
              <a:rPr lang="he-IL" dirty="0" smtClean="0">
                <a:ea typeface="+mn-ea"/>
              </a:rPr>
              <a:t>חברים שצריך לנסוע אליהם באוטו: גרים במרחק הגדול מ- 5 ק"מ ממני</a:t>
            </a:r>
            <a:endParaRPr lang="en-US" dirty="0" smtClean="0">
              <a:ea typeface="+mn-ea"/>
            </a:endParaRPr>
          </a:p>
          <a:p>
            <a:pPr>
              <a:defRPr/>
            </a:pPr>
            <a:endParaRPr lang="en-US" dirty="0" smtClean="0"/>
          </a:p>
        </p:txBody>
      </p:sp>
      <p:sp>
        <p:nvSpPr>
          <p:cNvPr id="29700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20390C70-98B7-4D1E-A4DD-26E0E2DB81AD}" type="slidenum">
              <a:rPr lang="he-IL" altLang="he-IL" sz="1000">
                <a:latin typeface="Verdana" pitchFamily="34" charset="0"/>
              </a:rPr>
              <a:pPr algn="r" rtl="1" eaLnBrk="1" hangingPunct="1"/>
              <a:t>23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457200" y="1565275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r" rtl="1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/>
            </a:pPr>
            <a:r>
              <a:rPr lang="he-IL" sz="2800" kern="0" dirty="0">
                <a:latin typeface="+mn-lt"/>
                <a:cs typeface="+mn-cs"/>
              </a:rPr>
              <a:t>עבור מערך החברים הבא:</a:t>
            </a:r>
          </a:p>
          <a:p>
            <a:pPr marL="342900" indent="-342900" algn="r" rtl="1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/>
            </a:pPr>
            <a:endParaRPr lang="he-IL" sz="2800" kern="0" dirty="0">
              <a:latin typeface="+mn-lt"/>
              <a:cs typeface="+mn-cs"/>
            </a:endParaRPr>
          </a:p>
          <a:p>
            <a:pPr marL="342900" indent="-342900" algn="r" rtl="1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/>
            </a:pPr>
            <a:endParaRPr lang="he-IL" sz="2800" kern="0" dirty="0">
              <a:latin typeface="+mn-lt"/>
              <a:cs typeface="+mn-cs"/>
            </a:endParaRPr>
          </a:p>
          <a:p>
            <a:pPr marL="342900" indent="-342900" algn="r" rtl="1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/>
            </a:pPr>
            <a:r>
              <a:rPr lang="he-IL" sz="2800" kern="0" dirty="0">
                <a:latin typeface="+mn-lt"/>
                <a:cs typeface="+mn-cs"/>
              </a:rPr>
              <a:t>נייצר את 3 המערכים הבאים:</a:t>
            </a:r>
          </a:p>
          <a:p>
            <a:pPr marL="342900" indent="-342900" algn="r" rtl="1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/>
            </a:pPr>
            <a:endParaRPr lang="he-IL" sz="2800" kern="0" dirty="0">
              <a:latin typeface="+mn-lt"/>
              <a:cs typeface="+mn-cs"/>
            </a:endParaRPr>
          </a:p>
          <a:p>
            <a:pPr marL="342900" indent="-342900" algn="r" rtl="1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/>
            </a:pPr>
            <a:endParaRPr lang="he-IL" sz="2800" kern="0" dirty="0">
              <a:latin typeface="+mn-lt"/>
              <a:cs typeface="+mn-cs"/>
            </a:endParaRPr>
          </a:p>
          <a:p>
            <a:pPr marL="342900" indent="-342900" algn="r" rtl="1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/>
            </a:pPr>
            <a:endParaRPr lang="he-IL" sz="2800" kern="0" dirty="0">
              <a:latin typeface="+mn-lt"/>
              <a:cs typeface="+mn-cs"/>
            </a:endParaRPr>
          </a:p>
          <a:p>
            <a:pPr marL="342900" indent="-342900" algn="r" rtl="1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/>
            </a:pPr>
            <a:r>
              <a:rPr lang="he-IL" sz="2800" dirty="0"/>
              <a:t>ולבסוף נחזיר מערך שיכיל את הכתובות של מערכים אלו:</a:t>
            </a:r>
            <a:endParaRPr lang="en-US" sz="2800" dirty="0"/>
          </a:p>
          <a:p>
            <a:pPr marL="342900" indent="-342900" algn="r" rtl="1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/>
            </a:pPr>
            <a:endParaRPr lang="en-US" sz="2800" kern="0" dirty="0">
              <a:latin typeface="+mn-lt"/>
              <a:cs typeface="+mn-cs"/>
            </a:endParaRPr>
          </a:p>
        </p:txBody>
      </p:sp>
      <p:sp>
        <p:nvSpPr>
          <p:cNvPr id="307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eaLnBrk="1" hangingPunct="1"/>
            <a:r>
              <a:rPr lang="he-IL" altLang="he-IL" smtClean="0"/>
              <a:t>תרגיל  3 </a:t>
            </a:r>
            <a:r>
              <a:rPr lang="he-IL" altLang="he-IL" sz="3200" smtClean="0"/>
              <a:t>(2)</a:t>
            </a:r>
            <a:r>
              <a:rPr lang="he-IL" altLang="he-IL" smtClean="0"/>
              <a:t>:</a:t>
            </a:r>
            <a:endParaRPr lang="en-US" altLang="he-IL" smtClean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2209800"/>
          <a:ext cx="8229600" cy="665163"/>
        </p:xfrm>
        <a:graphic>
          <a:graphicData uri="http://schemas.openxmlformats.org/drawingml/2006/table">
            <a:tbl>
              <a:tblPr rtl="1"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65163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ourier New"/>
                          <a:ea typeface="Times New Roman"/>
                        </a:rPr>
                        <a:t>{</a:t>
                      </a:r>
                      <a:r>
                        <a:rPr lang="en-US" sz="1800" dirty="0">
                          <a:solidFill>
                            <a:srgbClr val="A31515"/>
                          </a:solidFill>
                          <a:latin typeface="Courier New"/>
                          <a:ea typeface="Times New Roman"/>
                        </a:rPr>
                        <a:t>"</a:t>
                      </a:r>
                      <a:r>
                        <a:rPr lang="en-US" sz="1800" dirty="0" err="1">
                          <a:solidFill>
                            <a:srgbClr val="A31515"/>
                          </a:solidFill>
                          <a:latin typeface="Courier New"/>
                          <a:ea typeface="Times New Roman"/>
                        </a:rPr>
                        <a:t>toto</a:t>
                      </a:r>
                      <a:r>
                        <a:rPr lang="en-US" sz="1800" dirty="0">
                          <a:solidFill>
                            <a:srgbClr val="A31515"/>
                          </a:solidFill>
                          <a:latin typeface="Courier New"/>
                          <a:ea typeface="Times New Roman"/>
                        </a:rPr>
                        <a:t>"</a:t>
                      </a:r>
                      <a:r>
                        <a:rPr lang="en-US" sz="1800" dirty="0">
                          <a:latin typeface="Courier New"/>
                          <a:ea typeface="Times New Roman"/>
                        </a:rPr>
                        <a:t>, 2}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5545" marR="655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ourier New"/>
                          <a:ea typeface="Times New Roman"/>
                        </a:rPr>
                        <a:t>{</a:t>
                      </a:r>
                      <a:r>
                        <a:rPr lang="en-US" sz="1800" dirty="0">
                          <a:solidFill>
                            <a:srgbClr val="A31515"/>
                          </a:solidFill>
                          <a:latin typeface="Courier New"/>
                          <a:ea typeface="Times New Roman"/>
                        </a:rPr>
                        <a:t>"</a:t>
                      </a:r>
                      <a:r>
                        <a:rPr lang="en-US" sz="1800" dirty="0" err="1">
                          <a:solidFill>
                            <a:srgbClr val="A31515"/>
                          </a:solidFill>
                          <a:latin typeface="Courier New"/>
                          <a:ea typeface="Times New Roman"/>
                        </a:rPr>
                        <a:t>koko</a:t>
                      </a:r>
                      <a:r>
                        <a:rPr lang="en-US" sz="1800" dirty="0">
                          <a:solidFill>
                            <a:srgbClr val="A31515"/>
                          </a:solidFill>
                          <a:latin typeface="Courier New"/>
                          <a:ea typeface="Times New Roman"/>
                        </a:rPr>
                        <a:t>"</a:t>
                      </a:r>
                      <a:r>
                        <a:rPr lang="en-US" sz="1800" dirty="0">
                          <a:latin typeface="Courier New"/>
                          <a:ea typeface="Times New Roman"/>
                        </a:rPr>
                        <a:t>, 4}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5545" marR="655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ourier New"/>
                          <a:ea typeface="Times New Roman"/>
                        </a:rPr>
                        <a:t>{</a:t>
                      </a:r>
                      <a:r>
                        <a:rPr lang="en-US" sz="1800" dirty="0">
                          <a:solidFill>
                            <a:srgbClr val="A31515"/>
                          </a:solidFill>
                          <a:latin typeface="Courier New"/>
                          <a:ea typeface="Times New Roman"/>
                        </a:rPr>
                        <a:t>"yoyo"</a:t>
                      </a:r>
                      <a:r>
                        <a:rPr lang="en-US" sz="1800" dirty="0">
                          <a:latin typeface="Courier New"/>
                          <a:ea typeface="Times New Roman"/>
                        </a:rPr>
                        <a:t>, 1}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5545" marR="655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>
                          <a:latin typeface="Courier New"/>
                          <a:ea typeface="Times New Roman"/>
                        </a:rPr>
                        <a:t>{</a:t>
                      </a:r>
                      <a:r>
                        <a:rPr lang="en-US" sz="1800">
                          <a:solidFill>
                            <a:srgbClr val="A31515"/>
                          </a:solidFill>
                          <a:latin typeface="Courier New"/>
                          <a:ea typeface="Times New Roman"/>
                        </a:rPr>
                        <a:t>"momo"</a:t>
                      </a:r>
                      <a:r>
                        <a:rPr lang="en-US" sz="1800">
                          <a:latin typeface="Courier New"/>
                          <a:ea typeface="Times New Roman"/>
                        </a:rPr>
                        <a:t>, 6}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5545" marR="655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ourier New"/>
                          <a:ea typeface="Times New Roman"/>
                        </a:rPr>
                        <a:t>{</a:t>
                      </a:r>
                      <a:r>
                        <a:rPr lang="en-US" sz="1800" dirty="0">
                          <a:solidFill>
                            <a:srgbClr val="A31515"/>
                          </a:solidFill>
                          <a:latin typeface="Courier New"/>
                          <a:ea typeface="Times New Roman"/>
                        </a:rPr>
                        <a:t>"</a:t>
                      </a:r>
                      <a:r>
                        <a:rPr lang="en-US" sz="1800" dirty="0" err="1">
                          <a:solidFill>
                            <a:srgbClr val="A31515"/>
                          </a:solidFill>
                          <a:latin typeface="Courier New"/>
                          <a:ea typeface="Times New Roman"/>
                        </a:rPr>
                        <a:t>gogo</a:t>
                      </a:r>
                      <a:r>
                        <a:rPr lang="en-US" sz="1800" dirty="0">
                          <a:solidFill>
                            <a:srgbClr val="A31515"/>
                          </a:solidFill>
                          <a:latin typeface="Courier New"/>
                          <a:ea typeface="Times New Roman"/>
                        </a:rPr>
                        <a:t>"</a:t>
                      </a:r>
                      <a:r>
                        <a:rPr lang="en-US" sz="1800" dirty="0">
                          <a:latin typeface="Courier New"/>
                          <a:ea typeface="Times New Roman"/>
                        </a:rPr>
                        <a:t>, 3}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5545" marR="655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738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37839F53-69E8-470F-855E-38BF9DD6EE48}" type="slidenum">
              <a:rPr lang="he-IL" altLang="he-IL" sz="1000">
                <a:latin typeface="Verdana" pitchFamily="34" charset="0"/>
              </a:rPr>
              <a:pPr algn="r" rtl="1" eaLnBrk="1" hangingPunct="1"/>
              <a:t>24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  <p:cxnSp>
        <p:nvCxnSpPr>
          <p:cNvPr id="40962" name="AutoShape 2"/>
          <p:cNvCxnSpPr>
            <a:cxnSpLocks noChangeShapeType="1"/>
          </p:cNvCxnSpPr>
          <p:nvPr/>
        </p:nvCxnSpPr>
        <p:spPr bwMode="auto">
          <a:xfrm flipV="1">
            <a:off x="1676400" y="2743200"/>
            <a:ext cx="6096000" cy="15621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61" name="AutoShape 1"/>
          <p:cNvCxnSpPr>
            <a:cxnSpLocks noChangeShapeType="1"/>
          </p:cNvCxnSpPr>
          <p:nvPr/>
        </p:nvCxnSpPr>
        <p:spPr bwMode="auto">
          <a:xfrm flipH="1" flipV="1">
            <a:off x="3657600" y="4495800"/>
            <a:ext cx="838200" cy="16383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63" name="AutoShape 3"/>
          <p:cNvCxnSpPr>
            <a:cxnSpLocks noChangeShapeType="1"/>
          </p:cNvCxnSpPr>
          <p:nvPr/>
        </p:nvCxnSpPr>
        <p:spPr bwMode="auto">
          <a:xfrm flipH="1" flipV="1">
            <a:off x="2971800" y="2743200"/>
            <a:ext cx="4240213" cy="15621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65" name="AutoShape 5"/>
          <p:cNvCxnSpPr>
            <a:cxnSpLocks noChangeShapeType="1"/>
          </p:cNvCxnSpPr>
          <p:nvPr/>
        </p:nvCxnSpPr>
        <p:spPr bwMode="auto">
          <a:xfrm flipV="1">
            <a:off x="4800600" y="2743200"/>
            <a:ext cx="1219200" cy="15621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3400" y="4191000"/>
          <a:ext cx="8610600" cy="259080"/>
        </p:xfrm>
        <a:graphic>
          <a:graphicData uri="http://schemas.openxmlformats.org/drawingml/2006/table">
            <a:tbl>
              <a:tblPr rtl="1"/>
              <a:tblGrid>
                <a:gridCol w="782637"/>
                <a:gridCol w="782638"/>
                <a:gridCol w="782637"/>
                <a:gridCol w="782638"/>
                <a:gridCol w="782637"/>
                <a:gridCol w="784225"/>
                <a:gridCol w="782638"/>
                <a:gridCol w="782637"/>
                <a:gridCol w="782638"/>
                <a:gridCol w="782637"/>
                <a:gridCol w="782638"/>
              </a:tblGrid>
              <a:tr h="258763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NULL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NULL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NULL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40966" name="AutoShape 6"/>
          <p:cNvCxnSpPr>
            <a:cxnSpLocks noChangeShapeType="1"/>
          </p:cNvCxnSpPr>
          <p:nvPr/>
        </p:nvCxnSpPr>
        <p:spPr bwMode="auto">
          <a:xfrm flipH="1" flipV="1">
            <a:off x="1295400" y="2743200"/>
            <a:ext cx="2774950" cy="15605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67" name="AutoShape 7"/>
          <p:cNvCxnSpPr>
            <a:cxnSpLocks noChangeShapeType="1"/>
          </p:cNvCxnSpPr>
          <p:nvPr/>
        </p:nvCxnSpPr>
        <p:spPr bwMode="auto">
          <a:xfrm flipV="1">
            <a:off x="838200" y="2819400"/>
            <a:ext cx="3505200" cy="14954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68" name="Text Box 8"/>
          <p:cNvSpPr txBox="1">
            <a:spLocks noChangeArrowheads="1"/>
          </p:cNvSpPr>
          <p:nvPr/>
        </p:nvSpPr>
        <p:spPr bwMode="auto">
          <a:xfrm>
            <a:off x="990600" y="4495800"/>
            <a:ext cx="1465263" cy="4397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r>
              <a:rPr lang="he-IL" altLang="he-IL" sz="1600"/>
              <a:t>חברים שניתן </a:t>
            </a:r>
          </a:p>
          <a:p>
            <a:pPr algn="r" rtl="1" eaLnBrk="1" hangingPunct="1"/>
            <a:r>
              <a:rPr lang="he-IL" altLang="he-IL" sz="1600"/>
              <a:t>ללכת אליהם</a:t>
            </a:r>
            <a:endParaRPr lang="he-IL" altLang="he-IL" sz="2800"/>
          </a:p>
        </p:txBody>
      </p:sp>
      <p:sp>
        <p:nvSpPr>
          <p:cNvPr id="40969" name="Text Box 9"/>
          <p:cNvSpPr txBox="1">
            <a:spLocks noChangeArrowheads="1"/>
          </p:cNvSpPr>
          <p:nvPr/>
        </p:nvSpPr>
        <p:spPr bwMode="auto">
          <a:xfrm>
            <a:off x="4038600" y="4495800"/>
            <a:ext cx="1562100" cy="441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r>
              <a:rPr lang="he-IL" altLang="he-IL" sz="1600"/>
              <a:t>חברים שניתן </a:t>
            </a:r>
          </a:p>
          <a:p>
            <a:pPr algn="r" rtl="1" eaLnBrk="1" hangingPunct="1"/>
            <a:r>
              <a:rPr lang="he-IL" altLang="he-IL" sz="1600"/>
              <a:t>לרכוב אליהם</a:t>
            </a:r>
            <a:endParaRPr lang="he-IL" altLang="he-IL" sz="2800"/>
          </a:p>
        </p:txBody>
      </p:sp>
      <p:sp>
        <p:nvSpPr>
          <p:cNvPr id="40970" name="Text Box 10"/>
          <p:cNvSpPr txBox="1">
            <a:spLocks noChangeArrowheads="1"/>
          </p:cNvSpPr>
          <p:nvPr/>
        </p:nvSpPr>
        <p:spPr bwMode="auto">
          <a:xfrm>
            <a:off x="6705600" y="4513263"/>
            <a:ext cx="1573213" cy="4397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r>
              <a:rPr lang="he-IL" altLang="he-IL" sz="1600"/>
              <a:t>חברים שצריך </a:t>
            </a:r>
          </a:p>
          <a:p>
            <a:pPr algn="r" rtl="1" eaLnBrk="1" hangingPunct="1"/>
            <a:r>
              <a:rPr lang="he-IL" altLang="he-IL" sz="1600"/>
              <a:t>לנהוג אליהם</a:t>
            </a:r>
            <a:endParaRPr lang="he-IL" altLang="he-IL" sz="280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048000" y="5943600"/>
          <a:ext cx="2819400" cy="457200"/>
        </p:xfrm>
        <a:graphic>
          <a:graphicData uri="http://schemas.openxmlformats.org/drawingml/2006/table">
            <a:tbl>
              <a:tblPr rtl="1"/>
              <a:tblGrid>
                <a:gridCol w="939800"/>
                <a:gridCol w="939800"/>
                <a:gridCol w="9398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40964" name="AutoShape 4"/>
          <p:cNvCxnSpPr>
            <a:cxnSpLocks noChangeShapeType="1"/>
          </p:cNvCxnSpPr>
          <p:nvPr/>
        </p:nvCxnSpPr>
        <p:spPr bwMode="auto">
          <a:xfrm flipH="1" flipV="1">
            <a:off x="533400" y="4419600"/>
            <a:ext cx="2986088" cy="17145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AutoShape 1"/>
          <p:cNvCxnSpPr>
            <a:cxnSpLocks noChangeShapeType="1"/>
          </p:cNvCxnSpPr>
          <p:nvPr/>
        </p:nvCxnSpPr>
        <p:spPr bwMode="auto">
          <a:xfrm flipV="1">
            <a:off x="5410200" y="4419600"/>
            <a:ext cx="1371600" cy="17526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r" eaLnBrk="1" hangingPunct="1"/>
            <a:r>
              <a:rPr lang="he-IL" altLang="he-IL" smtClean="0"/>
              <a:t>תרגיל  3 </a:t>
            </a:r>
            <a:r>
              <a:rPr lang="he-IL" altLang="he-IL" sz="3200" smtClean="0"/>
              <a:t>(3)</a:t>
            </a:r>
            <a:r>
              <a:rPr lang="he-IL" altLang="he-IL" smtClean="0"/>
              <a:t>:</a:t>
            </a:r>
            <a:endParaRPr lang="en-US" altLang="he-IL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r>
              <a:rPr lang="he-IL" altLang="he-IL" dirty="0" smtClean="0"/>
              <a:t>כתוב פונקציה המקבלת מערך של חברים </a:t>
            </a:r>
            <a:r>
              <a:rPr lang="he-IL" altLang="he-IL" dirty="0" smtClean="0"/>
              <a:t>וגודלו.</a:t>
            </a:r>
            <a:endParaRPr lang="he-IL" altLang="he-IL" dirty="0" smtClean="0"/>
          </a:p>
          <a:p>
            <a:r>
              <a:rPr lang="he-IL" altLang="he-IL" dirty="0" smtClean="0"/>
              <a:t>הפונקציה תייצר מערך בגודל 3, שכל איבר בו יהיה כתובת של מערך של מצביעים לחברים לפי ההגדרות </a:t>
            </a:r>
            <a:r>
              <a:rPr lang="he-IL" altLang="he-IL" dirty="0" smtClean="0"/>
              <a:t>הנ"ל.</a:t>
            </a:r>
            <a:endParaRPr lang="en-US" altLang="he-IL" dirty="0" smtClean="0"/>
          </a:p>
          <a:p>
            <a:r>
              <a:rPr lang="he-IL" altLang="he-IL" dirty="0" smtClean="0"/>
              <a:t>הפונקציה תמלא את המערכים המתאימים ותחזיר מערך </a:t>
            </a:r>
            <a:r>
              <a:rPr lang="he-IL" altLang="he-IL" dirty="0" smtClean="0"/>
              <a:t>זה.</a:t>
            </a:r>
            <a:endParaRPr lang="en-US" altLang="he-IL" dirty="0" smtClean="0"/>
          </a:p>
          <a:p>
            <a:r>
              <a:rPr lang="he-IL" altLang="he-IL" dirty="0" smtClean="0"/>
              <a:t>שימו לב: מערכי החברים מכילים רק מצביעים לאיברים מהמערך המקורי שהתקבל כפרמטר (אין סיבה לשכפל את הנתונים).</a:t>
            </a:r>
            <a:endParaRPr lang="en-US" altLang="he-IL" dirty="0" smtClean="0"/>
          </a:p>
          <a:p>
            <a:r>
              <a:rPr lang="he-IL" altLang="he-IL" dirty="0" smtClean="0"/>
              <a:t>כדי לציין סיומו של מערך חברים שנוצר בפונקציה, יש לשים </a:t>
            </a:r>
            <a:r>
              <a:rPr lang="en-US" altLang="he-IL" dirty="0" smtClean="0"/>
              <a:t>NULL</a:t>
            </a:r>
            <a:r>
              <a:rPr lang="he-IL" altLang="he-IL" dirty="0" smtClean="0"/>
              <a:t> באיבר </a:t>
            </a:r>
            <a:r>
              <a:rPr lang="he-IL" altLang="he-IL" dirty="0" smtClean="0"/>
              <a:t>האחרון.</a:t>
            </a:r>
            <a:endParaRPr lang="en-US" altLang="he-IL" dirty="0" smtClean="0"/>
          </a:p>
        </p:txBody>
      </p:sp>
      <p:sp>
        <p:nvSpPr>
          <p:cNvPr id="31748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D2E7C7E2-AB89-4B5F-A07F-7E1D81B44057}" type="slidenum">
              <a:rPr lang="he-IL" altLang="he-IL" sz="1000">
                <a:latin typeface="Verdana" pitchFamily="34" charset="0"/>
              </a:rPr>
              <a:pPr algn="r" rtl="1" eaLnBrk="1" hangingPunct="1"/>
              <a:t>25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r" eaLnBrk="1" hangingPunct="1"/>
            <a:r>
              <a:rPr lang="he-IL" altLang="he-IL" smtClean="0"/>
              <a:t>תרגיל  3 </a:t>
            </a:r>
            <a:r>
              <a:rPr lang="he-IL" altLang="he-IL" sz="3200" smtClean="0"/>
              <a:t>(4)</a:t>
            </a:r>
            <a:r>
              <a:rPr lang="he-IL" altLang="he-IL" smtClean="0"/>
              <a:t>:</a:t>
            </a:r>
            <a:endParaRPr lang="en-US" altLang="he-IL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endParaRPr lang="en-US" altLang="he-IL" dirty="0" smtClean="0"/>
          </a:p>
          <a:p>
            <a:r>
              <a:rPr lang="he-IL" altLang="he-IL" dirty="0" smtClean="0"/>
              <a:t>הגדר ב- </a:t>
            </a:r>
            <a:r>
              <a:rPr lang="en-US" altLang="he-IL" dirty="0" smtClean="0"/>
              <a:t>main</a:t>
            </a:r>
            <a:r>
              <a:rPr lang="he-IL" altLang="he-IL" dirty="0" smtClean="0"/>
              <a:t> מערך שאיבריו מטיפוס </a:t>
            </a:r>
            <a:r>
              <a:rPr lang="en-US" altLang="he-IL" dirty="0" smtClean="0"/>
              <a:t>Friend</a:t>
            </a:r>
            <a:r>
              <a:rPr lang="he-IL" altLang="he-IL" dirty="0" smtClean="0"/>
              <a:t>, ושלח אותו לפונקציה </a:t>
            </a:r>
            <a:r>
              <a:rPr lang="he-IL" altLang="he-IL" dirty="0" smtClean="0"/>
              <a:t>שהגדרת.</a:t>
            </a:r>
            <a:endParaRPr lang="he-IL" altLang="he-IL" dirty="0" smtClean="0"/>
          </a:p>
          <a:p>
            <a:endParaRPr lang="en-US" altLang="he-IL" dirty="0" smtClean="0"/>
          </a:p>
          <a:p>
            <a:r>
              <a:rPr lang="he-IL" altLang="he-IL" dirty="0" smtClean="0"/>
              <a:t>הדפס את החברים לפי החלוקה </a:t>
            </a:r>
            <a:r>
              <a:rPr lang="he-IL" altLang="he-IL" dirty="0" smtClean="0"/>
              <a:t>לקבוצות.</a:t>
            </a:r>
            <a:endParaRPr lang="en-US" altLang="he-IL" dirty="0" smtClean="0"/>
          </a:p>
          <a:p>
            <a:endParaRPr lang="en-US" altLang="he-IL" dirty="0" smtClean="0"/>
          </a:p>
          <a:p>
            <a:pPr eaLnBrk="1" hangingPunct="1">
              <a:lnSpc>
                <a:spcPct val="90000"/>
              </a:lnSpc>
            </a:pPr>
            <a:endParaRPr lang="he-IL" altLang="he-IL" dirty="0" smtClean="0"/>
          </a:p>
        </p:txBody>
      </p:sp>
      <p:sp>
        <p:nvSpPr>
          <p:cNvPr id="32772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FE0AB44C-633E-4C3D-9F93-49A197B7CBA9}" type="slidenum">
              <a:rPr lang="he-IL" altLang="he-IL" sz="1000">
                <a:latin typeface="Verdana" pitchFamily="34" charset="0"/>
              </a:rPr>
              <a:pPr algn="r" rtl="1" eaLnBrk="1" hangingPunct="1"/>
              <a:t>26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yOpenU2008a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evel">
      <a:majorFont>
        <a:latin typeface="Garamond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charset="0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14842</TotalTime>
  <Words>1586</Words>
  <Application>Microsoft Office PowerPoint</Application>
  <PresentationFormat>‫הצגה על המסך (4:3)</PresentationFormat>
  <Paragraphs>589</Paragraphs>
  <Slides>26</Slides>
  <Notes>26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26</vt:i4>
      </vt:variant>
    </vt:vector>
  </HeadingPairs>
  <TitlesOfParts>
    <vt:vector size="27" baseType="lpstr">
      <vt:lpstr>MyOpenU2008aTheme</vt:lpstr>
      <vt:lpstr>הקצאות דינאמיות  בשילוב מבנים</vt:lpstr>
      <vt:lpstr>ביחידה זו נלמד:</vt:lpstr>
      <vt:lpstr>הקצאת מערך של מבנים</vt:lpstr>
      <vt:lpstr>דרכים שונות להגדרת מערך</vt:lpstr>
      <vt:lpstr>דרכים להגדרת מערך (1)</vt:lpstr>
      <vt:lpstr>דרכים להגדרת מערך (2)</vt:lpstr>
      <vt:lpstr>דרכים להגדרת מערך (3)</vt:lpstr>
      <vt:lpstr>דרכים להגדרת מערך (4)</vt:lpstr>
      <vt:lpstr>מערך מבנים בתוך מבנה</vt:lpstr>
      <vt:lpstr>דוגמא –  כיתה עם סטודנטים </vt:lpstr>
      <vt:lpstr>החיסרונות כאשר גודל המערך קבוע</vt:lpstr>
      <vt:lpstr>הקצאת מערך מבנים בתוך מבנה</vt:lpstr>
      <vt:lpstr>דוגמא – הקצאת סטודנטים בכיתה (הקוד בלבד, כך שאפשר לראות אותו )</vt:lpstr>
      <vt:lpstr>אבל מה אם נרצה להקצות מערך ולהשתמש רק בחלק מהאיברים?</vt:lpstr>
      <vt:lpstr>הקצאת מערך של מצביעים למבנים בתוך מבנה</vt:lpstr>
      <vt:lpstr>דוגמא – רישום  סטודנטים לכיתה</vt:lpstr>
      <vt:lpstr>הקצאת מערך של מצביעים למבנים בתוך מבנה</vt:lpstr>
      <vt:lpstr>דוגמא – רישום סטודנטים לכיתה דינאמית (1)</vt:lpstr>
      <vt:lpstr>דוגמא – רישום סטודנטים לכיתה דינאמית (2)</vt:lpstr>
      <vt:lpstr>ביחידה זו למדנו:</vt:lpstr>
      <vt:lpstr>תרגיל 1:</vt:lpstr>
      <vt:lpstr>תרגיל 2:</vt:lpstr>
      <vt:lpstr>תרגיל  3 (1):</vt:lpstr>
      <vt:lpstr>תרגיל  3 (2):</vt:lpstr>
      <vt:lpstr>תרגיל  3 (3):</vt:lpstr>
      <vt:lpstr>תרגיל  3 (4):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14- dynamic allocations+ structs</dc:title>
  <dc:creator>Sagie Feigin</dc:creator>
  <cp:lastModifiedBy>Windows User</cp:lastModifiedBy>
  <cp:revision>343</cp:revision>
  <dcterms:created xsi:type="dcterms:W3CDTF">2008-06-01T07:12:10Z</dcterms:created>
  <dcterms:modified xsi:type="dcterms:W3CDTF">2022-05-10T12:46:40Z</dcterms:modified>
</cp:coreProperties>
</file>