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tl="1" saveSubsetFonts="1">
  <p:sldMasterIdLst>
    <p:sldMasterId id="2147483696" r:id="rId1"/>
  </p:sldMasterIdLst>
  <p:notesMasterIdLst>
    <p:notesMasterId r:id="rId36"/>
  </p:notesMasterIdLst>
  <p:handoutMasterIdLst>
    <p:handoutMasterId r:id="rId37"/>
  </p:handoutMasterIdLst>
  <p:sldIdLst>
    <p:sldId id="256" r:id="rId2"/>
    <p:sldId id="324" r:id="rId3"/>
    <p:sldId id="329" r:id="rId4"/>
    <p:sldId id="328" r:id="rId5"/>
    <p:sldId id="375" r:id="rId6"/>
    <p:sldId id="360" r:id="rId7"/>
    <p:sldId id="330" r:id="rId8"/>
    <p:sldId id="339" r:id="rId9"/>
    <p:sldId id="331" r:id="rId10"/>
    <p:sldId id="333" r:id="rId11"/>
    <p:sldId id="335" r:id="rId12"/>
    <p:sldId id="340" r:id="rId13"/>
    <p:sldId id="366" r:id="rId14"/>
    <p:sldId id="367" r:id="rId15"/>
    <p:sldId id="338" r:id="rId16"/>
    <p:sldId id="341" r:id="rId17"/>
    <p:sldId id="368" r:id="rId18"/>
    <p:sldId id="369" r:id="rId19"/>
    <p:sldId id="370" r:id="rId20"/>
    <p:sldId id="345" r:id="rId21"/>
    <p:sldId id="344" r:id="rId22"/>
    <p:sldId id="350" r:id="rId23"/>
    <p:sldId id="358" r:id="rId24"/>
    <p:sldId id="357" r:id="rId25"/>
    <p:sldId id="361" r:id="rId26"/>
    <p:sldId id="362" r:id="rId27"/>
    <p:sldId id="364" r:id="rId28"/>
    <p:sldId id="365" r:id="rId29"/>
    <p:sldId id="363" r:id="rId30"/>
    <p:sldId id="371" r:id="rId31"/>
    <p:sldId id="327" r:id="rId32"/>
    <p:sldId id="372" r:id="rId33"/>
    <p:sldId id="373" r:id="rId34"/>
    <p:sldId id="374" r:id="rId3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9900"/>
    <a:srgbClr val="FFFF66"/>
    <a:srgbClr val="D7EA22"/>
    <a:srgbClr val="FF0000"/>
    <a:srgbClr val="3DB7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45" autoAdjust="0"/>
    <p:restoredTop sz="94660" autoAdjust="0"/>
  </p:normalViewPr>
  <p:slideViewPr>
    <p:cSldViewPr>
      <p:cViewPr>
        <p:scale>
          <a:sx n="77" d="100"/>
          <a:sy n="77" d="100"/>
        </p:scale>
        <p:origin x="-88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441FEB3-30DD-4A2A-9E37-8EFE3BBB68BC}" type="datetimeFigureOut">
              <a:rPr lang="en-US"/>
              <a:pPr>
                <a:defRPr/>
              </a:pPr>
              <a:t>5/10/2022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DF46CBAD-61D3-44D4-A3A0-F4C88D4D42C9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76671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B465BBC-09EC-4E7B-ABD2-DB53A4A8BE48}" type="datetimeFigureOut">
              <a:rPr lang="en-US"/>
              <a:pPr>
                <a:defRPr/>
              </a:pPr>
              <a:t>5/10/2022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8CE64180-9F72-4E41-A385-9EDB13542166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4636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5B4DC06-2DBC-4E34-8DEB-53F136B14592}" type="slidenum">
              <a:rPr lang="he-IL" altLang="he-IL" smtClean="0">
                <a:latin typeface="Calibri" pitchFamily="34" charset="0"/>
              </a:rPr>
              <a:pPr eaLnBrk="1" hangingPunct="1"/>
              <a:t>1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925EBE16-A5EE-414A-8453-6ACDE845426B}" type="slidenum">
              <a:rPr lang="he-IL" altLang="he-IL" smtClean="0">
                <a:latin typeface="Calibri" pitchFamily="34" charset="0"/>
              </a:rPr>
              <a:pPr eaLnBrk="1" hangingPunct="1"/>
              <a:t>2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0667F75E-98C7-4837-9BAE-EE3EEFACF0F0}" type="slidenum">
              <a:rPr lang="he-IL" altLang="he-IL" smtClean="0">
                <a:latin typeface="Calibri" pitchFamily="34" charset="0"/>
              </a:rPr>
              <a:pPr eaLnBrk="1" hangingPunct="1"/>
              <a:t>3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84C226AE-4A6B-4061-9465-F70226E7560F}" type="slidenum">
              <a:rPr lang="he-IL" altLang="he-IL" smtClean="0">
                <a:latin typeface="Calibri" pitchFamily="34" charset="0"/>
              </a:rPr>
              <a:pPr eaLnBrk="1" hangingPunct="1"/>
              <a:t>4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7065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78463" cy="4106863"/>
          </a:xfrm>
          <a:noFill/>
          <a:ln/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2" name="מציין מיקום של מספר שקופית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791DBF-BEAD-49DF-841D-DF8839C19773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3" name="מציין מיקום של כותרת עליונה 2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7DEA48F5-56A0-4F9D-A42B-CD41C6203C01}" type="slidenum">
              <a:rPr lang="he-IL" altLang="he-IL" smtClean="0">
                <a:latin typeface="Calibri" pitchFamily="34" charset="0"/>
              </a:rPr>
              <a:pPr eaLnBrk="1" hangingPunct="1"/>
              <a:t>6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09A1D6FD-8B86-475E-B5F9-9D09E7A600B9}" type="slidenum">
              <a:rPr lang="he-IL" altLang="he-IL" smtClean="0">
                <a:latin typeface="Calibri" pitchFamily="34" charset="0"/>
              </a:rPr>
              <a:pPr eaLnBrk="1" hangingPunct="1"/>
              <a:t>7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F0CA073C-5F77-41AD-8C62-4AF2C18E8AC4}" type="slidenum">
              <a:rPr lang="he-IL" altLang="he-IL" smtClean="0">
                <a:latin typeface="Calibri" pitchFamily="34" charset="0"/>
              </a:rPr>
              <a:pPr eaLnBrk="1" hangingPunct="1"/>
              <a:t>8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B0AD8695-F16F-4F44-B16A-3C074B7D245A}" type="slidenum">
              <a:rPr lang="he-IL" altLang="he-IL" smtClean="0">
                <a:latin typeface="Calibri" pitchFamily="34" charset="0"/>
              </a:rPr>
              <a:pPr eaLnBrk="1" hangingPunct="1"/>
              <a:t>9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F93236C5-694E-4942-880F-BF1ECADCEDFD}" type="slidenum">
              <a:rPr lang="he-IL" altLang="he-IL" smtClean="0">
                <a:latin typeface="Calibri" pitchFamily="34" charset="0"/>
              </a:rPr>
              <a:pPr eaLnBrk="1" hangingPunct="1"/>
              <a:t>10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BA8CDFE8-569A-4216-88CE-494C2AD3EEDE}" type="slidenum">
              <a:rPr lang="he-IL" altLang="he-IL" smtClean="0">
                <a:latin typeface="Calibri" pitchFamily="34" charset="0"/>
              </a:rPr>
              <a:pPr eaLnBrk="1" hangingPunct="1"/>
              <a:t>11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D3A1C37-3171-4289-8CF0-624FCB1DEA52}" type="slidenum">
              <a:rPr lang="he-IL" altLang="he-IL" smtClean="0">
                <a:latin typeface="Calibri" pitchFamily="34" charset="0"/>
              </a:rPr>
              <a:pPr eaLnBrk="1" hangingPunct="1"/>
              <a:t>12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28592CC5-F38C-4C6D-A228-5093A494C3A6}" type="slidenum">
              <a:rPr lang="he-IL" altLang="he-IL" smtClean="0">
                <a:latin typeface="Calibri" pitchFamily="34" charset="0"/>
              </a:rPr>
              <a:pPr eaLnBrk="1" hangingPunct="1"/>
              <a:t>13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9D60BD49-E9BB-4AA6-B33F-6590D17FD359}" type="slidenum">
              <a:rPr lang="he-IL" altLang="he-IL" smtClean="0">
                <a:latin typeface="Calibri" pitchFamily="34" charset="0"/>
              </a:rPr>
              <a:pPr eaLnBrk="1" hangingPunct="1"/>
              <a:t>14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F8265115-1FDF-4DC3-8195-D96D3FB1CD1F}" type="slidenum">
              <a:rPr lang="he-IL" altLang="he-IL" smtClean="0">
                <a:latin typeface="Calibri" pitchFamily="34" charset="0"/>
              </a:rPr>
              <a:pPr eaLnBrk="1" hangingPunct="1"/>
              <a:t>15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1FFAC320-3C3B-4366-9C03-D5DD778DDBCC}" type="slidenum">
              <a:rPr lang="he-IL" altLang="he-IL" smtClean="0">
                <a:latin typeface="Calibri" pitchFamily="34" charset="0"/>
              </a:rPr>
              <a:pPr eaLnBrk="1" hangingPunct="1"/>
              <a:t>16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AD87E9DF-36A3-483C-8BC0-497BD1BB199E}" type="slidenum">
              <a:rPr lang="he-IL" altLang="he-IL" smtClean="0">
                <a:latin typeface="Calibri" pitchFamily="34" charset="0"/>
              </a:rPr>
              <a:pPr eaLnBrk="1" hangingPunct="1"/>
              <a:t>17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43C2B274-6393-4CEA-B247-2F0F9C577BEE}" type="slidenum">
              <a:rPr lang="he-IL" altLang="he-IL" smtClean="0">
                <a:latin typeface="Calibri" pitchFamily="34" charset="0"/>
              </a:rPr>
              <a:pPr eaLnBrk="1" hangingPunct="1"/>
              <a:t>18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1555FC5A-77E9-41BA-92FF-4E32F9F6A202}" type="slidenum">
              <a:rPr lang="he-IL" altLang="he-IL" smtClean="0">
                <a:latin typeface="Calibri" pitchFamily="34" charset="0"/>
              </a:rPr>
              <a:pPr eaLnBrk="1" hangingPunct="1"/>
              <a:t>19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1495E875-785F-4D74-BECC-0A75A93670F5}" type="slidenum">
              <a:rPr lang="he-IL" altLang="he-IL" smtClean="0">
                <a:latin typeface="Calibri" pitchFamily="34" charset="0"/>
              </a:rPr>
              <a:pPr eaLnBrk="1" hangingPunct="1"/>
              <a:t>27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A76A6954-DE4E-4426-B43D-EC7D23DF6577}" type="slidenum">
              <a:rPr lang="he-IL" altLang="he-IL" smtClean="0">
                <a:latin typeface="Calibri" pitchFamily="34" charset="0"/>
              </a:rPr>
              <a:pPr eaLnBrk="1" hangingPunct="1"/>
              <a:t>28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0676911F-4D92-4B6F-98AD-F9BE991C4EAF}" type="slidenum">
              <a:rPr lang="he-IL" altLang="he-IL" smtClean="0">
                <a:latin typeface="Calibri" pitchFamily="34" charset="0"/>
              </a:rPr>
              <a:pPr eaLnBrk="1" hangingPunct="1"/>
              <a:t>29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E4B3D643-8984-41A2-AFE1-C1350DEACB7A}" type="slidenum">
              <a:rPr lang="he-IL" altLang="he-IL" smtClean="0">
                <a:latin typeface="Calibri" pitchFamily="34" charset="0"/>
              </a:rPr>
              <a:pPr eaLnBrk="1" hangingPunct="1"/>
              <a:t>30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312EC4D6-5409-41CD-AE85-EBF5E65CFED6}" type="slidenum">
              <a:rPr lang="he-IL" altLang="he-IL" smtClean="0">
                <a:latin typeface="Calibri" pitchFamily="34" charset="0"/>
              </a:rPr>
              <a:pPr eaLnBrk="1" hangingPunct="1"/>
              <a:t>31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18D7CEA3-45CF-4668-A1B8-F09001247438}" type="slidenum">
              <a:rPr lang="he-IL" altLang="he-IL" smtClean="0">
                <a:latin typeface="Calibri" pitchFamily="34" charset="0"/>
              </a:rPr>
              <a:pPr eaLnBrk="1" hangingPunct="1"/>
              <a:t>32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5BD19EA7-0C1D-4419-A275-8C04D93D9781}" type="slidenum">
              <a:rPr lang="he-IL" altLang="he-IL" smtClean="0">
                <a:latin typeface="Calibri" pitchFamily="34" charset="0"/>
              </a:rPr>
              <a:pPr eaLnBrk="1" hangingPunct="1"/>
              <a:t>33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he-IL" altLang="he-IL" smtClean="0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3F6AF916-9DA1-4087-BA07-F2ABB2C89242}" type="slidenum">
              <a:rPr lang="he-IL" altLang="he-IL" smtClean="0">
                <a:latin typeface="Calibri" pitchFamily="34" charset="0"/>
              </a:rPr>
              <a:pPr eaLnBrk="1" hangingPunct="1"/>
              <a:t>34</a:t>
            </a:fld>
            <a:endParaRPr lang="en-US" altLang="he-IL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>
            <a:off x="228600" y="2889250"/>
            <a:ext cx="8610600" cy="201613"/>
            <a:chOff x="144" y="1680"/>
            <a:chExt cx="5424" cy="144"/>
          </a:xfrm>
        </p:grpSpPr>
        <p:sp>
          <p:nvSpPr>
            <p:cNvPr id="5" name="Rectangle 8"/>
            <p:cNvSpPr>
              <a:spLocks noChangeArrowheads="1"/>
            </p:cNvSpPr>
            <p:nvPr userDrawn="1"/>
          </p:nvSpPr>
          <p:spPr bwMode="auto">
            <a:xfrm>
              <a:off x="144" y="1680"/>
              <a:ext cx="1808" cy="144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6" name="Rectangle 9"/>
            <p:cNvSpPr>
              <a:spLocks noChangeArrowheads="1"/>
            </p:cNvSpPr>
            <p:nvPr userDrawn="1"/>
          </p:nvSpPr>
          <p:spPr bwMode="auto">
            <a:xfrm>
              <a:off x="1952" y="1680"/>
              <a:ext cx="1808" cy="144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7" name="Rectangle 10"/>
            <p:cNvSpPr>
              <a:spLocks noChangeArrowheads="1"/>
            </p:cNvSpPr>
            <p:nvPr userDrawn="1"/>
          </p:nvSpPr>
          <p:spPr bwMode="auto">
            <a:xfrm>
              <a:off x="3760" y="1680"/>
              <a:ext cx="1808" cy="144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</p:grpSp>
      <p:sp>
        <p:nvSpPr>
          <p:cNvPr id="270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 algn="ctr">
              <a:defRPr sz="5800"/>
            </a:lvl1pPr>
          </a:lstStyle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270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000"/>
            </a:lvl1pPr>
          </a:lstStyle>
          <a:p>
            <a:r>
              <a:rPr lang="en-US" smtClean="0"/>
              <a:t>Click to edit Master subtitle style</a:t>
            </a:r>
            <a:endParaRPr lang="he-IL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5B4603-ABDB-42FF-8CF3-2042ADA939A4}" type="datetime1">
              <a:rPr lang="en-US"/>
              <a:pPr>
                <a:defRPr/>
              </a:pPr>
              <a:t>5/10/2022</a:t>
            </a:fld>
            <a:endParaRPr lang="en-US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רקורסיות - קרן כליף</a:t>
            </a:r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D84073-5A4D-49B8-B0A5-89E7C2EF5BA6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912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2F5223-479B-4A66-AFB4-1273610887B1}" type="datetime1">
              <a:rPr lang="en-US"/>
              <a:pPr>
                <a:defRPr/>
              </a:pPr>
              <a:t>5/10/2022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רקורסיות - קרן כליף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F06AF4-5F69-4843-A6CA-30D5D60756E2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646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A51EC5-1437-46AA-ADF6-B47BEB9F7519}" type="datetime1">
              <a:rPr lang="en-US"/>
              <a:pPr>
                <a:defRPr/>
              </a:pPr>
              <a:t>5/10/2022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רקורסיות - קרן כליף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0FFC24-2555-4EBF-8841-7181412E2151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61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44868F-3DD5-4915-ACDC-9451F744A92B}" type="datetime1">
              <a:rPr lang="en-US"/>
              <a:pPr>
                <a:defRPr/>
              </a:pPr>
              <a:t>5/10/2022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רקורסיות - קרן כליף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A5AD9-EA99-4DEA-9D95-3A7A294ACC9B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666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47EA82-60E8-438E-AF8C-3C68F7A21500}" type="datetime1">
              <a:rPr lang="en-US"/>
              <a:pPr>
                <a:defRPr/>
              </a:pPr>
              <a:t>5/10/2022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רקורסיות - קרן כליף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80E0A1-DEFC-4A17-AAC8-24851F803173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979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557A3E-2BBE-48FB-8AE7-A31661FEDDA4}" type="datetime1">
              <a:rPr lang="en-US"/>
              <a:pPr>
                <a:defRPr/>
              </a:pPr>
              <a:t>5/10/2022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רקורסיות - קרן כליף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024E0E-8323-45BF-80B6-F6C0875518E3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767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A937D4-698E-4B9F-A319-F7A1AD5347C6}" type="datetime1">
              <a:rPr lang="en-US"/>
              <a:pPr>
                <a:defRPr/>
              </a:pPr>
              <a:t>5/10/2022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רקורסיות - קרן כליף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D0CE6A-26F2-4FFB-B4D6-9A41F282D129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285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BFCFD6-B48E-4DC7-BEF3-7D0ADB6DA575}" type="datetime1">
              <a:rPr lang="en-US"/>
              <a:pPr>
                <a:defRPr/>
              </a:pPr>
              <a:t>5/10/2022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רקורסיות - קרן כליף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E64D49-AA73-4F2E-B88A-304C0E555A8B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01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355355-F984-4311-9DCB-D54776655E84}" type="datetime1">
              <a:rPr lang="en-US"/>
              <a:pPr>
                <a:defRPr/>
              </a:pPr>
              <a:t>5/10/2022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רקורסיות - קרן כליף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A1A0E4-CD22-4AC2-BA38-C993C752D9AF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233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544C1E-5383-488A-AAC3-A8227FD30285}" type="datetime1">
              <a:rPr lang="en-US"/>
              <a:pPr>
                <a:defRPr/>
              </a:pPr>
              <a:t>5/10/2022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רקורסיות - קרן כליף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B5B00E-646B-4010-B35B-162B907B9AD3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45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CC3C9B-743A-4447-B8ED-91D47753D37A}" type="datetime1">
              <a:rPr lang="en-US"/>
              <a:pPr>
                <a:defRPr/>
              </a:pPr>
              <a:t>5/10/2022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רקורסיות - קרן כליף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FCDD0D-6A4A-4844-BB1A-8D64A89000F9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5695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4F7A1E-A095-4128-B06A-C86B4E99622C}" type="datetime1">
              <a:rPr lang="en-US"/>
              <a:pPr>
                <a:defRPr/>
              </a:pPr>
              <a:t>5/10/2022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רקורסיות - קרן כליף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46C288-97B9-486E-86B3-7F7712A1EB09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45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he-IL" altLang="he-IL" smtClean="0"/>
              <a:t>לחץ כדי לערוך סגנון כותרת של תבנית בסיס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e-IL" altLang="he-IL" smtClean="0"/>
              <a:t>לחץ כדי לערוך סגנונות טקסט של תבנית בסיס</a:t>
            </a:r>
          </a:p>
          <a:p>
            <a:pPr lvl="1"/>
            <a:r>
              <a:rPr lang="he-IL" altLang="he-IL" smtClean="0"/>
              <a:t>רמה שנייה</a:t>
            </a:r>
          </a:p>
          <a:p>
            <a:pPr lvl="2"/>
            <a:r>
              <a:rPr lang="he-IL" altLang="he-IL" smtClean="0"/>
              <a:t>רמה שלישית</a:t>
            </a:r>
          </a:p>
          <a:p>
            <a:pPr lvl="3"/>
            <a:r>
              <a:rPr lang="he-IL" altLang="he-IL" smtClean="0"/>
              <a:t>רמה רביעית</a:t>
            </a:r>
          </a:p>
          <a:p>
            <a:pPr lvl="4"/>
            <a:r>
              <a:rPr lang="he-IL" altLang="he-IL" smtClean="0"/>
              <a:t>רמה חמישית</a:t>
            </a:r>
          </a:p>
        </p:txBody>
      </p:sp>
      <p:sp>
        <p:nvSpPr>
          <p:cNvPr id="26931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auto">
              <a:spcBef>
                <a:spcPts val="0"/>
              </a:spcBef>
              <a:spcAft>
                <a:spcPts val="0"/>
              </a:spcAft>
              <a:defRPr sz="1000">
                <a:latin typeface="+mn-lt"/>
                <a:cs typeface="+mn-cs"/>
              </a:defRPr>
            </a:lvl1pPr>
          </a:lstStyle>
          <a:p>
            <a:pPr>
              <a:defRPr/>
            </a:pPr>
            <a:fld id="{F79283E7-7374-4DC0-A1B4-329AEC207AAE}" type="datetime1">
              <a:rPr lang="en-US"/>
              <a:pPr>
                <a:defRPr/>
              </a:pPr>
              <a:t>5/10/2022</a:t>
            </a:fld>
            <a:endParaRPr lang="en-US"/>
          </a:p>
        </p:txBody>
      </p:sp>
      <p:sp>
        <p:nvSpPr>
          <p:cNvPr id="26931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latin typeface="Verdana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he-IL"/>
              <a:t>רקורסיות - קרן כליף</a:t>
            </a:r>
            <a:endParaRPr lang="en-US"/>
          </a:p>
        </p:txBody>
      </p:sp>
      <p:sp>
        <p:nvSpPr>
          <p:cNvPr id="26931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Verdana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7D4B8FC4-3765-4BDD-8537-CF7DA33048DC}" type="slidenum">
              <a:rPr lang="he-IL"/>
              <a:pPr>
                <a:defRPr/>
              </a:pPr>
              <a:t>‹#›</a:t>
            </a:fld>
            <a:endParaRPr lang="en-US"/>
          </a:p>
        </p:txBody>
      </p:sp>
      <p:sp>
        <p:nvSpPr>
          <p:cNvPr id="269319" name="Rectangle 7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latin typeface="Times New Roman" pitchFamily="18" charset="0"/>
              <a:cs typeface="+mn-cs"/>
            </a:endParaRPr>
          </a:p>
        </p:txBody>
      </p:sp>
      <p:sp>
        <p:nvSpPr>
          <p:cNvPr id="269320" name="Line 8"/>
          <p:cNvSpPr>
            <a:spLocks noChangeShapeType="1"/>
          </p:cNvSpPr>
          <p:nvPr/>
        </p:nvSpPr>
        <p:spPr bwMode="auto">
          <a:xfrm>
            <a:off x="457200" y="144780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69321" name="Rectangle 9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latin typeface="Times New Roman" pitchFamily="18" charset="0"/>
              <a:cs typeface="+mn-cs"/>
            </a:endParaRPr>
          </a:p>
        </p:txBody>
      </p:sp>
      <p:sp>
        <p:nvSpPr>
          <p:cNvPr id="269322" name="Rectangle 10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latin typeface="Times New Roman" pitchFamily="18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  <a:cs typeface="Arial" charset="0"/>
        </a:defRPr>
      </a:lvl2pPr>
      <a:lvl3pPr algn="l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  <a:cs typeface="Arial" charset="0"/>
        </a:defRPr>
      </a:lvl3pPr>
      <a:lvl4pPr algn="l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  <a:cs typeface="Arial" charset="0"/>
        </a:defRPr>
      </a:lvl4pPr>
      <a:lvl5pPr algn="l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  <a:cs typeface="Arial" charset="0"/>
        </a:defRPr>
      </a:lvl5pPr>
      <a:lvl6pPr marL="457200" algn="l" rtl="1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  <a:cs typeface="Arial" charset="0"/>
        </a:defRPr>
      </a:lvl6pPr>
      <a:lvl7pPr marL="914400" algn="l" rtl="1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  <a:cs typeface="Arial" charset="0"/>
        </a:defRPr>
      </a:lvl7pPr>
      <a:lvl8pPr marL="1371600" algn="l" rtl="1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  <a:cs typeface="Arial" charset="0"/>
        </a:defRPr>
      </a:lvl8pPr>
      <a:lvl9pPr marL="1828800" algn="l" rtl="1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p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p"/>
        <a:defRPr sz="20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6pPr>
      <a:lvl7pPr marL="2971800" indent="-228600" algn="r" rtl="1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7pPr>
      <a:lvl8pPr marL="3429000" indent="-228600" algn="r" rtl="1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8pPr>
      <a:lvl9pPr marL="3886200" indent="-228600" algn="r" rtl="1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he-IL" altLang="he-IL" smtClean="0"/>
              <a:t>הקצאות דינאמיות</a:t>
            </a:r>
            <a:endParaRPr lang="en-US" altLang="he-IL" smtClean="0"/>
          </a:p>
        </p:txBody>
      </p:sp>
      <p:sp>
        <p:nvSpPr>
          <p:cNvPr id="3075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he-IL" altLang="he-IL" dirty="0" smtClean="0"/>
              <a:t>שגיא </a:t>
            </a:r>
            <a:r>
              <a:rPr lang="he-IL" altLang="he-IL" dirty="0" err="1" smtClean="0"/>
              <a:t>פייגין</a:t>
            </a:r>
            <a:endParaRPr lang="en-US" altLang="he-IL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algn="r" eaLnBrk="1" hangingPunct="1"/>
            <a:r>
              <a:rPr lang="he-IL" altLang="he-IL" smtClean="0"/>
              <a:t>ביחידה זו נלמד:</a:t>
            </a:r>
            <a:endParaRPr lang="en-US" altLang="he-IL" smtClean="0"/>
          </a:p>
        </p:txBody>
      </p:sp>
      <p:sp>
        <p:nvSpPr>
          <p:cNvPr id="4099" name="Content Placeholder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he-IL" altLang="he-IL" smtClean="0"/>
          </a:p>
          <a:p>
            <a:pPr eaLnBrk="1" hangingPunct="1">
              <a:lnSpc>
                <a:spcPct val="90000"/>
              </a:lnSpc>
            </a:pPr>
            <a:r>
              <a:rPr lang="he-IL" altLang="he-IL" smtClean="0"/>
              <a:t>מוטיבציה להקצאות דינאמיות</a:t>
            </a:r>
          </a:p>
          <a:p>
            <a:pPr eaLnBrk="1" hangingPunct="1">
              <a:lnSpc>
                <a:spcPct val="90000"/>
              </a:lnSpc>
            </a:pPr>
            <a:r>
              <a:rPr lang="he-IL" altLang="he-IL" smtClean="0"/>
              <a:t>מהי הקצאה דינאמית</a:t>
            </a:r>
          </a:p>
          <a:p>
            <a:pPr eaLnBrk="1" hangingPunct="1">
              <a:lnSpc>
                <a:spcPct val="90000"/>
              </a:lnSpc>
            </a:pPr>
            <a:r>
              <a:rPr lang="he-IL" altLang="he-IL" smtClean="0"/>
              <a:t>יצירת מערך בגודל שאינו ידוע מראש</a:t>
            </a:r>
          </a:p>
          <a:p>
            <a:pPr eaLnBrk="1" hangingPunct="1">
              <a:lnSpc>
                <a:spcPct val="90000"/>
              </a:lnSpc>
            </a:pPr>
            <a:r>
              <a:rPr lang="he-IL" altLang="he-IL" smtClean="0"/>
              <a:t>החזרת מערך מפונקציה</a:t>
            </a:r>
          </a:p>
          <a:p>
            <a:pPr eaLnBrk="1" hangingPunct="1">
              <a:lnSpc>
                <a:spcPct val="90000"/>
              </a:lnSpc>
            </a:pPr>
            <a:r>
              <a:rPr lang="he-IL" altLang="he-IL" smtClean="0"/>
              <a:t>הקצאת מערך של מערכים</a:t>
            </a:r>
          </a:p>
          <a:p>
            <a:pPr eaLnBrk="1" hangingPunct="1">
              <a:lnSpc>
                <a:spcPct val="90000"/>
              </a:lnSpc>
            </a:pPr>
            <a:r>
              <a:rPr lang="he-IL" altLang="he-IL" smtClean="0"/>
              <a:t>הגדלת מערך</a:t>
            </a:r>
          </a:p>
          <a:p>
            <a:pPr eaLnBrk="1" hangingPunct="1">
              <a:lnSpc>
                <a:spcPct val="90000"/>
              </a:lnSpc>
            </a:pPr>
            <a:r>
              <a:rPr lang="he-IL" altLang="he-IL" smtClean="0"/>
              <a:t>הפונקציה </a:t>
            </a:r>
            <a:r>
              <a:rPr lang="en-US" altLang="he-IL" smtClean="0"/>
              <a:t>strdup</a:t>
            </a:r>
            <a:endParaRPr lang="he-IL" altLang="he-IL" smtClean="0"/>
          </a:p>
        </p:txBody>
      </p:sp>
      <p:sp>
        <p:nvSpPr>
          <p:cNvPr id="4100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25C4E1D0-0A7C-405A-BC43-5D7279C5F0EA}" type="slidenum">
              <a:rPr lang="he-IL" altLang="he-IL" sz="1000">
                <a:latin typeface="Verdana" pitchFamily="34" charset="0"/>
              </a:rPr>
              <a:pPr algn="r" rtl="1" eaLnBrk="1" hangingPunct="1"/>
              <a:t>2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מוטיבציה להקצאה דינאמית</a:t>
            </a:r>
            <a:endParaRPr lang="en-US" altLang="he-IL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he-IL" altLang="he-IL" dirty="0" smtClean="0"/>
          </a:p>
          <a:p>
            <a:r>
              <a:rPr lang="he-IL" altLang="he-IL" dirty="0" smtClean="0"/>
              <a:t>בעזרת הקצאה דינאמית נוכל:</a:t>
            </a:r>
          </a:p>
          <a:p>
            <a:pPr lvl="1"/>
            <a:r>
              <a:rPr lang="he-IL" altLang="he-IL" dirty="0" smtClean="0"/>
              <a:t>להקצות מערך בזמן ריצה, בלי לדעת את גודלו בזמן קומפילציה.</a:t>
            </a:r>
          </a:p>
          <a:p>
            <a:pPr lvl="1"/>
            <a:r>
              <a:rPr lang="he-IL" altLang="he-IL" dirty="0" smtClean="0"/>
              <a:t>נוכל להחזיר מערך מפונקציה.</a:t>
            </a:r>
          </a:p>
          <a:p>
            <a:endParaRPr lang="en-US" altLang="he-IL" dirty="0" smtClean="0"/>
          </a:p>
        </p:txBody>
      </p:sp>
      <p:sp>
        <p:nvSpPr>
          <p:cNvPr id="5124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CEE6D1F7-FE7B-4520-9522-775361A5FB75}" type="slidenum">
              <a:rPr lang="he-IL" altLang="he-IL" sz="1000">
                <a:latin typeface="Verdana" pitchFamily="34" charset="0"/>
              </a:rPr>
              <a:pPr algn="r" rtl="1" eaLnBrk="1" hangingPunct="1"/>
              <a:t>3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מהי הקצאה דינאמית?</a:t>
            </a:r>
            <a:endParaRPr lang="en-US" altLang="he-IL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r>
              <a:rPr lang="he-IL" altLang="he-IL" dirty="0" smtClean="0"/>
              <a:t>הקצאה דינאמית היא הקצאת שטח זיכרון בגודל מבוקש בזמן ריצת התוכנית.</a:t>
            </a:r>
          </a:p>
          <a:p>
            <a:pPr lvl="1"/>
            <a:r>
              <a:rPr lang="he-IL" altLang="he-IL" dirty="0" smtClean="0"/>
              <a:t>בניגוד להקצאה סטטית שמוקצית בתחילת התוכנית וגודלה ידוע כבר בזמן קומפילציה.</a:t>
            </a:r>
          </a:p>
          <a:p>
            <a:r>
              <a:rPr lang="he-IL" altLang="he-IL" dirty="0" smtClean="0"/>
              <a:t>הקצאה דינאמית מוקצית על שטח הזיכרון </a:t>
            </a:r>
            <a:r>
              <a:rPr lang="en-US" altLang="he-IL" dirty="0" smtClean="0"/>
              <a:t>heap</a:t>
            </a:r>
          </a:p>
          <a:p>
            <a:pPr lvl="1"/>
            <a:r>
              <a:rPr lang="he-IL" altLang="he-IL" dirty="0" smtClean="0"/>
              <a:t>בניגוד להקצאה סטטית שמוקצית על ה- </a:t>
            </a:r>
            <a:r>
              <a:rPr lang="en-US" altLang="he-IL" dirty="0" smtClean="0"/>
              <a:t>stack</a:t>
            </a:r>
            <a:r>
              <a:rPr lang="he-IL" altLang="he-IL" dirty="0" smtClean="0"/>
              <a:t> של הפונקציה.</a:t>
            </a:r>
          </a:p>
          <a:p>
            <a:pPr lvl="1"/>
            <a:r>
              <a:rPr lang="he-IL" altLang="he-IL" dirty="0" smtClean="0"/>
              <a:t>ה- </a:t>
            </a:r>
            <a:r>
              <a:rPr lang="en-US" altLang="he-IL" dirty="0" smtClean="0"/>
              <a:t>heap</a:t>
            </a:r>
            <a:r>
              <a:rPr lang="he-IL" altLang="he-IL" dirty="0" smtClean="0"/>
              <a:t> הוא שטח זיכרון שאיננו נמחק כל זמן ריצת התוכנית (בניגוד ל- </a:t>
            </a:r>
            <a:r>
              <a:rPr lang="en-US" altLang="he-IL" dirty="0" smtClean="0"/>
              <a:t>(stack</a:t>
            </a:r>
            <a:r>
              <a:rPr lang="he-IL" altLang="he-IL" dirty="0" smtClean="0"/>
              <a:t> , אלא אם כן המתכנת ביקש למחקו.</a:t>
            </a:r>
          </a:p>
          <a:p>
            <a:r>
              <a:rPr lang="he-IL" altLang="he-IL" dirty="0" smtClean="0"/>
              <a:t>בהקצאת זיכרון דינאמית המתכנת מבקש ממערכת ההפעלה זיכרון בגודל מסוים  המוגדר בבתים ומקבל את כתובת הבית הראשון בקטע הזיכרון שקיבל.</a:t>
            </a:r>
          </a:p>
          <a:p>
            <a:pPr lvl="1"/>
            <a:endParaRPr lang="en-US" altLang="he-IL" dirty="0" smtClean="0"/>
          </a:p>
        </p:txBody>
      </p:sp>
      <p:sp>
        <p:nvSpPr>
          <p:cNvPr id="6148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195BDA99-48A6-42D9-81D8-F31BE4F2F18D}" type="slidenum">
              <a:rPr lang="he-IL" altLang="he-IL" sz="1000">
                <a:latin typeface="Verdana" pitchFamily="34" charset="0"/>
              </a:rPr>
              <a:pPr algn="r" rtl="1" eaLnBrk="1" hangingPunct="1"/>
              <a:t>4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 Box 3"/>
          <p:cNvSpPr txBox="1">
            <a:spLocks noChangeArrowheads="1"/>
          </p:cNvSpPr>
          <p:nvPr/>
        </p:nvSpPr>
        <p:spPr bwMode="auto">
          <a:xfrm>
            <a:off x="6553200" y="6353175"/>
            <a:ext cx="2127250" cy="366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E61F719D-91A2-4B5A-9E0A-08B861E90C87}" type="slidenum">
              <a:rPr lang="en-US">
                <a:solidFill>
                  <a:srgbClr val="FFFFFF"/>
                </a:solidFill>
              </a:rPr>
              <a:pPr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5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4101" name="Text Box 4"/>
          <p:cNvSpPr txBox="1">
            <a:spLocks noChangeArrowheads="1"/>
          </p:cNvSpPr>
          <p:nvPr/>
        </p:nvSpPr>
        <p:spPr bwMode="auto">
          <a:xfrm>
            <a:off x="7086600" y="1262063"/>
            <a:ext cx="1828800" cy="4910137"/>
          </a:xfrm>
          <a:prstGeom prst="rect">
            <a:avLst/>
          </a:prstGeom>
          <a:solidFill>
            <a:srgbClr val="FFFFFF"/>
          </a:solidFill>
          <a:ln w="25560">
            <a:solidFill>
              <a:srgbClr val="00CC99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2800" b="1">
                <a:solidFill>
                  <a:srgbClr val="C00000"/>
                </a:solidFill>
                <a:latin typeface="Calibri" pitchFamily="34" charset="0"/>
              </a:rPr>
              <a:t>OS</a:t>
            </a:r>
          </a:p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b="1">
              <a:solidFill>
                <a:srgbClr val="00B050"/>
              </a:solidFill>
              <a:latin typeface="Calibri" pitchFamily="34" charset="0"/>
            </a:endParaRPr>
          </a:p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b="1">
              <a:solidFill>
                <a:srgbClr val="00B050"/>
              </a:solidFill>
              <a:latin typeface="Calibri" pitchFamily="34" charset="0"/>
            </a:endParaRPr>
          </a:p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b="1">
                <a:solidFill>
                  <a:srgbClr val="00B050"/>
                </a:solidFill>
                <a:latin typeface="Calibri" pitchFamily="34" charset="0"/>
              </a:rPr>
              <a:t>Stack</a:t>
            </a:r>
          </a:p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b="1">
              <a:solidFill>
                <a:srgbClr val="00B050"/>
              </a:solidFill>
              <a:latin typeface="Calibri" pitchFamily="34" charset="0"/>
            </a:endParaRPr>
          </a:p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b="1">
              <a:solidFill>
                <a:srgbClr val="00B050"/>
              </a:solidFill>
              <a:latin typeface="Calibri" pitchFamily="34" charset="0"/>
            </a:endParaRPr>
          </a:p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b="1">
              <a:solidFill>
                <a:srgbClr val="00B050"/>
              </a:solidFill>
              <a:latin typeface="Calibri" pitchFamily="34" charset="0"/>
            </a:endParaRPr>
          </a:p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b="1">
              <a:solidFill>
                <a:srgbClr val="00B050"/>
              </a:solidFill>
              <a:latin typeface="Calibri" pitchFamily="34" charset="0"/>
            </a:endParaRPr>
          </a:p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b="1">
              <a:solidFill>
                <a:srgbClr val="00B050"/>
              </a:solidFill>
              <a:latin typeface="Calibri" pitchFamily="34" charset="0"/>
            </a:endParaRPr>
          </a:p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b="1">
              <a:solidFill>
                <a:srgbClr val="00B050"/>
              </a:solidFill>
              <a:latin typeface="Calibri" pitchFamily="34" charset="0"/>
            </a:endParaRPr>
          </a:p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b="1">
                <a:solidFill>
                  <a:srgbClr val="00B050"/>
                </a:solidFill>
                <a:latin typeface="Calibri" pitchFamily="34" charset="0"/>
              </a:rPr>
              <a:t>Heap</a:t>
            </a:r>
          </a:p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>
              <a:solidFill>
                <a:srgbClr val="000000"/>
              </a:solidFill>
              <a:latin typeface="Calibri" pitchFamily="34" charset="0"/>
            </a:endParaRPr>
          </a:p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b="1">
                <a:solidFill>
                  <a:srgbClr val="002060"/>
                </a:solidFill>
                <a:latin typeface="Calibri" pitchFamily="34" charset="0"/>
              </a:rPr>
              <a:t>BSS</a:t>
            </a:r>
          </a:p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b="1">
              <a:solidFill>
                <a:srgbClr val="002060"/>
              </a:solidFill>
              <a:latin typeface="Calibri" pitchFamily="34" charset="0"/>
            </a:endParaRPr>
          </a:p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b="1">
                <a:solidFill>
                  <a:srgbClr val="002060"/>
                </a:solidFill>
                <a:latin typeface="Calibri" pitchFamily="34" charset="0"/>
              </a:rPr>
              <a:t>Data</a:t>
            </a:r>
          </a:p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>
              <a:solidFill>
                <a:srgbClr val="000000"/>
              </a:solidFill>
              <a:latin typeface="Calibri" pitchFamily="34" charset="0"/>
            </a:endParaRPr>
          </a:p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b="1">
                <a:solidFill>
                  <a:srgbClr val="FF0000"/>
                </a:solidFill>
                <a:latin typeface="Calibri" pitchFamily="34" charset="0"/>
              </a:rPr>
              <a:t>Text</a:t>
            </a:r>
          </a:p>
        </p:txBody>
      </p:sp>
      <p:sp>
        <p:nvSpPr>
          <p:cNvPr id="4102" name="Line 5"/>
          <p:cNvSpPr>
            <a:spLocks noChangeShapeType="1"/>
          </p:cNvSpPr>
          <p:nvPr/>
        </p:nvSpPr>
        <p:spPr bwMode="auto">
          <a:xfrm>
            <a:off x="7086600" y="5256213"/>
            <a:ext cx="1828800" cy="1587"/>
          </a:xfrm>
          <a:prstGeom prst="line">
            <a:avLst/>
          </a:prstGeom>
          <a:noFill/>
          <a:ln w="9360">
            <a:solidFill>
              <a:srgbClr val="000000"/>
            </a:solidFill>
            <a:prstDash val="dash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3" name="Line 6"/>
          <p:cNvSpPr>
            <a:spLocks noChangeShapeType="1"/>
          </p:cNvSpPr>
          <p:nvPr/>
        </p:nvSpPr>
        <p:spPr bwMode="auto">
          <a:xfrm>
            <a:off x="7086600" y="4570413"/>
            <a:ext cx="1828800" cy="1587"/>
          </a:xfrm>
          <a:prstGeom prst="line">
            <a:avLst/>
          </a:prstGeom>
          <a:noFill/>
          <a:ln w="4428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4" name="Line 7"/>
          <p:cNvSpPr>
            <a:spLocks noChangeShapeType="1"/>
          </p:cNvSpPr>
          <p:nvPr/>
        </p:nvSpPr>
        <p:spPr bwMode="auto">
          <a:xfrm>
            <a:off x="7086600" y="3960813"/>
            <a:ext cx="1828800" cy="158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5" name="Line 8"/>
          <p:cNvSpPr>
            <a:spLocks noChangeShapeType="1"/>
          </p:cNvSpPr>
          <p:nvPr/>
        </p:nvSpPr>
        <p:spPr bwMode="auto">
          <a:xfrm>
            <a:off x="7086600" y="2681288"/>
            <a:ext cx="1828800" cy="158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6" name="Line 9"/>
          <p:cNvSpPr>
            <a:spLocks noChangeShapeType="1"/>
          </p:cNvSpPr>
          <p:nvPr/>
        </p:nvSpPr>
        <p:spPr bwMode="auto">
          <a:xfrm>
            <a:off x="7086600" y="5713413"/>
            <a:ext cx="1828800" cy="1587"/>
          </a:xfrm>
          <a:prstGeom prst="line">
            <a:avLst/>
          </a:prstGeom>
          <a:noFill/>
          <a:ln w="4428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7" name="Line 10"/>
          <p:cNvSpPr>
            <a:spLocks noChangeShapeType="1"/>
          </p:cNvSpPr>
          <p:nvPr/>
        </p:nvSpPr>
        <p:spPr bwMode="auto">
          <a:xfrm>
            <a:off x="7086600" y="2132013"/>
            <a:ext cx="1828800" cy="1587"/>
          </a:xfrm>
          <a:prstGeom prst="line">
            <a:avLst/>
          </a:prstGeom>
          <a:noFill/>
          <a:ln w="38160">
            <a:solidFill>
              <a:srgbClr val="00B0F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8" name="Text Box 11"/>
          <p:cNvSpPr txBox="1">
            <a:spLocks noChangeArrowheads="1"/>
          </p:cNvSpPr>
          <p:nvPr/>
        </p:nvSpPr>
        <p:spPr bwMode="auto">
          <a:xfrm>
            <a:off x="6640513" y="6096000"/>
            <a:ext cx="336550" cy="2762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1200">
                <a:solidFill>
                  <a:srgbClr val="000000"/>
                </a:solidFill>
                <a:latin typeface="Calibri" pitchFamily="34" charset="0"/>
              </a:rPr>
              <a:t>00</a:t>
            </a:r>
          </a:p>
        </p:txBody>
      </p:sp>
      <p:sp>
        <p:nvSpPr>
          <p:cNvPr id="4109" name="Text Box 12"/>
          <p:cNvSpPr txBox="1">
            <a:spLocks noChangeArrowheads="1"/>
          </p:cNvSpPr>
          <p:nvPr/>
        </p:nvSpPr>
        <p:spPr bwMode="auto">
          <a:xfrm>
            <a:off x="6711950" y="2057400"/>
            <a:ext cx="354013" cy="2762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1200">
                <a:solidFill>
                  <a:srgbClr val="000000"/>
                </a:solidFill>
                <a:latin typeface="Calibri" pitchFamily="34" charset="0"/>
              </a:rPr>
              <a:t>3G</a:t>
            </a:r>
          </a:p>
        </p:txBody>
      </p:sp>
      <p:sp>
        <p:nvSpPr>
          <p:cNvPr id="4110" name="Text Box 13"/>
          <p:cNvSpPr txBox="1">
            <a:spLocks noChangeArrowheads="1"/>
          </p:cNvSpPr>
          <p:nvPr/>
        </p:nvSpPr>
        <p:spPr bwMode="auto">
          <a:xfrm>
            <a:off x="6711950" y="1143000"/>
            <a:ext cx="354013" cy="2762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1200">
                <a:solidFill>
                  <a:srgbClr val="000000"/>
                </a:solidFill>
                <a:latin typeface="Calibri" pitchFamily="34" charset="0"/>
              </a:rPr>
              <a:t>4G</a:t>
            </a:r>
          </a:p>
        </p:txBody>
      </p:sp>
      <p:sp>
        <p:nvSpPr>
          <p:cNvPr id="4111" name="Line 14"/>
          <p:cNvSpPr>
            <a:spLocks noChangeShapeType="1"/>
          </p:cNvSpPr>
          <p:nvPr/>
        </p:nvSpPr>
        <p:spPr bwMode="auto">
          <a:xfrm flipV="1">
            <a:off x="7920038" y="3579813"/>
            <a:ext cx="1587" cy="58102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112" name="Line 15"/>
          <p:cNvSpPr>
            <a:spLocks noChangeShapeType="1"/>
          </p:cNvSpPr>
          <p:nvPr/>
        </p:nvSpPr>
        <p:spPr bwMode="auto">
          <a:xfrm>
            <a:off x="7920038" y="2519363"/>
            <a:ext cx="1587" cy="72072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 Memory Map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35013" lvl="1" indent="-246063" algn="l" rtl="0">
              <a:spcBef>
                <a:spcPts val="700"/>
              </a:spcBef>
              <a:buClrTx/>
              <a:buFontTx/>
              <a:buNone/>
              <a:tabLst>
                <a:tab pos="735013" algn="l"/>
                <a:tab pos="1182688" algn="l"/>
                <a:tab pos="1631950" algn="l"/>
                <a:tab pos="2081213" algn="l"/>
                <a:tab pos="2530475" algn="l"/>
                <a:tab pos="2979738" algn="l"/>
                <a:tab pos="3429000" algn="l"/>
                <a:tab pos="3878263" algn="l"/>
                <a:tab pos="4327525" algn="l"/>
                <a:tab pos="4776788" algn="l"/>
                <a:tab pos="5226050" algn="l"/>
                <a:tab pos="5675313" algn="l"/>
                <a:tab pos="6124575" algn="l"/>
                <a:tab pos="6573838" algn="l"/>
                <a:tab pos="7023100" algn="l"/>
                <a:tab pos="7472363" algn="l"/>
                <a:tab pos="7921625" algn="l"/>
                <a:tab pos="8370888" algn="l"/>
                <a:tab pos="8820150" algn="l"/>
                <a:tab pos="9269413" algn="l"/>
                <a:tab pos="9718675" algn="l"/>
              </a:tabLst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</a:rPr>
              <a:t>UNIX Process has four segments: </a:t>
            </a:r>
          </a:p>
          <a:p>
            <a:pPr marL="1103313" lvl="2" indent="-250825" algn="l" rtl="0">
              <a:spcBef>
                <a:spcPts val="700"/>
              </a:spcBef>
              <a:tabLst>
                <a:tab pos="735013" algn="l"/>
                <a:tab pos="1182688" algn="l"/>
                <a:tab pos="1631950" algn="l"/>
                <a:tab pos="2081213" algn="l"/>
                <a:tab pos="2530475" algn="l"/>
                <a:tab pos="2979738" algn="l"/>
                <a:tab pos="3429000" algn="l"/>
                <a:tab pos="3878263" algn="l"/>
                <a:tab pos="4327525" algn="l"/>
                <a:tab pos="4776788" algn="l"/>
                <a:tab pos="5226050" algn="l"/>
                <a:tab pos="5675313" algn="l"/>
                <a:tab pos="6124575" algn="l"/>
                <a:tab pos="6573838" algn="l"/>
                <a:tab pos="7023100" algn="l"/>
                <a:tab pos="7472363" algn="l"/>
                <a:tab pos="7921625" algn="l"/>
                <a:tab pos="8370888" algn="l"/>
                <a:tab pos="8820150" algn="l"/>
                <a:tab pos="9269413" algn="l"/>
                <a:tab pos="9718675" algn="l"/>
              </a:tabLst>
            </a:pPr>
            <a:r>
              <a:rPr lang="en-US" sz="2800" b="1" dirty="0" smtClean="0">
                <a:solidFill>
                  <a:srgbClr val="000000"/>
                </a:solidFill>
                <a:latin typeface="Calibri" pitchFamily="34" charset="0"/>
              </a:rPr>
              <a:t>Stack	</a:t>
            </a:r>
            <a:r>
              <a:rPr lang="en-US" sz="2800" dirty="0" smtClean="0">
                <a:solidFill>
                  <a:srgbClr val="000000"/>
                </a:solidFill>
                <a:latin typeface="Calibri" pitchFamily="34" charset="0"/>
              </a:rPr>
              <a:t>– Local data</a:t>
            </a:r>
            <a:endParaRPr lang="en-US" sz="2800" dirty="0">
              <a:solidFill>
                <a:srgbClr val="000000"/>
              </a:solidFill>
              <a:latin typeface="Calibri" pitchFamily="34" charset="0"/>
            </a:endParaRPr>
          </a:p>
          <a:p>
            <a:pPr marL="1103313" lvl="2" indent="-250825" algn="l" rtl="0">
              <a:spcBef>
                <a:spcPts val="700"/>
              </a:spcBef>
              <a:tabLst>
                <a:tab pos="735013" algn="l"/>
                <a:tab pos="1182688" algn="l"/>
                <a:tab pos="1631950" algn="l"/>
                <a:tab pos="2081213" algn="l"/>
                <a:tab pos="2530475" algn="l"/>
                <a:tab pos="2979738" algn="l"/>
                <a:tab pos="3429000" algn="l"/>
                <a:tab pos="3878263" algn="l"/>
                <a:tab pos="4327525" algn="l"/>
                <a:tab pos="4776788" algn="l"/>
                <a:tab pos="5226050" algn="l"/>
                <a:tab pos="5675313" algn="l"/>
                <a:tab pos="6124575" algn="l"/>
                <a:tab pos="6573838" algn="l"/>
                <a:tab pos="7023100" algn="l"/>
                <a:tab pos="7472363" algn="l"/>
                <a:tab pos="7921625" algn="l"/>
                <a:tab pos="8370888" algn="l"/>
                <a:tab pos="8820150" algn="l"/>
                <a:tab pos="9269413" algn="l"/>
                <a:tab pos="9718675" algn="l"/>
              </a:tabLst>
            </a:pPr>
            <a:r>
              <a:rPr lang="en-US" sz="2800" b="1" dirty="0" smtClean="0">
                <a:solidFill>
                  <a:srgbClr val="000000"/>
                </a:solidFill>
                <a:latin typeface="Calibri" pitchFamily="34" charset="0"/>
              </a:rPr>
              <a:t>Heap	</a:t>
            </a:r>
            <a:r>
              <a:rPr lang="en-US" sz="2800" dirty="0" smtClean="0">
                <a:solidFill>
                  <a:srgbClr val="000000"/>
                </a:solidFill>
                <a:latin typeface="Calibri" pitchFamily="34" charset="0"/>
              </a:rPr>
              <a:t>– </a:t>
            </a:r>
            <a:r>
              <a:rPr lang="en-US" sz="2800" dirty="0">
                <a:solidFill>
                  <a:srgbClr val="000000"/>
                </a:solidFill>
                <a:latin typeface="Calibri" pitchFamily="34" charset="0"/>
              </a:rPr>
              <a:t>User allocated </a:t>
            </a:r>
            <a:r>
              <a:rPr lang="en-US" sz="2800" dirty="0" smtClean="0">
                <a:solidFill>
                  <a:srgbClr val="000000"/>
                </a:solidFill>
                <a:latin typeface="Calibri" pitchFamily="34" charset="0"/>
              </a:rPr>
              <a:t>data</a:t>
            </a:r>
            <a:endParaRPr lang="en-US" sz="2800" dirty="0">
              <a:solidFill>
                <a:srgbClr val="000000"/>
              </a:solidFill>
              <a:latin typeface="Calibri" pitchFamily="34" charset="0"/>
            </a:endParaRPr>
          </a:p>
          <a:p>
            <a:pPr marL="1103313" lvl="2" indent="-250825" algn="l" rtl="0">
              <a:spcBef>
                <a:spcPts val="700"/>
              </a:spcBef>
              <a:tabLst>
                <a:tab pos="735013" algn="l"/>
                <a:tab pos="1182688" algn="l"/>
                <a:tab pos="1631950" algn="l"/>
                <a:tab pos="2081213" algn="l"/>
                <a:tab pos="2530475" algn="l"/>
                <a:tab pos="2979738" algn="l"/>
                <a:tab pos="3429000" algn="l"/>
                <a:tab pos="3878263" algn="l"/>
                <a:tab pos="4327525" algn="l"/>
                <a:tab pos="4776788" algn="l"/>
                <a:tab pos="5226050" algn="l"/>
                <a:tab pos="5675313" algn="l"/>
                <a:tab pos="6124575" algn="l"/>
                <a:tab pos="6573838" algn="l"/>
                <a:tab pos="7023100" algn="l"/>
                <a:tab pos="7472363" algn="l"/>
                <a:tab pos="7921625" algn="l"/>
                <a:tab pos="8370888" algn="l"/>
                <a:tab pos="8820150" algn="l"/>
                <a:tab pos="9269413" algn="l"/>
                <a:tab pos="9718675" algn="l"/>
              </a:tabLst>
            </a:pPr>
            <a:r>
              <a:rPr lang="en-US" sz="2800" b="1" dirty="0" smtClean="0">
                <a:solidFill>
                  <a:srgbClr val="000000"/>
                </a:solidFill>
                <a:latin typeface="Calibri" pitchFamily="34" charset="0"/>
              </a:rPr>
              <a:t>BSS	</a:t>
            </a:r>
            <a:r>
              <a:rPr lang="en-US" sz="2800" dirty="0" smtClean="0">
                <a:solidFill>
                  <a:srgbClr val="000000"/>
                </a:solidFill>
                <a:latin typeface="Calibri" pitchFamily="34" charset="0"/>
              </a:rPr>
              <a:t>– </a:t>
            </a:r>
            <a:r>
              <a:rPr lang="en-US" sz="2800" dirty="0">
                <a:solidFill>
                  <a:srgbClr val="000000"/>
                </a:solidFill>
                <a:latin typeface="Calibri" pitchFamily="34" charset="0"/>
              </a:rPr>
              <a:t>Uninitialized global </a:t>
            </a:r>
            <a:r>
              <a:rPr lang="en-US" sz="2800" dirty="0" smtClean="0">
                <a:solidFill>
                  <a:srgbClr val="000000"/>
                </a:solidFill>
                <a:latin typeface="Calibri" pitchFamily="34" charset="0"/>
              </a:rPr>
              <a:t>data</a:t>
            </a:r>
            <a:endParaRPr lang="en-US" sz="2800" dirty="0">
              <a:solidFill>
                <a:srgbClr val="000000"/>
              </a:solidFill>
              <a:latin typeface="Calibri" pitchFamily="34" charset="0"/>
            </a:endParaRPr>
          </a:p>
          <a:p>
            <a:pPr marL="1103313" lvl="2" indent="-250825" algn="l" rtl="0">
              <a:spcBef>
                <a:spcPts val="700"/>
              </a:spcBef>
              <a:tabLst>
                <a:tab pos="735013" algn="l"/>
                <a:tab pos="1182688" algn="l"/>
                <a:tab pos="1631950" algn="l"/>
                <a:tab pos="2081213" algn="l"/>
                <a:tab pos="2530475" algn="l"/>
                <a:tab pos="2979738" algn="l"/>
                <a:tab pos="3429000" algn="l"/>
                <a:tab pos="3878263" algn="l"/>
                <a:tab pos="4327525" algn="l"/>
                <a:tab pos="4776788" algn="l"/>
                <a:tab pos="5226050" algn="l"/>
                <a:tab pos="5675313" algn="l"/>
                <a:tab pos="6124575" algn="l"/>
                <a:tab pos="6573838" algn="l"/>
                <a:tab pos="7023100" algn="l"/>
                <a:tab pos="7472363" algn="l"/>
                <a:tab pos="7921625" algn="l"/>
                <a:tab pos="8370888" algn="l"/>
                <a:tab pos="8820150" algn="l"/>
                <a:tab pos="9269413" algn="l"/>
                <a:tab pos="9718675" algn="l"/>
              </a:tabLst>
            </a:pPr>
            <a:r>
              <a:rPr lang="en-US" sz="2800" b="1" dirty="0" smtClean="0">
                <a:solidFill>
                  <a:srgbClr val="000000"/>
                </a:solidFill>
                <a:latin typeface="Calibri" pitchFamily="34" charset="0"/>
              </a:rPr>
              <a:t>Data	</a:t>
            </a:r>
            <a:r>
              <a:rPr lang="en-US" sz="2800" dirty="0" smtClean="0">
                <a:solidFill>
                  <a:srgbClr val="000000"/>
                </a:solidFill>
                <a:latin typeface="Calibri" pitchFamily="34" charset="0"/>
              </a:rPr>
              <a:t>– </a:t>
            </a:r>
            <a:r>
              <a:rPr lang="en-US" sz="2800" dirty="0">
                <a:solidFill>
                  <a:srgbClr val="000000"/>
                </a:solidFill>
                <a:latin typeface="Calibri" pitchFamily="34" charset="0"/>
              </a:rPr>
              <a:t>Initialized global </a:t>
            </a:r>
            <a:r>
              <a:rPr lang="en-US" sz="2800" dirty="0" smtClean="0">
                <a:solidFill>
                  <a:srgbClr val="000000"/>
                </a:solidFill>
                <a:latin typeface="Calibri" pitchFamily="34" charset="0"/>
              </a:rPr>
              <a:t>data</a:t>
            </a:r>
            <a:endParaRPr lang="en-US" sz="2800" dirty="0">
              <a:solidFill>
                <a:srgbClr val="000000"/>
              </a:solidFill>
              <a:latin typeface="Calibri" pitchFamily="34" charset="0"/>
            </a:endParaRPr>
          </a:p>
          <a:p>
            <a:pPr marL="2017713" lvl="4" indent="-250825" algn="l" rtl="0">
              <a:spcBef>
                <a:spcPts val="700"/>
              </a:spcBef>
              <a:buFont typeface="Wingdings" pitchFamily="2" charset="2"/>
              <a:buChar char="§"/>
              <a:tabLst>
                <a:tab pos="735013" algn="l"/>
                <a:tab pos="1182688" algn="l"/>
                <a:tab pos="1631950" algn="l"/>
                <a:tab pos="2081213" algn="l"/>
                <a:tab pos="2530475" algn="l"/>
                <a:tab pos="2979738" algn="l"/>
                <a:tab pos="3429000" algn="l"/>
                <a:tab pos="3878263" algn="l"/>
                <a:tab pos="4327525" algn="l"/>
                <a:tab pos="4776788" algn="l"/>
                <a:tab pos="5226050" algn="l"/>
                <a:tab pos="5675313" algn="l"/>
                <a:tab pos="6124575" algn="l"/>
                <a:tab pos="6573838" algn="l"/>
                <a:tab pos="7023100" algn="l"/>
                <a:tab pos="7472363" algn="l"/>
                <a:tab pos="7921625" algn="l"/>
                <a:tab pos="8370888" algn="l"/>
                <a:tab pos="8820150" algn="l"/>
                <a:tab pos="9269413" algn="l"/>
                <a:tab pos="9718675" algn="l"/>
              </a:tabLst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</a:rPr>
              <a:t>R/W area.</a:t>
            </a:r>
          </a:p>
          <a:p>
            <a:pPr marL="2017713" lvl="4" indent="-250825" algn="l" rtl="0">
              <a:spcBef>
                <a:spcPts val="700"/>
              </a:spcBef>
              <a:buFont typeface="Wingdings" pitchFamily="2" charset="2"/>
              <a:buChar char="§"/>
              <a:tabLst>
                <a:tab pos="735013" algn="l"/>
                <a:tab pos="1182688" algn="l"/>
                <a:tab pos="1631950" algn="l"/>
                <a:tab pos="2081213" algn="l"/>
                <a:tab pos="2530475" algn="l"/>
                <a:tab pos="2979738" algn="l"/>
                <a:tab pos="3429000" algn="l"/>
                <a:tab pos="3878263" algn="l"/>
                <a:tab pos="4327525" algn="l"/>
                <a:tab pos="4776788" algn="l"/>
                <a:tab pos="5226050" algn="l"/>
                <a:tab pos="5675313" algn="l"/>
                <a:tab pos="6124575" algn="l"/>
                <a:tab pos="6573838" algn="l"/>
                <a:tab pos="7023100" algn="l"/>
                <a:tab pos="7472363" algn="l"/>
                <a:tab pos="7921625" algn="l"/>
                <a:tab pos="8370888" algn="l"/>
                <a:tab pos="8820150" algn="l"/>
                <a:tab pos="9269413" algn="l"/>
                <a:tab pos="9718675" algn="l"/>
              </a:tabLst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</a:rPr>
              <a:t>R/O area.</a:t>
            </a:r>
          </a:p>
          <a:p>
            <a:pPr marL="1103313" lvl="2" indent="-250825" algn="l" rtl="0">
              <a:spcBef>
                <a:spcPts val="700"/>
              </a:spcBef>
              <a:tabLst>
                <a:tab pos="735013" algn="l"/>
                <a:tab pos="1182688" algn="l"/>
                <a:tab pos="1631950" algn="l"/>
                <a:tab pos="2081213" algn="l"/>
                <a:tab pos="2530475" algn="l"/>
                <a:tab pos="2979738" algn="l"/>
                <a:tab pos="3429000" algn="l"/>
                <a:tab pos="3878263" algn="l"/>
                <a:tab pos="4327525" algn="l"/>
                <a:tab pos="4776788" algn="l"/>
                <a:tab pos="5226050" algn="l"/>
                <a:tab pos="5675313" algn="l"/>
                <a:tab pos="6124575" algn="l"/>
                <a:tab pos="6573838" algn="l"/>
                <a:tab pos="7023100" algn="l"/>
                <a:tab pos="7472363" algn="l"/>
                <a:tab pos="7921625" algn="l"/>
                <a:tab pos="8370888" algn="l"/>
                <a:tab pos="8820150" algn="l"/>
                <a:tab pos="9269413" algn="l"/>
                <a:tab pos="9718675" algn="l"/>
              </a:tabLst>
            </a:pPr>
            <a:r>
              <a:rPr lang="en-US" sz="2800" b="1" dirty="0" smtClean="0">
                <a:solidFill>
                  <a:srgbClr val="000000"/>
                </a:solidFill>
                <a:latin typeface="Calibri" pitchFamily="34" charset="0"/>
              </a:rPr>
              <a:t>Text	</a:t>
            </a:r>
            <a:r>
              <a:rPr lang="en-US" sz="2800" dirty="0" smtClean="0">
                <a:solidFill>
                  <a:srgbClr val="000000"/>
                </a:solidFill>
                <a:latin typeface="Calibri" pitchFamily="34" charset="0"/>
              </a:rPr>
              <a:t>– Program code</a:t>
            </a:r>
            <a:endParaRPr lang="en-US" sz="280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he-IL" smtClean="0"/>
              <a:t>Processes</a:t>
            </a:r>
            <a:endParaRPr lang="en-US" dirty="0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Written by </a:t>
            </a:r>
            <a:r>
              <a:rPr lang="en-US" b="1" dirty="0" err="1" smtClean="0"/>
              <a:t>Dudi</a:t>
            </a:r>
            <a:r>
              <a:rPr lang="en-US" dirty="0" smtClean="0"/>
              <a:t> </a:t>
            </a:r>
            <a:r>
              <a:rPr lang="en-US" dirty="0" err="1" smtClean="0"/>
              <a:t>Kahana</a:t>
            </a:r>
            <a:endParaRPr lang="en-US" dirty="0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16BA1E-CF73-4BD5-8360-DDBEAEBCF853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80062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הגדרה נוספת ל- </a:t>
            </a:r>
            <a:r>
              <a:rPr lang="en-US" altLang="he-IL" smtClean="0"/>
              <a:t>&lt;type&gt;*</a:t>
            </a:r>
            <a:r>
              <a:rPr lang="he-IL" altLang="he-IL" smtClean="0"/>
              <a:t> </a:t>
            </a:r>
            <a:endParaRPr lang="en-US" altLang="he-IL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he-IL" altLang="he-IL" dirty="0" smtClean="0"/>
              <a:t>אנו יודעים שמשתנה מטיפוס *</a:t>
            </a:r>
            <a:r>
              <a:rPr lang="en-US" altLang="he-IL" dirty="0" smtClean="0"/>
              <a:t>&lt;type&gt;</a:t>
            </a:r>
            <a:r>
              <a:rPr lang="he-IL" altLang="he-IL" dirty="0" smtClean="0"/>
              <a:t>מכיל כתובת של משתנה מטיפוס </a:t>
            </a:r>
            <a:r>
              <a:rPr lang="en-US" altLang="he-IL" dirty="0" smtClean="0"/>
              <a:t>&lt;type&gt;</a:t>
            </a:r>
            <a:r>
              <a:rPr lang="he-IL" altLang="he-IL" dirty="0" smtClean="0"/>
              <a:t> כלשהו.</a:t>
            </a:r>
          </a:p>
          <a:p>
            <a:pPr>
              <a:lnSpc>
                <a:spcPct val="90000"/>
              </a:lnSpc>
            </a:pPr>
            <a:r>
              <a:rPr lang="he-IL" altLang="he-IL" dirty="0" smtClean="0"/>
              <a:t>כתובת התחלה של מערך מטיפוס </a:t>
            </a:r>
            <a:r>
              <a:rPr lang="en-US" altLang="he-IL" dirty="0" smtClean="0"/>
              <a:t>&lt;type&gt;</a:t>
            </a:r>
            <a:r>
              <a:rPr lang="he-IL" altLang="he-IL" dirty="0" smtClean="0"/>
              <a:t>היא גם כתובתו של האיבר הראשון במערך, שהוא משתנה מטיפוס </a:t>
            </a:r>
            <a:r>
              <a:rPr lang="en-US" altLang="he-IL" dirty="0" smtClean="0"/>
              <a:t>&lt;type&gt;</a:t>
            </a:r>
            <a:r>
              <a:rPr lang="he-IL" altLang="he-IL" dirty="0" smtClean="0"/>
              <a:t>.</a:t>
            </a:r>
          </a:p>
          <a:p>
            <a:pPr>
              <a:lnSpc>
                <a:spcPct val="90000"/>
              </a:lnSpc>
            </a:pPr>
            <a:r>
              <a:rPr lang="he-IL" altLang="he-IL" dirty="0" smtClean="0"/>
              <a:t>לכן משתנה מטיפוס </a:t>
            </a:r>
            <a:r>
              <a:rPr lang="en-US" altLang="he-IL" dirty="0" smtClean="0"/>
              <a:t>&lt;type&gt;*</a:t>
            </a:r>
            <a:r>
              <a:rPr lang="he-IL" altLang="he-IL" dirty="0" smtClean="0"/>
              <a:t> יכול להכיל גם כתובת התחלה של מערך.</a:t>
            </a:r>
          </a:p>
          <a:p>
            <a:pPr>
              <a:lnSpc>
                <a:spcPct val="90000"/>
              </a:lnSpc>
            </a:pPr>
            <a:r>
              <a:rPr lang="he-IL" altLang="he-IL" dirty="0" smtClean="0"/>
              <a:t>לכן נאמר ש- </a:t>
            </a:r>
            <a:r>
              <a:rPr lang="en-US" altLang="he-IL" dirty="0" smtClean="0"/>
              <a:t>&lt;type&gt;*</a:t>
            </a:r>
            <a:r>
              <a:rPr lang="he-IL" altLang="he-IL" dirty="0" smtClean="0"/>
              <a:t> הוא פוטנציאל למערך.</a:t>
            </a:r>
          </a:p>
          <a:p>
            <a:pPr lvl="1">
              <a:lnSpc>
                <a:spcPct val="90000"/>
              </a:lnSpc>
            </a:pPr>
            <a:r>
              <a:rPr lang="he-IL" altLang="he-IL" dirty="0" smtClean="0"/>
              <a:t>כלומר, יכול להכיל כתובת התחלה של מערך (ולא רק כתובת של משתנה יחיד מטיפוס </a:t>
            </a:r>
            <a:r>
              <a:rPr lang="en-US" altLang="he-IL" dirty="0" smtClean="0"/>
              <a:t>&lt;type&gt;</a:t>
            </a:r>
            <a:r>
              <a:rPr lang="he-IL" altLang="he-IL" dirty="0" smtClean="0"/>
              <a:t>).</a:t>
            </a:r>
          </a:p>
          <a:p>
            <a:pPr>
              <a:lnSpc>
                <a:spcPct val="90000"/>
              </a:lnSpc>
            </a:pPr>
            <a:endParaRPr lang="en-US" altLang="he-IL" dirty="0" smtClean="0"/>
          </a:p>
        </p:txBody>
      </p:sp>
      <p:sp>
        <p:nvSpPr>
          <p:cNvPr id="7172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147D5AB1-2DC3-47D3-9E90-3137543901AA}" type="slidenum">
              <a:rPr lang="he-IL" altLang="he-IL" sz="1000">
                <a:latin typeface="Verdana" pitchFamily="34" charset="0"/>
              </a:rPr>
              <a:pPr algn="r" rtl="1" eaLnBrk="1" hangingPunct="1"/>
              <a:t>6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פונקציות לשימוש בהקצאות דינאמיות</a:t>
            </a:r>
            <a:endParaRPr lang="en-US" altLang="he-IL" smtClean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1054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he-IL" altLang="he-IL" sz="2400" dirty="0" smtClean="0"/>
              <a:t>כדי לעבוד עם הקצאות דינאמיות יש להכליל את </a:t>
            </a:r>
            <a:r>
              <a:rPr lang="he-IL" altLang="he-IL" sz="2400" dirty="0" err="1" smtClean="0"/>
              <a:t>הספריה</a:t>
            </a:r>
            <a:r>
              <a:rPr lang="he-IL" altLang="he-IL" sz="2400" dirty="0" smtClean="0"/>
              <a:t> </a:t>
            </a:r>
            <a:r>
              <a:rPr lang="en-US" altLang="he-IL" sz="2400" dirty="0" err="1" smtClean="0"/>
              <a:t>stdlib.h</a:t>
            </a:r>
            <a:r>
              <a:rPr lang="he-IL" altLang="he-IL" sz="2400" dirty="0" smtClean="0"/>
              <a:t> לצורך שימוש בפונקציות הבאות:</a:t>
            </a:r>
          </a:p>
          <a:p>
            <a:pPr>
              <a:lnSpc>
                <a:spcPct val="80000"/>
              </a:lnSpc>
            </a:pPr>
            <a:r>
              <a:rPr lang="en-US" altLang="he-IL" sz="2400" dirty="0" smtClean="0"/>
              <a:t>void* </a:t>
            </a:r>
            <a:r>
              <a:rPr lang="en-US" altLang="he-IL" sz="2400" dirty="0" err="1" smtClean="0"/>
              <a:t>malloc</a:t>
            </a:r>
            <a:r>
              <a:rPr lang="en-US" altLang="he-IL" sz="2400" dirty="0" smtClean="0"/>
              <a:t>(</a:t>
            </a:r>
            <a:r>
              <a:rPr lang="en-US" altLang="he-IL" sz="2400" dirty="0" err="1" smtClean="0"/>
              <a:t>size_t</a:t>
            </a:r>
            <a:r>
              <a:rPr lang="en-US" altLang="he-IL" sz="2400" dirty="0" smtClean="0"/>
              <a:t> size)</a:t>
            </a:r>
            <a:endParaRPr lang="he-IL" altLang="he-IL" sz="2400" dirty="0" smtClean="0"/>
          </a:p>
          <a:p>
            <a:pPr lvl="1">
              <a:lnSpc>
                <a:spcPct val="80000"/>
              </a:lnSpc>
            </a:pPr>
            <a:r>
              <a:rPr lang="he-IL" altLang="he-IL" sz="2000" dirty="0" smtClean="0"/>
              <a:t>הפונקציה מקבלת את גודל הזיכרון המבוקש בבתים ומחזירה כתובת לתחילת שטח הזיכרון שהוקצה,  ו-</a:t>
            </a:r>
            <a:r>
              <a:rPr lang="en-US" altLang="he-IL" sz="2000" dirty="0" smtClean="0"/>
              <a:t>NULL</a:t>
            </a:r>
            <a:r>
              <a:rPr lang="he-IL" altLang="he-IL" sz="2000" dirty="0" smtClean="0"/>
              <a:t> במקרה שלא היה מספיק זיכרון פנוי להקצאה</a:t>
            </a:r>
          </a:p>
          <a:p>
            <a:pPr lvl="2">
              <a:lnSpc>
                <a:spcPct val="80000"/>
              </a:lnSpc>
            </a:pPr>
            <a:r>
              <a:rPr lang="he-IL" altLang="he-IL" sz="1800" dirty="0" smtClean="0"/>
              <a:t>נשים לב ש- </a:t>
            </a:r>
            <a:r>
              <a:rPr lang="en-US" altLang="he-IL" sz="1800" dirty="0" err="1" smtClean="0"/>
              <a:t>size_t</a:t>
            </a:r>
            <a:r>
              <a:rPr lang="he-IL" altLang="he-IL" sz="1800" dirty="0" smtClean="0"/>
              <a:t> הוא </a:t>
            </a:r>
            <a:r>
              <a:rPr lang="en-US" altLang="he-IL" sz="1800" dirty="0" err="1" smtClean="0"/>
              <a:t>typedef</a:t>
            </a:r>
            <a:r>
              <a:rPr lang="he-IL" altLang="he-IL" sz="1800" dirty="0" smtClean="0"/>
              <a:t> ל- </a:t>
            </a:r>
            <a:r>
              <a:rPr lang="en-US" altLang="he-IL" sz="1800" dirty="0" smtClean="0"/>
              <a:t>unsigned </a:t>
            </a:r>
            <a:r>
              <a:rPr lang="en-US" altLang="he-IL" sz="1800" dirty="0" err="1" smtClean="0"/>
              <a:t>int</a:t>
            </a:r>
            <a:r>
              <a:rPr lang="he-IL" altLang="he-IL" sz="1800" dirty="0" smtClean="0"/>
              <a:t>, כלומר הפונקציה מקבלת את מספר הבתים שעליה להקצות.</a:t>
            </a:r>
          </a:p>
          <a:p>
            <a:pPr lvl="2">
              <a:lnSpc>
                <a:spcPct val="80000"/>
              </a:lnSpc>
            </a:pPr>
            <a:r>
              <a:rPr lang="he-IL" altLang="he-IL" sz="1800" dirty="0" smtClean="0"/>
              <a:t>הפונקציה מחזירה </a:t>
            </a:r>
            <a:r>
              <a:rPr lang="en-US" altLang="he-IL" sz="1800" dirty="0" smtClean="0"/>
              <a:t>void*</a:t>
            </a:r>
            <a:r>
              <a:rPr lang="he-IL" altLang="he-IL" sz="1800" dirty="0" smtClean="0"/>
              <a:t> שזה הכללה למצביע מכל טיפוס.</a:t>
            </a:r>
          </a:p>
          <a:p>
            <a:pPr lvl="1">
              <a:lnSpc>
                <a:spcPct val="80000"/>
              </a:lnSpc>
            </a:pPr>
            <a:r>
              <a:rPr lang="he-IL" altLang="he-IL" sz="2000" dirty="0" smtClean="0"/>
              <a:t>שטח הזיכרון המתקבל מכיל זבל.</a:t>
            </a:r>
          </a:p>
          <a:p>
            <a:pPr>
              <a:lnSpc>
                <a:spcPct val="80000"/>
              </a:lnSpc>
            </a:pPr>
            <a:endParaRPr lang="he-IL" altLang="he-IL" sz="2400" dirty="0" smtClean="0"/>
          </a:p>
          <a:p>
            <a:pPr>
              <a:lnSpc>
                <a:spcPct val="80000"/>
              </a:lnSpc>
            </a:pPr>
            <a:r>
              <a:rPr lang="en-US" altLang="he-IL" sz="2400" dirty="0" smtClean="0"/>
              <a:t>void* </a:t>
            </a:r>
            <a:r>
              <a:rPr lang="en-US" altLang="he-IL" sz="2400" dirty="0" err="1" smtClean="0"/>
              <a:t>calloc</a:t>
            </a:r>
            <a:r>
              <a:rPr lang="en-US" altLang="he-IL" sz="2400" dirty="0" smtClean="0"/>
              <a:t>(</a:t>
            </a:r>
            <a:r>
              <a:rPr lang="en-US" altLang="he-IL" sz="2400" dirty="0" err="1" smtClean="0"/>
              <a:t>size_t</a:t>
            </a:r>
            <a:r>
              <a:rPr lang="en-US" altLang="he-IL" sz="2400" dirty="0" smtClean="0"/>
              <a:t> </a:t>
            </a:r>
            <a:r>
              <a:rPr lang="en-US" altLang="he-IL" sz="2400" dirty="0" err="1" smtClean="0"/>
              <a:t>n,size_t</a:t>
            </a:r>
            <a:r>
              <a:rPr lang="en-US" altLang="he-IL" sz="2400" dirty="0" smtClean="0"/>
              <a:t> </a:t>
            </a:r>
            <a:r>
              <a:rPr lang="en-US" altLang="he-IL" sz="2400" dirty="0" err="1" smtClean="0"/>
              <a:t>size_el</a:t>
            </a:r>
            <a:r>
              <a:rPr lang="en-US" altLang="he-IL" sz="2400" dirty="0" smtClean="0"/>
              <a:t>)</a:t>
            </a:r>
            <a:endParaRPr lang="he-IL" altLang="he-IL" sz="2400" dirty="0" smtClean="0"/>
          </a:p>
          <a:p>
            <a:pPr lvl="1">
              <a:lnSpc>
                <a:spcPct val="80000"/>
              </a:lnSpc>
            </a:pPr>
            <a:r>
              <a:rPr lang="he-IL" altLang="he-IL" sz="2000" dirty="0" smtClean="0"/>
              <a:t>כמו </a:t>
            </a:r>
            <a:r>
              <a:rPr lang="en-US" altLang="he-IL" sz="2000" dirty="0" err="1" smtClean="0"/>
              <a:t>malloc</a:t>
            </a:r>
            <a:r>
              <a:rPr lang="he-IL" altLang="he-IL" sz="2000" dirty="0" smtClean="0"/>
              <a:t> אבל מקבלת את כמות האיברים שרוצה להקצות, ומה הגודל של כל איבר. מקצה את השטח ומאפסת אותו.</a:t>
            </a:r>
          </a:p>
          <a:p>
            <a:pPr lvl="1">
              <a:lnSpc>
                <a:spcPct val="80000"/>
              </a:lnSpc>
            </a:pPr>
            <a:r>
              <a:rPr lang="he-IL" altLang="he-IL" sz="2000" dirty="0" smtClean="0"/>
              <a:t>מקצה מערך של </a:t>
            </a:r>
            <a:r>
              <a:rPr lang="en-US" altLang="he-IL" sz="2000" dirty="0" smtClean="0"/>
              <a:t>n</a:t>
            </a:r>
            <a:r>
              <a:rPr lang="he-IL" altLang="he-IL" sz="2000" dirty="0" smtClean="0"/>
              <a:t> איברים כל איבר בגודל  </a:t>
            </a:r>
            <a:r>
              <a:rPr lang="en-US" altLang="he-IL" sz="2000" dirty="0" err="1" smtClean="0"/>
              <a:t>size_el</a:t>
            </a:r>
            <a:r>
              <a:rPr lang="he-IL" altLang="he-IL" sz="2000" dirty="0" smtClean="0"/>
              <a:t> בתים, כל הזיכרון מאותחל לאפס. קריאה מוצלחת תחזיר את כתובת ההתחלה של הזיכרון המוקצה ,  ו-</a:t>
            </a:r>
            <a:r>
              <a:rPr lang="en-US" altLang="he-IL" sz="2000" dirty="0" smtClean="0"/>
              <a:t>NULL</a:t>
            </a:r>
            <a:r>
              <a:rPr lang="he-IL" altLang="he-IL" sz="2000" dirty="0" smtClean="0"/>
              <a:t> במקרה שלא היה מספיק זיכרון פנוי להקצאה.</a:t>
            </a:r>
            <a:endParaRPr lang="en-US" altLang="he-IL" sz="2000" dirty="0" smtClean="0"/>
          </a:p>
          <a:p>
            <a:pPr>
              <a:lnSpc>
                <a:spcPct val="80000"/>
              </a:lnSpc>
            </a:pPr>
            <a:endParaRPr lang="en-US" altLang="he-IL" sz="2400" dirty="0" smtClean="0"/>
          </a:p>
        </p:txBody>
      </p:sp>
      <p:sp>
        <p:nvSpPr>
          <p:cNvPr id="8196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0AC200B5-58BF-47BE-BC12-C68C6A96CD2F}" type="slidenum">
              <a:rPr lang="he-IL" altLang="he-IL" sz="1000">
                <a:latin typeface="Verdana" pitchFamily="34" charset="0"/>
              </a:rPr>
              <a:pPr algn="r" rtl="1" eaLnBrk="1" hangingPunct="1"/>
              <a:t>7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5"/>
          <p:cNvSpPr>
            <a:spLocks noChangeArrowheads="1"/>
          </p:cNvSpPr>
          <p:nvPr/>
        </p:nvSpPr>
        <p:spPr bwMode="auto">
          <a:xfrm>
            <a:off x="381000" y="1295400"/>
            <a:ext cx="83058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endParaRPr lang="he-IL" altLang="he-IL">
              <a:latin typeface="Verdana" pitchFamily="34" charset="0"/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altLang="he-IL" sz="4000" smtClean="0"/>
              <a:t>malloc</a:t>
            </a:r>
            <a:r>
              <a:rPr lang="he-IL" altLang="he-IL" sz="4000" smtClean="0"/>
              <a:t> – הקצאת מערך בגודל שאינו ידוע מראש</a:t>
            </a:r>
            <a:endParaRPr lang="en-US" altLang="he-IL" sz="4000" smtClean="0"/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229600" cy="4530725"/>
          </a:xfrm>
        </p:spPr>
        <p:txBody>
          <a:bodyPr/>
          <a:lstStyle/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#include &lt;stdio.h&gt;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#include &lt;stdlib.h&gt;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void main()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int size, *arr, i;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printf("Please enter the size of the array: ");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scanf("%d", &amp;size);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arr = </a:t>
            </a:r>
            <a:r>
              <a:rPr lang="en-US" altLang="he-IL" sz="1200" noProof="1" smtClean="0">
                <a:solidFill>
                  <a:schemeClr val="hlink"/>
                </a:solidFill>
              </a:rPr>
              <a:t>(int*)</a:t>
            </a:r>
            <a:r>
              <a:rPr lang="en-US" altLang="he-IL" sz="1200" dirty="0" smtClean="0"/>
              <a:t>m</a:t>
            </a:r>
            <a:r>
              <a:rPr lang="en-US" altLang="he-IL" sz="1200" noProof="1" smtClean="0"/>
              <a:t>alloc(size*sizeof(int));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if (!arr) </a:t>
            </a:r>
            <a:r>
              <a:rPr lang="en-US" altLang="he-IL" sz="1200" noProof="1" smtClean="0">
                <a:solidFill>
                  <a:srgbClr val="009900"/>
                </a:solidFill>
              </a:rPr>
              <a:t>// (arr == NULL) --&gt; allocaton didn't succeed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	printf("ERROR! Out of memory!\n");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	exit(1);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}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printf("Values in the array: ");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for (i=0 ; i &lt; size ; i++)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	printf("%d ", </a:t>
            </a:r>
            <a:r>
              <a:rPr lang="en-US" altLang="he-IL" sz="1200" dirty="0" smtClean="0"/>
              <a:t>*(</a:t>
            </a:r>
            <a:r>
              <a:rPr lang="en-US" altLang="he-IL" sz="1200" noProof="1" smtClean="0"/>
              <a:t>arr</a:t>
            </a:r>
            <a:r>
              <a:rPr lang="en-US" altLang="he-IL" sz="1200" dirty="0" smtClean="0"/>
              <a:t>+</a:t>
            </a:r>
            <a:r>
              <a:rPr lang="en-US" altLang="he-IL" sz="1200" noProof="1" smtClean="0"/>
              <a:t>i</a:t>
            </a:r>
            <a:r>
              <a:rPr lang="en-US" altLang="he-IL" sz="1200" dirty="0" smtClean="0"/>
              <a:t>)</a:t>
            </a:r>
            <a:r>
              <a:rPr lang="en-US" altLang="he-IL" sz="1200" noProof="1" smtClean="0"/>
              <a:t>);</a:t>
            </a:r>
            <a:r>
              <a:rPr lang="en-US" altLang="he-IL" sz="1200" dirty="0" smtClean="0"/>
              <a:t> </a:t>
            </a:r>
            <a:r>
              <a:rPr lang="en-US" altLang="he-IL" sz="1200" dirty="0" smtClean="0">
                <a:solidFill>
                  <a:srgbClr val="009900"/>
                </a:solidFill>
              </a:rPr>
              <a:t>//*(</a:t>
            </a:r>
            <a:r>
              <a:rPr lang="en-US" altLang="he-IL" sz="1200" dirty="0" err="1" smtClean="0">
                <a:solidFill>
                  <a:srgbClr val="009900"/>
                </a:solidFill>
              </a:rPr>
              <a:t>arr+i</a:t>
            </a:r>
            <a:r>
              <a:rPr lang="en-US" altLang="he-IL" sz="1200" dirty="0" smtClean="0">
                <a:solidFill>
                  <a:srgbClr val="009900"/>
                </a:solidFill>
              </a:rPr>
              <a:t>) == </a:t>
            </a:r>
            <a:r>
              <a:rPr lang="en-US" altLang="he-IL" sz="1200" dirty="0" err="1" smtClean="0">
                <a:solidFill>
                  <a:srgbClr val="009900"/>
                </a:solidFill>
              </a:rPr>
              <a:t>arr</a:t>
            </a:r>
            <a:r>
              <a:rPr lang="en-US" altLang="he-IL" sz="1200" dirty="0" smtClean="0">
                <a:solidFill>
                  <a:srgbClr val="009900"/>
                </a:solidFill>
              </a:rPr>
              <a:t>[</a:t>
            </a:r>
            <a:r>
              <a:rPr lang="en-US" altLang="he-IL" sz="1200" dirty="0" err="1" smtClean="0">
                <a:solidFill>
                  <a:srgbClr val="009900"/>
                </a:solidFill>
              </a:rPr>
              <a:t>i</a:t>
            </a:r>
            <a:r>
              <a:rPr lang="en-US" altLang="he-IL" sz="1200" dirty="0" smtClean="0">
                <a:solidFill>
                  <a:srgbClr val="009900"/>
                </a:solidFill>
              </a:rPr>
              <a:t>]</a:t>
            </a:r>
            <a:endParaRPr lang="en-US" altLang="he-IL" sz="1200" noProof="1" smtClean="0">
              <a:solidFill>
                <a:srgbClr val="009900"/>
              </a:solidFill>
            </a:endParaRP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printf("\nPlease enter %d numbers: ", size);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for (i=0 ; i &lt; size ; i++)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	scanf("%d", &amp;arr[i]);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printf("Values in the array: ");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for (i=0 ; i &lt; size ; i++)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	printf("%d ", arr[i]);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printf("\n");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}</a:t>
            </a:r>
            <a:endParaRPr lang="en-US" altLang="he-IL" sz="1200" dirty="0" smtClean="0"/>
          </a:p>
        </p:txBody>
      </p:sp>
      <p:sp>
        <p:nvSpPr>
          <p:cNvPr id="175108" name="AutoShape 4"/>
          <p:cNvSpPr>
            <a:spLocks noChangeArrowheads="1"/>
          </p:cNvSpPr>
          <p:nvPr/>
        </p:nvSpPr>
        <p:spPr bwMode="auto">
          <a:xfrm>
            <a:off x="2209800" y="990600"/>
            <a:ext cx="3352800" cy="381000"/>
          </a:xfrm>
          <a:prstGeom prst="wedgeRectCallout">
            <a:avLst>
              <a:gd name="adj1" fmla="val -60560"/>
              <a:gd name="adj2" fmla="val 2708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he-IL" altLang="he-IL" b="1">
                <a:solidFill>
                  <a:schemeClr val="bg1"/>
                </a:solidFill>
              </a:rPr>
              <a:t>לצורך שימוש בהקצאות דנאמיות</a:t>
            </a:r>
            <a:endParaRPr lang="en-US" altLang="he-IL" b="1">
              <a:solidFill>
                <a:schemeClr val="bg1"/>
              </a:solidFill>
            </a:endParaRPr>
          </a:p>
        </p:txBody>
      </p:sp>
      <p:sp>
        <p:nvSpPr>
          <p:cNvPr id="28681" name="Text Box 47"/>
          <p:cNvSpPr txBox="1">
            <a:spLocks noChangeArrowheads="1"/>
          </p:cNvSpPr>
          <p:nvPr/>
        </p:nvSpPr>
        <p:spPr bwMode="auto">
          <a:xfrm>
            <a:off x="6629400" y="5043488"/>
            <a:ext cx="1981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>
              <a:spcBef>
                <a:spcPct val="50000"/>
              </a:spcBef>
            </a:pPr>
            <a:r>
              <a:rPr lang="he-IL" altLang="he-IL"/>
              <a:t>הזיכרון של ה- </a:t>
            </a:r>
            <a:r>
              <a:rPr lang="en-US" altLang="he-IL"/>
              <a:t>main</a:t>
            </a:r>
          </a:p>
        </p:txBody>
      </p:sp>
      <p:graphicFrame>
        <p:nvGraphicFramePr>
          <p:cNvPr id="175110" name="Group 6"/>
          <p:cNvGraphicFramePr>
            <a:graphicFrameLocks noGrp="1"/>
          </p:cNvGraphicFramePr>
          <p:nvPr/>
        </p:nvGraphicFramePr>
        <p:xfrm>
          <a:off x="5943600" y="3962400"/>
          <a:ext cx="2743200" cy="1098710"/>
        </p:xfrm>
        <a:graphic>
          <a:graphicData uri="http://schemas.openxmlformats.org/drawingml/2006/table">
            <a:tbl>
              <a:tblPr/>
              <a:tblGrid>
                <a:gridCol w="1295400"/>
                <a:gridCol w="838200"/>
                <a:gridCol w="6096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int:size</a:t>
                      </a:r>
                    </a:p>
                  </a:txBody>
                  <a:tcPr marT="45694" marB="45694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694" marB="4569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694" marB="4569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8440" name="Oval 72"/>
          <p:cNvSpPr>
            <a:spLocks noChangeArrowheads="1"/>
          </p:cNvSpPr>
          <p:nvPr/>
        </p:nvSpPr>
        <p:spPr bwMode="auto">
          <a:xfrm>
            <a:off x="5410200" y="2057400"/>
            <a:ext cx="3505200" cy="1447800"/>
          </a:xfrm>
          <a:prstGeom prst="ellipse">
            <a:avLst/>
          </a:prstGeom>
          <a:solidFill>
            <a:srgbClr val="00CC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he-IL" altLang="he-IL"/>
          </a:p>
        </p:txBody>
      </p:sp>
      <p:sp>
        <p:nvSpPr>
          <p:cNvPr id="3" name="Text Box 9"/>
          <p:cNvSpPr txBox="1">
            <a:spLocks noChangeArrowheads="1"/>
          </p:cNvSpPr>
          <p:nvPr/>
        </p:nvSpPr>
        <p:spPr bwMode="auto">
          <a:xfrm>
            <a:off x="6096000" y="3429000"/>
            <a:ext cx="1981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>
              <a:spcBef>
                <a:spcPct val="50000"/>
              </a:spcBef>
            </a:pPr>
            <a:r>
              <a:rPr lang="he-IL" altLang="he-IL"/>
              <a:t>זיכרון ה- </a:t>
            </a:r>
            <a:r>
              <a:rPr lang="en-US" altLang="he-IL"/>
              <a:t>heap</a:t>
            </a:r>
          </a:p>
        </p:txBody>
      </p:sp>
      <p:graphicFrame>
        <p:nvGraphicFramePr>
          <p:cNvPr id="175129" name="Group 25"/>
          <p:cNvGraphicFramePr>
            <a:graphicFrameLocks noGrp="1"/>
          </p:cNvGraphicFramePr>
          <p:nvPr/>
        </p:nvGraphicFramePr>
        <p:xfrm>
          <a:off x="5943600" y="3962400"/>
          <a:ext cx="2743200" cy="1098710"/>
        </p:xfrm>
        <a:graphic>
          <a:graphicData uri="http://schemas.openxmlformats.org/drawingml/2006/table">
            <a:tbl>
              <a:tblPr/>
              <a:tblGrid>
                <a:gridCol w="1295400"/>
                <a:gridCol w="838200"/>
                <a:gridCol w="6096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int:size</a:t>
                      </a:r>
                    </a:p>
                  </a:txBody>
                  <a:tcPr marT="45694" marB="45694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694" marB="4569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694" marB="4569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75216" name="Group 112"/>
          <p:cNvGraphicFramePr>
            <a:graphicFrameLocks noGrp="1"/>
          </p:cNvGraphicFramePr>
          <p:nvPr/>
        </p:nvGraphicFramePr>
        <p:xfrm>
          <a:off x="6248400" y="2209800"/>
          <a:ext cx="1905000" cy="1098710"/>
        </p:xfrm>
        <a:graphic>
          <a:graphicData uri="http://schemas.openxmlformats.org/drawingml/2006/table">
            <a:tbl>
              <a:tblPr/>
              <a:tblGrid>
                <a:gridCol w="457200"/>
                <a:gridCol w="914400"/>
                <a:gridCol w="5334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5160" name="Group 56"/>
          <p:cNvGraphicFramePr>
            <a:graphicFrameLocks noGrp="1"/>
          </p:cNvGraphicFramePr>
          <p:nvPr/>
        </p:nvGraphicFramePr>
        <p:xfrm>
          <a:off x="5943600" y="3962400"/>
          <a:ext cx="2743200" cy="1098710"/>
        </p:xfrm>
        <a:graphic>
          <a:graphicData uri="http://schemas.openxmlformats.org/drawingml/2006/table">
            <a:tbl>
              <a:tblPr/>
              <a:tblGrid>
                <a:gridCol w="1295400"/>
                <a:gridCol w="838200"/>
                <a:gridCol w="6096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int:size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694" marB="4569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3000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694" marB="4569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75200" name="Group 96"/>
          <p:cNvGraphicFramePr>
            <a:graphicFrameLocks noGrp="1"/>
          </p:cNvGraphicFramePr>
          <p:nvPr/>
        </p:nvGraphicFramePr>
        <p:xfrm>
          <a:off x="6248400" y="2209800"/>
          <a:ext cx="1905000" cy="1098710"/>
        </p:xfrm>
        <a:graphic>
          <a:graphicData uri="http://schemas.openxmlformats.org/drawingml/2006/table">
            <a:tbl>
              <a:tblPr/>
              <a:tblGrid>
                <a:gridCol w="457200"/>
                <a:gridCol w="914400"/>
                <a:gridCol w="5334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9312" name="Picture 8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5468938"/>
            <a:ext cx="5715000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14" name="Slide Number Placeholder 3"/>
          <p:cNvSpPr txBox="1">
            <a:spLocks noGrp="1"/>
          </p:cNvSpPr>
          <p:nvPr/>
        </p:nvSpPr>
        <p:spPr bwMode="auto">
          <a:xfrm>
            <a:off x="228600" y="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rtl="1" eaLnBrk="1" hangingPunct="1"/>
            <a:fld id="{22247305-1A84-43FF-8000-B7CF7C0C8626}" type="slidenum">
              <a:rPr lang="he-IL" altLang="he-IL" sz="1000">
                <a:latin typeface="Verdana" pitchFamily="34" charset="0"/>
              </a:rPr>
              <a:pPr rtl="1" eaLnBrk="1" hangingPunct="1"/>
              <a:t>8</a:t>
            </a:fld>
            <a:endParaRPr lang="en-US" altLang="he-IL" sz="1000" dirty="0">
              <a:latin typeface="Verdana" pitchFamily="34" charset="0"/>
            </a:endParaRPr>
          </a:p>
          <a:p>
            <a:pPr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5"/>
          <p:cNvSpPr>
            <a:spLocks noChangeArrowheads="1"/>
          </p:cNvSpPr>
          <p:nvPr/>
        </p:nvSpPr>
        <p:spPr bwMode="auto">
          <a:xfrm>
            <a:off x="381000" y="1295400"/>
            <a:ext cx="83058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endParaRPr lang="he-IL" altLang="he-IL">
              <a:latin typeface="Verdana" pitchFamily="34" charset="0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altLang="he-IL" sz="4000" smtClean="0"/>
              <a:t>calloc</a:t>
            </a:r>
            <a:r>
              <a:rPr lang="he-IL" altLang="he-IL" sz="4000" smtClean="0"/>
              <a:t> – הקצאת מערך בגודל שאינו ידוע מראש</a:t>
            </a:r>
            <a:endParaRPr lang="en-US" altLang="he-IL" sz="4000" smtClean="0"/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229600" cy="4530725"/>
          </a:xfrm>
        </p:spPr>
        <p:txBody>
          <a:bodyPr/>
          <a:lstStyle/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#include &lt;stdio.h&gt;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#include &lt;stdlib.h&gt;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void main()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int size, *arr, i;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printf("Please enter the size of the array: ");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scanf("%d", &amp;size);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arr = </a:t>
            </a:r>
            <a:r>
              <a:rPr lang="en-US" altLang="he-IL" sz="1200" i="1" noProof="1" smtClean="0">
                <a:solidFill>
                  <a:schemeClr val="hlink"/>
                </a:solidFill>
              </a:rPr>
              <a:t>(int*)</a:t>
            </a:r>
            <a:r>
              <a:rPr lang="en-US" altLang="he-IL" sz="1200" i="1" dirty="0" smtClean="0"/>
              <a:t>c</a:t>
            </a:r>
            <a:r>
              <a:rPr lang="en-US" altLang="he-IL" sz="1200" i="1" noProof="1" smtClean="0"/>
              <a:t>alloc(size</a:t>
            </a:r>
            <a:r>
              <a:rPr lang="en-US" altLang="he-IL" sz="1200" i="1" dirty="0" smtClean="0"/>
              <a:t>, </a:t>
            </a:r>
            <a:r>
              <a:rPr lang="en-US" altLang="he-IL" sz="1200" i="1" noProof="1" smtClean="0"/>
              <a:t>sizeof(int));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if (!arr) </a:t>
            </a:r>
            <a:r>
              <a:rPr lang="en-US" altLang="he-IL" sz="1200" noProof="1" smtClean="0">
                <a:solidFill>
                  <a:srgbClr val="009900"/>
                </a:solidFill>
              </a:rPr>
              <a:t>// (arr == NULL) --&gt; allocaton didn't succeed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	printf("ERROR! Out of memory!\n");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	exit(1);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}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printf("Values in the array: ");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for (i=0 ; i &lt; size ; i++)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	printf("%d ", </a:t>
            </a:r>
            <a:r>
              <a:rPr lang="en-US" altLang="he-IL" sz="1200" dirty="0" smtClean="0"/>
              <a:t>*(</a:t>
            </a:r>
            <a:r>
              <a:rPr lang="en-US" altLang="he-IL" sz="1200" noProof="1" smtClean="0"/>
              <a:t>arr</a:t>
            </a:r>
            <a:r>
              <a:rPr lang="en-US" altLang="he-IL" sz="1200" dirty="0" smtClean="0"/>
              <a:t>+</a:t>
            </a:r>
            <a:r>
              <a:rPr lang="en-US" altLang="he-IL" sz="1200" noProof="1" smtClean="0"/>
              <a:t>i</a:t>
            </a:r>
            <a:r>
              <a:rPr lang="en-US" altLang="he-IL" sz="1200" dirty="0" smtClean="0"/>
              <a:t>)</a:t>
            </a:r>
            <a:r>
              <a:rPr lang="en-US" altLang="he-IL" sz="1200" noProof="1" smtClean="0"/>
              <a:t>);</a:t>
            </a:r>
            <a:r>
              <a:rPr lang="en-US" altLang="he-IL" sz="1200" dirty="0" smtClean="0"/>
              <a:t> </a:t>
            </a:r>
            <a:r>
              <a:rPr lang="en-US" altLang="he-IL" sz="1200" dirty="0" smtClean="0">
                <a:solidFill>
                  <a:srgbClr val="009900"/>
                </a:solidFill>
              </a:rPr>
              <a:t>//*(</a:t>
            </a:r>
            <a:r>
              <a:rPr lang="en-US" altLang="he-IL" sz="1200" dirty="0" err="1" smtClean="0">
                <a:solidFill>
                  <a:srgbClr val="009900"/>
                </a:solidFill>
              </a:rPr>
              <a:t>arr+i</a:t>
            </a:r>
            <a:r>
              <a:rPr lang="en-US" altLang="he-IL" sz="1200" dirty="0" smtClean="0">
                <a:solidFill>
                  <a:srgbClr val="009900"/>
                </a:solidFill>
              </a:rPr>
              <a:t>) == </a:t>
            </a:r>
            <a:r>
              <a:rPr lang="en-US" altLang="he-IL" sz="1200" dirty="0" err="1" smtClean="0">
                <a:solidFill>
                  <a:srgbClr val="009900"/>
                </a:solidFill>
              </a:rPr>
              <a:t>arr</a:t>
            </a:r>
            <a:r>
              <a:rPr lang="en-US" altLang="he-IL" sz="1200" dirty="0" smtClean="0">
                <a:solidFill>
                  <a:srgbClr val="009900"/>
                </a:solidFill>
              </a:rPr>
              <a:t>[</a:t>
            </a:r>
            <a:r>
              <a:rPr lang="en-US" altLang="he-IL" sz="1200" dirty="0" err="1" smtClean="0">
                <a:solidFill>
                  <a:srgbClr val="009900"/>
                </a:solidFill>
              </a:rPr>
              <a:t>i</a:t>
            </a:r>
            <a:r>
              <a:rPr lang="en-US" altLang="he-IL" sz="1200" dirty="0" smtClean="0">
                <a:solidFill>
                  <a:srgbClr val="009900"/>
                </a:solidFill>
              </a:rPr>
              <a:t>]</a:t>
            </a:r>
            <a:endParaRPr lang="en-US" altLang="he-IL" sz="1200" noProof="1" smtClean="0">
              <a:solidFill>
                <a:srgbClr val="009900"/>
              </a:solidFill>
            </a:endParaRP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printf("\nPlease enter %d numbers: ", size);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for (i=0 ; i &lt; size ; i++)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	scanf("%d", &amp;arr[i]);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printf("Values in the array: ");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for (i=0 ; i &lt; size ; i++)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	printf("%d ", arr[i]);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printf("\n");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}</a:t>
            </a:r>
            <a:endParaRPr lang="en-US" altLang="he-IL" sz="1200" dirty="0" smtClean="0"/>
          </a:p>
        </p:txBody>
      </p:sp>
      <p:sp>
        <p:nvSpPr>
          <p:cNvPr id="28681" name="Text Box 47"/>
          <p:cNvSpPr txBox="1">
            <a:spLocks noChangeArrowheads="1"/>
          </p:cNvSpPr>
          <p:nvPr/>
        </p:nvSpPr>
        <p:spPr bwMode="auto">
          <a:xfrm>
            <a:off x="6629400" y="4662488"/>
            <a:ext cx="1981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>
              <a:spcBef>
                <a:spcPct val="50000"/>
              </a:spcBef>
            </a:pPr>
            <a:r>
              <a:rPr lang="he-IL" altLang="he-IL"/>
              <a:t>הזיכרון של ה- </a:t>
            </a:r>
            <a:r>
              <a:rPr lang="en-US" altLang="he-IL"/>
              <a:t>main</a:t>
            </a:r>
          </a:p>
        </p:txBody>
      </p:sp>
      <p:graphicFrame>
        <p:nvGraphicFramePr>
          <p:cNvPr id="166945" name="Group 33"/>
          <p:cNvGraphicFramePr>
            <a:graphicFrameLocks noGrp="1"/>
          </p:cNvGraphicFramePr>
          <p:nvPr/>
        </p:nvGraphicFramePr>
        <p:xfrm>
          <a:off x="5943600" y="3581400"/>
          <a:ext cx="2743200" cy="1098710"/>
        </p:xfrm>
        <a:graphic>
          <a:graphicData uri="http://schemas.openxmlformats.org/drawingml/2006/table">
            <a:tbl>
              <a:tblPr/>
              <a:tblGrid>
                <a:gridCol w="1295400"/>
                <a:gridCol w="838200"/>
                <a:gridCol w="6096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int:size</a:t>
                      </a:r>
                    </a:p>
                  </a:txBody>
                  <a:tcPr marT="45694" marB="45694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694" marB="4569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694" marB="4569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8440" name="Oval 72"/>
          <p:cNvSpPr>
            <a:spLocks noChangeArrowheads="1"/>
          </p:cNvSpPr>
          <p:nvPr/>
        </p:nvSpPr>
        <p:spPr bwMode="auto">
          <a:xfrm>
            <a:off x="5410200" y="1676400"/>
            <a:ext cx="3505200" cy="1447800"/>
          </a:xfrm>
          <a:prstGeom prst="ellipse">
            <a:avLst/>
          </a:prstGeom>
          <a:solidFill>
            <a:srgbClr val="00CC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he-IL" altLang="he-IL"/>
          </a:p>
        </p:txBody>
      </p:sp>
      <p:sp>
        <p:nvSpPr>
          <p:cNvPr id="3" name="Text Box 9"/>
          <p:cNvSpPr txBox="1">
            <a:spLocks noChangeArrowheads="1"/>
          </p:cNvSpPr>
          <p:nvPr/>
        </p:nvSpPr>
        <p:spPr bwMode="auto">
          <a:xfrm>
            <a:off x="6096000" y="3048000"/>
            <a:ext cx="1981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>
              <a:spcBef>
                <a:spcPct val="50000"/>
              </a:spcBef>
            </a:pPr>
            <a:r>
              <a:rPr lang="he-IL" altLang="he-IL"/>
              <a:t>זיכרון ה- </a:t>
            </a:r>
            <a:r>
              <a:rPr lang="en-US" altLang="he-IL"/>
              <a:t>heap</a:t>
            </a:r>
          </a:p>
        </p:txBody>
      </p:sp>
      <p:graphicFrame>
        <p:nvGraphicFramePr>
          <p:cNvPr id="166947" name="Group 35"/>
          <p:cNvGraphicFramePr>
            <a:graphicFrameLocks noGrp="1"/>
          </p:cNvGraphicFramePr>
          <p:nvPr/>
        </p:nvGraphicFramePr>
        <p:xfrm>
          <a:off x="5943600" y="3581400"/>
          <a:ext cx="2743200" cy="1098710"/>
        </p:xfrm>
        <a:graphic>
          <a:graphicData uri="http://schemas.openxmlformats.org/drawingml/2006/table">
            <a:tbl>
              <a:tblPr/>
              <a:tblGrid>
                <a:gridCol w="1295400"/>
                <a:gridCol w="838200"/>
                <a:gridCol w="6096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int:size</a:t>
                      </a:r>
                    </a:p>
                  </a:txBody>
                  <a:tcPr marT="45694" marB="45694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694" marB="4569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694" marB="4569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7067" name="Group 155"/>
          <p:cNvGraphicFramePr>
            <a:graphicFrameLocks noGrp="1"/>
          </p:cNvGraphicFramePr>
          <p:nvPr/>
        </p:nvGraphicFramePr>
        <p:xfrm>
          <a:off x="6096000" y="1828800"/>
          <a:ext cx="1981200" cy="1098710"/>
        </p:xfrm>
        <a:graphic>
          <a:graphicData uri="http://schemas.openxmlformats.org/drawingml/2006/table">
            <a:tbl>
              <a:tblPr/>
              <a:tblGrid>
                <a:gridCol w="533400"/>
                <a:gridCol w="914400"/>
                <a:gridCol w="5334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7016" name="Group 104"/>
          <p:cNvGraphicFramePr>
            <a:graphicFrameLocks noGrp="1"/>
          </p:cNvGraphicFramePr>
          <p:nvPr/>
        </p:nvGraphicFramePr>
        <p:xfrm>
          <a:off x="5943600" y="3581400"/>
          <a:ext cx="2743200" cy="1098710"/>
        </p:xfrm>
        <a:graphic>
          <a:graphicData uri="http://schemas.openxmlformats.org/drawingml/2006/table">
            <a:tbl>
              <a:tblPr/>
              <a:tblGrid>
                <a:gridCol w="1295400"/>
                <a:gridCol w="838200"/>
                <a:gridCol w="6096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int:size</a:t>
                      </a:r>
                    </a:p>
                  </a:txBody>
                  <a:tcPr marT="45694" marB="45694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694" marB="4569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3000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694" marB="4569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7083" name="Group 171"/>
          <p:cNvGraphicFramePr>
            <a:graphicFrameLocks noGrp="1"/>
          </p:cNvGraphicFramePr>
          <p:nvPr/>
        </p:nvGraphicFramePr>
        <p:xfrm>
          <a:off x="6096000" y="1828800"/>
          <a:ext cx="1981200" cy="1098710"/>
        </p:xfrm>
        <a:graphic>
          <a:graphicData uri="http://schemas.openxmlformats.org/drawingml/2006/table">
            <a:tbl>
              <a:tblPr/>
              <a:tblGrid>
                <a:gridCol w="533400"/>
                <a:gridCol w="914400"/>
                <a:gridCol w="5334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0335" name="Picture 13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5181600"/>
            <a:ext cx="44196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36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4C10DA5F-E784-49DC-AA55-7C14B6325EC0}" type="slidenum">
              <a:rPr lang="he-IL" altLang="he-IL" sz="1000">
                <a:latin typeface="Verdana" pitchFamily="34" charset="0"/>
              </a:rPr>
              <a:pPr algn="r" rtl="1" eaLnBrk="1" hangingPunct="1"/>
              <a:t>9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שחרור הזיכרון שהוקצה</a:t>
            </a:r>
            <a:endParaRPr lang="en-US" altLang="he-IL" smtClean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5105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he-IL" altLang="he-IL" dirty="0" smtClean="0"/>
              <a:t>אחריות המתכנת לשחרר את כל זיכרון שהוקצה דינאמית</a:t>
            </a:r>
          </a:p>
          <a:p>
            <a:pPr>
              <a:lnSpc>
                <a:spcPct val="90000"/>
              </a:lnSpc>
            </a:pPr>
            <a:r>
              <a:rPr lang="he-IL" altLang="he-IL" dirty="0" smtClean="0"/>
              <a:t>במילים אחרות, המתכנת אחראי להחזיר למערכת ההפעלה כל שטח זיכרון שביקש ממנה בזמן ריצה</a:t>
            </a:r>
          </a:p>
          <a:p>
            <a:pPr>
              <a:lnSpc>
                <a:spcPct val="90000"/>
              </a:lnSpc>
            </a:pPr>
            <a:r>
              <a:rPr lang="he-IL" altLang="he-IL" dirty="0" smtClean="0"/>
              <a:t>הסיבה:</a:t>
            </a:r>
          </a:p>
          <a:p>
            <a:pPr lvl="1">
              <a:lnSpc>
                <a:spcPct val="90000"/>
              </a:lnSpc>
            </a:pPr>
            <a:r>
              <a:rPr lang="he-IL" altLang="he-IL" dirty="0" smtClean="0"/>
              <a:t>שטח ה- </a:t>
            </a:r>
            <a:r>
              <a:rPr lang="en-US" altLang="he-IL" dirty="0" smtClean="0"/>
              <a:t>heap</a:t>
            </a:r>
            <a:r>
              <a:rPr lang="he-IL" altLang="he-IL" dirty="0" smtClean="0"/>
              <a:t> עליו מוקצות ההקצאות הדינאמיות מוגבל בשטחו, ואז בקשת הזיכרון הבאה עלולה לקבל </a:t>
            </a:r>
            <a:r>
              <a:rPr lang="en-US" altLang="he-IL" dirty="0" smtClean="0"/>
              <a:t>NULL</a:t>
            </a:r>
            <a:r>
              <a:rPr lang="he-IL" altLang="he-IL" dirty="0" smtClean="0"/>
              <a:t> כי לא החזרנו את הזיכרון שביקשנו בסיום העבודה...</a:t>
            </a:r>
          </a:p>
          <a:p>
            <a:pPr>
              <a:lnSpc>
                <a:spcPct val="90000"/>
              </a:lnSpc>
            </a:pPr>
            <a:r>
              <a:rPr lang="he-IL" altLang="he-IL" dirty="0" smtClean="0"/>
              <a:t>הקומפיילר לא מתריע על אי-שחרור הזיכרון ואין שום אינדיקציה לדעת זאת, לכן חייבים לשים לב!!</a:t>
            </a:r>
            <a:endParaRPr lang="en-US" altLang="he-IL" dirty="0" smtClean="0"/>
          </a:p>
        </p:txBody>
      </p:sp>
      <p:sp>
        <p:nvSpPr>
          <p:cNvPr id="11268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B2FC14E2-BB8E-4ADE-AEB3-C97B0A9F9103}" type="slidenum">
              <a:rPr lang="he-IL" altLang="he-IL" sz="1000">
                <a:latin typeface="Verdana" pitchFamily="34" charset="0"/>
              </a:rPr>
              <a:pPr algn="r" rtl="1" eaLnBrk="1" hangingPunct="1"/>
              <a:t>10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פונקציה לשחרור הקצאות דינאמיות</a:t>
            </a:r>
            <a:endParaRPr lang="en-US" altLang="he-IL" smtClean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he-IL" altLang="he-IL" dirty="0" smtClean="0"/>
          </a:p>
          <a:p>
            <a:pPr algn="ctr">
              <a:buFont typeface="Wingdings" pitchFamily="2" charset="2"/>
              <a:buNone/>
            </a:pPr>
            <a:r>
              <a:rPr lang="en-US" altLang="he-IL" dirty="0" smtClean="0"/>
              <a:t>void free(void* </a:t>
            </a:r>
            <a:r>
              <a:rPr lang="en-US" altLang="he-IL" dirty="0" err="1" smtClean="0"/>
              <a:t>ptr</a:t>
            </a:r>
            <a:r>
              <a:rPr lang="en-US" altLang="he-IL" dirty="0" smtClean="0"/>
              <a:t>)</a:t>
            </a:r>
            <a:endParaRPr lang="he-IL" altLang="he-IL" dirty="0" smtClean="0"/>
          </a:p>
          <a:p>
            <a:endParaRPr lang="he-IL" altLang="he-IL" dirty="0" smtClean="0"/>
          </a:p>
          <a:p>
            <a:r>
              <a:rPr lang="he-IL" altLang="he-IL" dirty="0" smtClean="0"/>
              <a:t>הפונקציה מקבלת את כתובת ההתחלה של הזיכרון שברצוננו לשחרר</a:t>
            </a:r>
          </a:p>
          <a:p>
            <a:pPr lvl="1"/>
            <a:r>
              <a:rPr lang="he-IL" altLang="he-IL" dirty="0" smtClean="0"/>
              <a:t>הפונקציה מקבלת </a:t>
            </a:r>
            <a:r>
              <a:rPr lang="en-US" altLang="he-IL" dirty="0" smtClean="0"/>
              <a:t>void*</a:t>
            </a:r>
            <a:r>
              <a:rPr lang="he-IL" altLang="he-IL" dirty="0" smtClean="0"/>
              <a:t> שזה הכללה למצביע מכל טיפוס</a:t>
            </a:r>
          </a:p>
          <a:p>
            <a:r>
              <a:rPr lang="he-IL" altLang="he-IL" dirty="0" smtClean="0"/>
              <a:t>גם פונקציה זו נמצאת ב- </a:t>
            </a:r>
            <a:r>
              <a:rPr lang="en-US" altLang="he-IL" dirty="0" err="1" smtClean="0"/>
              <a:t>stdlib.h</a:t>
            </a:r>
            <a:endParaRPr lang="he-IL" altLang="he-IL" dirty="0" smtClean="0"/>
          </a:p>
        </p:txBody>
      </p:sp>
      <p:sp>
        <p:nvSpPr>
          <p:cNvPr id="12292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AE530E45-5923-4146-B2B6-84EF365276A9}" type="slidenum">
              <a:rPr lang="he-IL" altLang="he-IL" sz="1000">
                <a:latin typeface="Verdana" pitchFamily="34" charset="0"/>
              </a:rPr>
              <a:pPr algn="r" rtl="1" eaLnBrk="1" hangingPunct="1"/>
              <a:t>11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5"/>
          <p:cNvSpPr>
            <a:spLocks noChangeArrowheads="1"/>
          </p:cNvSpPr>
          <p:nvPr/>
        </p:nvSpPr>
        <p:spPr bwMode="auto">
          <a:xfrm>
            <a:off x="381000" y="1295400"/>
            <a:ext cx="83058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endParaRPr lang="he-IL" altLang="he-IL">
              <a:latin typeface="Verdana" pitchFamily="34" charset="0"/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76200"/>
            <a:ext cx="8229600" cy="1139825"/>
          </a:xfrm>
        </p:spPr>
        <p:txBody>
          <a:bodyPr/>
          <a:lstStyle/>
          <a:p>
            <a:pPr algn="r"/>
            <a:r>
              <a:rPr lang="en-US" altLang="he-IL" smtClean="0"/>
              <a:t>free</a:t>
            </a:r>
            <a:r>
              <a:rPr lang="he-IL" altLang="he-IL" smtClean="0"/>
              <a:t> – שחרור זיכרון</a:t>
            </a:r>
            <a:endParaRPr lang="en-US" altLang="he-IL" smtClean="0"/>
          </a:p>
        </p:txBody>
      </p:sp>
      <p:sp>
        <p:nvSpPr>
          <p:cNvPr id="176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381000"/>
            <a:ext cx="8229600" cy="4530725"/>
          </a:xfrm>
        </p:spPr>
        <p:txBody>
          <a:bodyPr/>
          <a:lstStyle/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#include &lt;stdio.h&gt;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#include &lt;stdlib.h&gt;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void main()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int size, *arr, i;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printf("Please enter the size of the array: ");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scanf("%d", &amp;size);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arr = (int*)</a:t>
            </a:r>
            <a:r>
              <a:rPr lang="en-US" altLang="he-IL" sz="1200" dirty="0" smtClean="0"/>
              <a:t>m</a:t>
            </a:r>
            <a:r>
              <a:rPr lang="en-US" altLang="he-IL" sz="1200" noProof="1" smtClean="0"/>
              <a:t>alloc(size*sizeof(int));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if (!arr) </a:t>
            </a:r>
            <a:r>
              <a:rPr lang="en-US" altLang="he-IL" sz="1200" noProof="1" smtClean="0">
                <a:solidFill>
                  <a:srgbClr val="009900"/>
                </a:solidFill>
              </a:rPr>
              <a:t>// (arr == NULL) --&gt; allocaton didn't succeed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	printf("ERROR! Out of memory!\n");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	exit(1);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}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printf("Values in the array: ");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for (i=0 ; i &lt; size ; i++)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	printf("%d ", </a:t>
            </a:r>
            <a:r>
              <a:rPr lang="en-US" altLang="he-IL" sz="1200" dirty="0" smtClean="0"/>
              <a:t>*(</a:t>
            </a:r>
            <a:r>
              <a:rPr lang="en-US" altLang="he-IL" sz="1200" noProof="1" smtClean="0"/>
              <a:t>arr</a:t>
            </a:r>
            <a:r>
              <a:rPr lang="en-US" altLang="he-IL" sz="1200" dirty="0" smtClean="0"/>
              <a:t>+</a:t>
            </a:r>
            <a:r>
              <a:rPr lang="en-US" altLang="he-IL" sz="1200" noProof="1" smtClean="0"/>
              <a:t>i</a:t>
            </a:r>
            <a:r>
              <a:rPr lang="en-US" altLang="he-IL" sz="1200" dirty="0" smtClean="0"/>
              <a:t>)</a:t>
            </a:r>
            <a:r>
              <a:rPr lang="en-US" altLang="he-IL" sz="1200" noProof="1" smtClean="0"/>
              <a:t>);</a:t>
            </a:r>
            <a:r>
              <a:rPr lang="en-US" altLang="he-IL" sz="1200" dirty="0" smtClean="0"/>
              <a:t> </a:t>
            </a:r>
            <a:r>
              <a:rPr lang="en-US" altLang="he-IL" sz="1200" dirty="0" smtClean="0">
                <a:solidFill>
                  <a:srgbClr val="009900"/>
                </a:solidFill>
              </a:rPr>
              <a:t>//*(</a:t>
            </a:r>
            <a:r>
              <a:rPr lang="en-US" altLang="he-IL" sz="1200" dirty="0" err="1" smtClean="0">
                <a:solidFill>
                  <a:srgbClr val="009900"/>
                </a:solidFill>
              </a:rPr>
              <a:t>arr+i</a:t>
            </a:r>
            <a:r>
              <a:rPr lang="en-US" altLang="he-IL" sz="1200" dirty="0" smtClean="0">
                <a:solidFill>
                  <a:srgbClr val="009900"/>
                </a:solidFill>
              </a:rPr>
              <a:t>) == </a:t>
            </a:r>
            <a:r>
              <a:rPr lang="en-US" altLang="he-IL" sz="1200" dirty="0" err="1" smtClean="0">
                <a:solidFill>
                  <a:srgbClr val="009900"/>
                </a:solidFill>
              </a:rPr>
              <a:t>arr</a:t>
            </a:r>
            <a:r>
              <a:rPr lang="en-US" altLang="he-IL" sz="1200" dirty="0" smtClean="0">
                <a:solidFill>
                  <a:srgbClr val="009900"/>
                </a:solidFill>
              </a:rPr>
              <a:t>[</a:t>
            </a:r>
            <a:r>
              <a:rPr lang="en-US" altLang="he-IL" sz="1200" dirty="0" err="1" smtClean="0">
                <a:solidFill>
                  <a:srgbClr val="009900"/>
                </a:solidFill>
              </a:rPr>
              <a:t>i</a:t>
            </a:r>
            <a:r>
              <a:rPr lang="en-US" altLang="he-IL" sz="1200" dirty="0" smtClean="0">
                <a:solidFill>
                  <a:srgbClr val="009900"/>
                </a:solidFill>
              </a:rPr>
              <a:t>]</a:t>
            </a:r>
            <a:endParaRPr lang="en-US" altLang="he-IL" sz="1200" noProof="1" smtClean="0">
              <a:solidFill>
                <a:srgbClr val="009900"/>
              </a:solidFill>
            </a:endParaRP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printf("\nPlease enter %d numbers: ", size);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for (i=0 ; i &lt; size ; i++)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	scanf("%d", &amp;arr[i]);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printf("Values in the array: ");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for (i=0 ; i &lt; size ; i++)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	printf("%d ", arr[i]);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printf("\n");</a:t>
            </a:r>
            <a:endParaRPr lang="en-US" altLang="he-IL" sz="1200" dirty="0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dirty="0" smtClean="0"/>
              <a:t>	free(</a:t>
            </a:r>
            <a:r>
              <a:rPr lang="en-US" altLang="he-IL" sz="1200" dirty="0" err="1" smtClean="0"/>
              <a:t>arr</a:t>
            </a:r>
            <a:r>
              <a:rPr lang="en-US" altLang="he-IL" sz="1200" dirty="0" smtClean="0"/>
              <a:t>);</a:t>
            </a: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}</a:t>
            </a:r>
            <a:endParaRPr lang="en-US" altLang="he-IL" sz="1200" dirty="0" smtClean="0"/>
          </a:p>
        </p:txBody>
      </p:sp>
      <p:sp>
        <p:nvSpPr>
          <p:cNvPr id="28681" name="Text Box 47"/>
          <p:cNvSpPr txBox="1">
            <a:spLocks noChangeArrowheads="1"/>
          </p:cNvSpPr>
          <p:nvPr/>
        </p:nvSpPr>
        <p:spPr bwMode="auto">
          <a:xfrm>
            <a:off x="6629400" y="4662488"/>
            <a:ext cx="1981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>
              <a:spcBef>
                <a:spcPct val="50000"/>
              </a:spcBef>
            </a:pPr>
            <a:r>
              <a:rPr lang="he-IL" altLang="he-IL"/>
              <a:t>הזיכרון של ה- </a:t>
            </a:r>
            <a:r>
              <a:rPr lang="en-US" altLang="he-IL"/>
              <a:t>main</a:t>
            </a:r>
          </a:p>
        </p:txBody>
      </p:sp>
      <p:graphicFrame>
        <p:nvGraphicFramePr>
          <p:cNvPr id="176134" name="Group 6"/>
          <p:cNvGraphicFramePr>
            <a:graphicFrameLocks noGrp="1"/>
          </p:cNvGraphicFramePr>
          <p:nvPr/>
        </p:nvGraphicFramePr>
        <p:xfrm>
          <a:off x="5943600" y="3581400"/>
          <a:ext cx="2743200" cy="1098710"/>
        </p:xfrm>
        <a:graphic>
          <a:graphicData uri="http://schemas.openxmlformats.org/drawingml/2006/table">
            <a:tbl>
              <a:tblPr/>
              <a:tblGrid>
                <a:gridCol w="1295400"/>
                <a:gridCol w="838200"/>
                <a:gridCol w="6096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int:size</a:t>
                      </a:r>
                    </a:p>
                  </a:txBody>
                  <a:tcPr marT="45694" marB="45694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694" marB="4569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694" marB="4569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8440" name="Oval 72"/>
          <p:cNvSpPr>
            <a:spLocks noChangeArrowheads="1"/>
          </p:cNvSpPr>
          <p:nvPr/>
        </p:nvSpPr>
        <p:spPr bwMode="auto">
          <a:xfrm>
            <a:off x="5410200" y="1676400"/>
            <a:ext cx="3505200" cy="1447800"/>
          </a:xfrm>
          <a:prstGeom prst="ellipse">
            <a:avLst/>
          </a:prstGeom>
          <a:solidFill>
            <a:srgbClr val="00CC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he-IL" altLang="he-IL"/>
          </a:p>
        </p:txBody>
      </p:sp>
      <p:sp>
        <p:nvSpPr>
          <p:cNvPr id="3" name="Text Box 9"/>
          <p:cNvSpPr txBox="1">
            <a:spLocks noChangeArrowheads="1"/>
          </p:cNvSpPr>
          <p:nvPr/>
        </p:nvSpPr>
        <p:spPr bwMode="auto">
          <a:xfrm>
            <a:off x="6096000" y="3048000"/>
            <a:ext cx="1981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>
              <a:spcBef>
                <a:spcPct val="50000"/>
              </a:spcBef>
            </a:pPr>
            <a:r>
              <a:rPr lang="he-IL" altLang="he-IL"/>
              <a:t>זיכרון ה- </a:t>
            </a:r>
            <a:r>
              <a:rPr lang="en-US" altLang="he-IL"/>
              <a:t>heap</a:t>
            </a:r>
          </a:p>
        </p:txBody>
      </p:sp>
      <p:graphicFrame>
        <p:nvGraphicFramePr>
          <p:cNvPr id="176153" name="Group 25"/>
          <p:cNvGraphicFramePr>
            <a:graphicFrameLocks noGrp="1"/>
          </p:cNvGraphicFramePr>
          <p:nvPr/>
        </p:nvGraphicFramePr>
        <p:xfrm>
          <a:off x="5943600" y="3581400"/>
          <a:ext cx="2743200" cy="1098710"/>
        </p:xfrm>
        <a:graphic>
          <a:graphicData uri="http://schemas.openxmlformats.org/drawingml/2006/table">
            <a:tbl>
              <a:tblPr/>
              <a:tblGrid>
                <a:gridCol w="1295400"/>
                <a:gridCol w="838200"/>
                <a:gridCol w="6096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int:size</a:t>
                      </a:r>
                    </a:p>
                  </a:txBody>
                  <a:tcPr marT="45694" marB="45694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694" marB="4569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694" marB="4569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76225" name="Group 97"/>
          <p:cNvGraphicFramePr>
            <a:graphicFrameLocks noGrp="1"/>
          </p:cNvGraphicFramePr>
          <p:nvPr/>
        </p:nvGraphicFramePr>
        <p:xfrm>
          <a:off x="6096000" y="1828800"/>
          <a:ext cx="1981200" cy="1098710"/>
        </p:xfrm>
        <a:graphic>
          <a:graphicData uri="http://schemas.openxmlformats.org/drawingml/2006/table">
            <a:tbl>
              <a:tblPr/>
              <a:tblGrid>
                <a:gridCol w="533400"/>
                <a:gridCol w="914400"/>
                <a:gridCol w="5334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6184" name="Group 56"/>
          <p:cNvGraphicFramePr>
            <a:graphicFrameLocks noGrp="1"/>
          </p:cNvGraphicFramePr>
          <p:nvPr/>
        </p:nvGraphicFramePr>
        <p:xfrm>
          <a:off x="5943600" y="3581400"/>
          <a:ext cx="2743200" cy="1098710"/>
        </p:xfrm>
        <a:graphic>
          <a:graphicData uri="http://schemas.openxmlformats.org/drawingml/2006/table">
            <a:tbl>
              <a:tblPr/>
              <a:tblGrid>
                <a:gridCol w="1295400"/>
                <a:gridCol w="838200"/>
                <a:gridCol w="6096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int:size</a:t>
                      </a:r>
                    </a:p>
                  </a:txBody>
                  <a:tcPr marT="45694" marB="45694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694" marB="4569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3000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694" marB="4569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76233" name="Group 105"/>
          <p:cNvGraphicFramePr>
            <a:graphicFrameLocks noGrp="1"/>
          </p:cNvGraphicFramePr>
          <p:nvPr/>
        </p:nvGraphicFramePr>
        <p:xfrm>
          <a:off x="6096000" y="1828800"/>
          <a:ext cx="1981200" cy="1098710"/>
        </p:xfrm>
        <a:graphic>
          <a:graphicData uri="http://schemas.openxmlformats.org/drawingml/2006/table">
            <a:tbl>
              <a:tblPr/>
              <a:tblGrid>
                <a:gridCol w="533400"/>
                <a:gridCol w="914400"/>
                <a:gridCol w="5334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3407" name="Picture 8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5688013"/>
            <a:ext cx="5715000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408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CD87B72F-E5C4-4F44-8BD5-3CD000550242}" type="slidenum">
              <a:rPr lang="he-IL" altLang="he-IL" sz="1000">
                <a:latin typeface="Verdana" pitchFamily="34" charset="0"/>
              </a:rPr>
              <a:pPr algn="r" rtl="1" eaLnBrk="1" hangingPunct="1"/>
              <a:t>12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תזכורת: החזרת מערך מפונקציה</a:t>
            </a:r>
            <a:endParaRPr lang="en-US" altLang="he-IL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he-IL" altLang="he-IL" dirty="0" smtClean="0"/>
              <a:t>ראינו כי כאשר מעבירים מערך לפונקציה, מעבירים רק את כתובת ההתחלה שלו, ולא עותק של כל המערך.</a:t>
            </a:r>
          </a:p>
          <a:p>
            <a:pPr>
              <a:lnSpc>
                <a:spcPct val="90000"/>
              </a:lnSpc>
            </a:pPr>
            <a:endParaRPr lang="he-IL" altLang="he-IL" dirty="0" smtClean="0"/>
          </a:p>
          <a:p>
            <a:pPr>
              <a:lnSpc>
                <a:spcPct val="90000"/>
              </a:lnSpc>
            </a:pPr>
            <a:r>
              <a:rPr lang="he-IL" altLang="he-IL" dirty="0" smtClean="0"/>
              <a:t>ובאופן דומה, כאשר מחזירים מערך שהוגדר בפונקציה, חוזרת כתובת ההתחלה שלו, ולא עותק של כל המערך.</a:t>
            </a:r>
          </a:p>
          <a:p>
            <a:pPr>
              <a:lnSpc>
                <a:spcPct val="90000"/>
              </a:lnSpc>
            </a:pPr>
            <a:endParaRPr lang="he-IL" altLang="he-IL" dirty="0" smtClean="0"/>
          </a:p>
          <a:p>
            <a:pPr>
              <a:lnSpc>
                <a:spcPct val="90000"/>
              </a:lnSpc>
            </a:pPr>
            <a:r>
              <a:rPr lang="he-IL" altLang="he-IL" u="sng" dirty="0" smtClean="0"/>
              <a:t>הבעייתיות:</a:t>
            </a:r>
            <a:r>
              <a:rPr lang="he-IL" altLang="he-IL" dirty="0" smtClean="0"/>
              <a:t> כאשר יוצאים מהפונקציה שטח הזיכרון שלה משתחרר ויש לנו מצביע לזיכרון שנמחק...</a:t>
            </a:r>
          </a:p>
          <a:p>
            <a:pPr>
              <a:lnSpc>
                <a:spcPct val="90000"/>
              </a:lnSpc>
            </a:pPr>
            <a:endParaRPr lang="he-IL" altLang="he-IL" dirty="0" smtClean="0"/>
          </a:p>
          <a:p>
            <a:pPr>
              <a:lnSpc>
                <a:spcPct val="90000"/>
              </a:lnSpc>
            </a:pPr>
            <a:r>
              <a:rPr lang="he-IL" altLang="he-IL" u="sng" dirty="0" smtClean="0"/>
              <a:t>הפתרון:</a:t>
            </a:r>
            <a:r>
              <a:rPr lang="he-IL" altLang="he-IL" dirty="0" smtClean="0"/>
              <a:t> הקצאה דינאמית</a:t>
            </a:r>
            <a:endParaRPr lang="en-US" altLang="he-IL" u="sng" dirty="0" smtClean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1D177484-BD6B-4785-B1D7-72E45C31B5BD}" type="slidenum">
              <a:rPr lang="he-IL" altLang="he-IL" smtClean="0">
                <a:latin typeface="Verdana" pitchFamily="34" charset="0"/>
              </a:rPr>
              <a:pPr algn="r" rtl="1" eaLnBrk="1" hangingPunct="1"/>
              <a:t>13</a:t>
            </a:fld>
            <a:endParaRPr lang="he-IL" altLang="he-IL" dirty="0" smtClean="0">
              <a:latin typeface="Verdana" pitchFamily="34" charset="0"/>
            </a:endParaRPr>
          </a:p>
          <a:p>
            <a:pPr algn="r"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algn="r" rtl="1" eaLnBrk="1" hangingPunct="1"/>
            <a:endParaRPr lang="en-US" altLang="he-IL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תזכורת: הבעייתיות בהחזרת מערך מפונקציה - דוגמא</a:t>
            </a:r>
            <a:endParaRPr lang="en-US" altLang="he-IL" smtClean="0"/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229600" cy="4530725"/>
          </a:xfrm>
        </p:spPr>
        <p:txBody>
          <a:bodyPr/>
          <a:lstStyle/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#define SIZE </a:t>
            </a:r>
            <a:r>
              <a:rPr lang="en-US" altLang="he-IL" sz="1600" dirty="0" smtClean="0"/>
              <a:t>3</a:t>
            </a:r>
            <a:endParaRPr lang="en-US" altLang="he-IL" sz="16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6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int* readArray()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int arr[SIZE], i;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printf("Please enter %d numbers: ", SIZE);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for (i=0 ; i &lt; SIZE ; i++)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	scanf("%d", &amp;arr[i]);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return arr;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}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6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void main()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int* arr, i;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arr =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6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printf("The array is: \n");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for (i=0 ; i &lt; SIZE ; i++)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	printf("%d ", arr[i]);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	printf("\n");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600" noProof="1" smtClean="0"/>
              <a:t>}</a:t>
            </a:r>
            <a:endParaRPr lang="en-US" altLang="he-IL" sz="1600" dirty="0" smtClean="0"/>
          </a:p>
        </p:txBody>
      </p:sp>
      <p:sp>
        <p:nvSpPr>
          <p:cNvPr id="123908" name="AutoShape 4"/>
          <p:cNvSpPr>
            <a:spLocks noChangeArrowheads="1"/>
          </p:cNvSpPr>
          <p:nvPr/>
        </p:nvSpPr>
        <p:spPr bwMode="auto">
          <a:xfrm>
            <a:off x="3124200" y="3505200"/>
            <a:ext cx="5943600" cy="914400"/>
          </a:xfrm>
          <a:prstGeom prst="wedgeRectCallout">
            <a:avLst>
              <a:gd name="adj1" fmla="val -71954"/>
              <a:gd name="adj2" fmla="val -4756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</a:rPr>
              <a:t>הקומפיילר נותן </a:t>
            </a:r>
            <a:r>
              <a:rPr lang="en-US" altLang="he-IL" b="1">
                <a:solidFill>
                  <a:schemeClr val="bg1"/>
                </a:solidFill>
              </a:rPr>
              <a:t>warning</a:t>
            </a:r>
            <a:r>
              <a:rPr lang="he-IL" altLang="he-IL" b="1">
                <a:solidFill>
                  <a:schemeClr val="bg1"/>
                </a:solidFill>
              </a:rPr>
              <a:t>:</a:t>
            </a:r>
          </a:p>
          <a:p>
            <a:pPr algn="ctr" rtl="1" eaLnBrk="1" hangingPunct="1"/>
            <a:r>
              <a:rPr lang="en-US" altLang="he-IL" b="1" noProof="1">
                <a:solidFill>
                  <a:schemeClr val="bg1"/>
                </a:solidFill>
              </a:rPr>
              <a:t>returning address of local variable or temporary</a:t>
            </a:r>
            <a:endParaRPr lang="he-IL" altLang="he-IL" b="1">
              <a:solidFill>
                <a:schemeClr val="bg1"/>
              </a:solidFill>
            </a:endParaRPr>
          </a:p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</a:rPr>
              <a:t>שפירושה שאנחנו מחזירים כתובת למשתנה בזיכרון שישתחרר</a:t>
            </a:r>
          </a:p>
          <a:p>
            <a:pPr algn="ctr" rtl="1" eaLnBrk="1" hangingPunct="1"/>
            <a:endParaRPr lang="he-IL" altLang="he-IL" b="1">
              <a:solidFill>
                <a:schemeClr val="bg1"/>
              </a:solidFill>
            </a:endParaRPr>
          </a:p>
          <a:p>
            <a:pPr algn="ctr" rtl="1" eaLnBrk="1" hangingPunct="1"/>
            <a:endParaRPr lang="en-US" altLang="he-IL" b="1">
              <a:solidFill>
                <a:schemeClr val="bg1"/>
              </a:solidFill>
            </a:endParaRPr>
          </a:p>
        </p:txBody>
      </p:sp>
      <p:sp>
        <p:nvSpPr>
          <p:cNvPr id="123910" name="Text Box 6"/>
          <p:cNvSpPr txBox="1">
            <a:spLocks noChangeArrowheads="1"/>
          </p:cNvSpPr>
          <p:nvPr/>
        </p:nvSpPr>
        <p:spPr bwMode="auto">
          <a:xfrm>
            <a:off x="5943600" y="6248400"/>
            <a:ext cx="2971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הזיכרון של ה- </a:t>
            </a:r>
            <a:r>
              <a:rPr lang="en-US" altLang="he-IL"/>
              <a:t>main</a:t>
            </a:r>
          </a:p>
        </p:txBody>
      </p:sp>
      <p:sp>
        <p:nvSpPr>
          <p:cNvPr id="123911" name="Text Box 7"/>
          <p:cNvSpPr txBox="1">
            <a:spLocks noChangeArrowheads="1"/>
          </p:cNvSpPr>
          <p:nvPr/>
        </p:nvSpPr>
        <p:spPr bwMode="auto">
          <a:xfrm>
            <a:off x="5867400" y="3074988"/>
            <a:ext cx="2971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>
              <a:spcBef>
                <a:spcPct val="50000"/>
              </a:spcBef>
            </a:pPr>
            <a:r>
              <a:rPr lang="he-IL" altLang="he-IL"/>
              <a:t>הזיכרון של </a:t>
            </a:r>
            <a:r>
              <a:rPr lang="en-US" altLang="he-IL"/>
              <a:t>readArray</a:t>
            </a:r>
          </a:p>
        </p:txBody>
      </p:sp>
      <p:graphicFrame>
        <p:nvGraphicFramePr>
          <p:cNvPr id="123969" name="Group 65"/>
          <p:cNvGraphicFramePr>
            <a:graphicFrameLocks noGrp="1"/>
          </p:cNvGraphicFramePr>
          <p:nvPr/>
        </p:nvGraphicFramePr>
        <p:xfrm>
          <a:off x="6553200" y="1676400"/>
          <a:ext cx="2362200" cy="1463676"/>
        </p:xfrm>
        <a:graphic>
          <a:graphicData uri="http://schemas.openxmlformats.org/drawingml/2006/table">
            <a:tbl>
              <a:tblPr/>
              <a:tblGrid>
                <a:gridCol w="1066800"/>
                <a:gridCol w="725488"/>
                <a:gridCol w="5699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4032" name="Group 128"/>
          <p:cNvGraphicFramePr>
            <a:graphicFrameLocks noGrp="1"/>
          </p:cNvGraphicFramePr>
          <p:nvPr/>
        </p:nvGraphicFramePr>
        <p:xfrm>
          <a:off x="6629400" y="5518150"/>
          <a:ext cx="2362200" cy="731838"/>
        </p:xfrm>
        <a:graphic>
          <a:graphicData uri="http://schemas.openxmlformats.org/drawingml/2006/table">
            <a:tbl>
              <a:tblPr/>
              <a:tblGrid>
                <a:gridCol w="977900"/>
                <a:gridCol w="814388"/>
                <a:gridCol w="5699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23951" name="Picture 4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506538"/>
            <a:ext cx="3962400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970" name="Rectangle 66"/>
          <p:cNvSpPr>
            <a:spLocks noChangeArrowheads="1"/>
          </p:cNvSpPr>
          <p:nvPr/>
        </p:nvSpPr>
        <p:spPr bwMode="auto">
          <a:xfrm>
            <a:off x="3733800" y="5029200"/>
            <a:ext cx="25146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</a:rPr>
              <a:t>לעולם לא נחזיר מפונקציה</a:t>
            </a:r>
          </a:p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</a:rPr>
              <a:t> כתובת של משתנה </a:t>
            </a:r>
          </a:p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</a:rPr>
              <a:t>שהוגדר בה מקומית!</a:t>
            </a:r>
            <a:endParaRPr lang="en-US" altLang="he-IL" b="1">
              <a:solidFill>
                <a:schemeClr val="bg1"/>
              </a:solidFill>
            </a:endParaRPr>
          </a:p>
        </p:txBody>
      </p:sp>
      <p:sp>
        <p:nvSpPr>
          <p:cNvPr id="123971" name="Text Box 67"/>
          <p:cNvSpPr txBox="1">
            <a:spLocks noChangeArrowheads="1"/>
          </p:cNvSpPr>
          <p:nvPr/>
        </p:nvSpPr>
        <p:spPr bwMode="auto">
          <a:xfrm>
            <a:off x="1219200" y="4800600"/>
            <a:ext cx="1981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1600">
                <a:latin typeface="Verdana" pitchFamily="34" charset="0"/>
              </a:rPr>
              <a:t>readArray();</a:t>
            </a:r>
          </a:p>
        </p:txBody>
      </p:sp>
      <p:graphicFrame>
        <p:nvGraphicFramePr>
          <p:cNvPr id="123995" name="Group 91"/>
          <p:cNvGraphicFramePr>
            <a:graphicFrameLocks noGrp="1"/>
          </p:cNvGraphicFramePr>
          <p:nvPr/>
        </p:nvGraphicFramePr>
        <p:xfrm>
          <a:off x="6553200" y="1676400"/>
          <a:ext cx="2362200" cy="1463676"/>
        </p:xfrm>
        <a:graphic>
          <a:graphicData uri="http://schemas.openxmlformats.org/drawingml/2006/table">
            <a:tbl>
              <a:tblPr/>
              <a:tblGrid>
                <a:gridCol w="1066800"/>
                <a:gridCol w="725488"/>
                <a:gridCol w="5699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int[]: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6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4048" name="Group 144"/>
          <p:cNvGraphicFramePr>
            <a:graphicFrameLocks noGrp="1"/>
          </p:cNvGraphicFramePr>
          <p:nvPr/>
        </p:nvGraphicFramePr>
        <p:xfrm>
          <a:off x="6629400" y="5518150"/>
          <a:ext cx="2362200" cy="731838"/>
        </p:xfrm>
        <a:graphic>
          <a:graphicData uri="http://schemas.openxmlformats.org/drawingml/2006/table">
            <a:tbl>
              <a:tblPr/>
              <a:tblGrid>
                <a:gridCol w="977900"/>
                <a:gridCol w="814388"/>
                <a:gridCol w="569912"/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2000</a:t>
                      </a: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40" marB="45740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40" marB="4574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54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28600" y="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rtl="1" eaLnBrk="1" hangingPunct="1"/>
            <a:fld id="{035FCA10-A770-475D-8EE3-348993D63E1C}" type="slidenum">
              <a:rPr lang="he-IL" altLang="he-IL" smtClean="0">
                <a:latin typeface="Verdana" pitchFamily="34" charset="0"/>
              </a:rPr>
              <a:pPr rtl="1" eaLnBrk="1" hangingPunct="1"/>
              <a:t>14</a:t>
            </a:fld>
            <a:endParaRPr lang="he-IL" altLang="he-IL" dirty="0" smtClean="0">
              <a:latin typeface="Verdana" pitchFamily="34" charset="0"/>
            </a:endParaRPr>
          </a:p>
          <a:p>
            <a:pPr rtl="1" eaLnBrk="1" hangingPunct="1"/>
            <a:r>
              <a:rPr lang="en-US" altLang="he-IL" dirty="0" smtClean="0">
                <a:latin typeface="Verdana" pitchFamily="34" charset="0"/>
              </a:rPr>
              <a:t>© </a:t>
            </a:r>
            <a:r>
              <a:rPr lang="en-US" altLang="he-IL" dirty="0" err="1" smtClean="0">
                <a:latin typeface="Verdana" pitchFamily="34" charset="0"/>
              </a:rPr>
              <a:t>Sagie</a:t>
            </a:r>
            <a:r>
              <a:rPr lang="en-US" altLang="he-IL" dirty="0" smtClean="0">
                <a:latin typeface="Verdana" pitchFamily="34" charset="0"/>
              </a:rPr>
              <a:t> </a:t>
            </a:r>
            <a:r>
              <a:rPr lang="en-US" altLang="he-IL" dirty="0" err="1" smtClean="0">
                <a:latin typeface="Verdana" pitchFamily="34" charset="0"/>
              </a:rPr>
              <a:t>Feigin</a:t>
            </a:r>
            <a:endParaRPr lang="en-US" altLang="he-IL" dirty="0" smtClean="0">
              <a:latin typeface="Verdana" pitchFamily="34" charset="0"/>
            </a:endParaRPr>
          </a:p>
          <a:p>
            <a:pPr rtl="1" eaLnBrk="1" hangingPunct="1"/>
            <a:endParaRPr lang="en-US" altLang="he-IL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5"/>
          <p:cNvSpPr>
            <a:spLocks noChangeArrowheads="1"/>
          </p:cNvSpPr>
          <p:nvPr/>
        </p:nvSpPr>
        <p:spPr bwMode="auto">
          <a:xfrm>
            <a:off x="381000" y="1295400"/>
            <a:ext cx="83058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endParaRPr lang="he-IL" altLang="he-IL">
              <a:latin typeface="Verdana" pitchFamily="34" charset="0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41375"/>
            <a:ext cx="8229600" cy="1139825"/>
          </a:xfrm>
        </p:spPr>
        <p:txBody>
          <a:bodyPr/>
          <a:lstStyle/>
          <a:p>
            <a:pPr algn="r"/>
            <a:r>
              <a:rPr lang="he-IL" altLang="he-IL" sz="4000" smtClean="0"/>
              <a:t>הפתרון: הקצאת </a:t>
            </a:r>
            <a:br>
              <a:rPr lang="he-IL" altLang="he-IL" sz="4000" smtClean="0"/>
            </a:br>
            <a:r>
              <a:rPr lang="he-IL" altLang="he-IL" sz="4000" smtClean="0"/>
              <a:t>המערך דינאמית</a:t>
            </a:r>
            <a:br>
              <a:rPr lang="he-IL" altLang="he-IL" sz="4000" smtClean="0"/>
            </a:br>
            <a:endParaRPr lang="en-US" altLang="he-IL" sz="4000" smtClean="0"/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76200"/>
            <a:ext cx="8229600" cy="4530725"/>
          </a:xfrm>
        </p:spPr>
        <p:txBody>
          <a:bodyPr/>
          <a:lstStyle/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#include &lt;stdio.h&gt;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#include &lt;stdlib.h&gt;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#define SIZE 3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int* BuildArray()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int i;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int* arr = (int*)malloc(SIZE*sizeof(int));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if (!arr)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	printf("ERROR! Not enough memory!\n");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	exit(1); </a:t>
            </a:r>
            <a:r>
              <a:rPr lang="en-US" altLang="he-IL" sz="1200" noProof="1" smtClean="0">
                <a:solidFill>
                  <a:srgbClr val="009900"/>
                </a:solidFill>
              </a:rPr>
              <a:t>// to exit the program immedietly.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>
                <a:solidFill>
                  <a:srgbClr val="009900"/>
                </a:solidFill>
              </a:rPr>
              <a:t>		</a:t>
            </a:r>
            <a:r>
              <a:rPr lang="en-US" altLang="he-IL" sz="1200" dirty="0" smtClean="0">
                <a:solidFill>
                  <a:srgbClr val="009900"/>
                </a:solidFill>
              </a:rPr>
              <a:t> </a:t>
            </a:r>
            <a:r>
              <a:rPr lang="en-US" altLang="he-IL" sz="1200" noProof="1" smtClean="0">
                <a:solidFill>
                  <a:srgbClr val="009900"/>
                </a:solidFill>
              </a:rPr>
              <a:t>// use only when memory allocation fails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}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for (i=0 ; i &lt; SIZE; i++)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	arr[i] = i+1;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return arr;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}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void main()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int  *arr, i;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arr =</a:t>
            </a:r>
            <a:endParaRPr lang="he-IL" altLang="he-IL" sz="1200" dirty="0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he-IL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printf("Values in the array: ");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for (i=0 ; i &lt; SIZE ; i++)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	printf("%d ", arr[i]); 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printf("\n");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free(arr);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}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dirty="0" smtClean="0"/>
          </a:p>
        </p:txBody>
      </p:sp>
      <p:sp>
        <p:nvSpPr>
          <p:cNvPr id="28681" name="Text Box 47"/>
          <p:cNvSpPr txBox="1">
            <a:spLocks noChangeArrowheads="1"/>
          </p:cNvSpPr>
          <p:nvPr/>
        </p:nvSpPr>
        <p:spPr bwMode="auto">
          <a:xfrm>
            <a:off x="6781800" y="6186488"/>
            <a:ext cx="1981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>
              <a:spcBef>
                <a:spcPct val="50000"/>
              </a:spcBef>
            </a:pPr>
            <a:r>
              <a:rPr lang="he-IL" altLang="he-IL"/>
              <a:t>הזיכרון של ה- </a:t>
            </a:r>
            <a:r>
              <a:rPr lang="en-US" altLang="he-IL"/>
              <a:t>main</a:t>
            </a:r>
          </a:p>
        </p:txBody>
      </p:sp>
      <p:sp>
        <p:nvSpPr>
          <p:cNvPr id="58440" name="Oval 72"/>
          <p:cNvSpPr>
            <a:spLocks noChangeArrowheads="1"/>
          </p:cNvSpPr>
          <p:nvPr/>
        </p:nvSpPr>
        <p:spPr bwMode="auto">
          <a:xfrm>
            <a:off x="3124200" y="4953000"/>
            <a:ext cx="2743200" cy="1447800"/>
          </a:xfrm>
          <a:prstGeom prst="ellipse">
            <a:avLst/>
          </a:prstGeom>
          <a:solidFill>
            <a:srgbClr val="00CC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he-IL" altLang="he-IL"/>
          </a:p>
        </p:txBody>
      </p:sp>
      <p:sp>
        <p:nvSpPr>
          <p:cNvPr id="3" name="Text Box 9"/>
          <p:cNvSpPr txBox="1">
            <a:spLocks noChangeArrowheads="1"/>
          </p:cNvSpPr>
          <p:nvPr/>
        </p:nvSpPr>
        <p:spPr bwMode="auto">
          <a:xfrm>
            <a:off x="3733800" y="6338888"/>
            <a:ext cx="1981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>
              <a:spcBef>
                <a:spcPct val="50000"/>
              </a:spcBef>
            </a:pPr>
            <a:r>
              <a:rPr lang="he-IL" altLang="he-IL"/>
              <a:t>זיכרון ה- </a:t>
            </a:r>
            <a:r>
              <a:rPr lang="en-US" altLang="he-IL"/>
              <a:t>heap</a:t>
            </a:r>
          </a:p>
        </p:txBody>
      </p:sp>
      <p:graphicFrame>
        <p:nvGraphicFramePr>
          <p:cNvPr id="174087" name="Group 7"/>
          <p:cNvGraphicFramePr>
            <a:graphicFrameLocks noGrp="1"/>
          </p:cNvGraphicFramePr>
          <p:nvPr/>
        </p:nvGraphicFramePr>
        <p:xfrm>
          <a:off x="6172200" y="5440363"/>
          <a:ext cx="2743200" cy="732075"/>
        </p:xfrm>
        <a:graphic>
          <a:graphicData uri="http://schemas.openxmlformats.org/drawingml/2006/table">
            <a:tbl>
              <a:tblPr/>
              <a:tblGrid>
                <a:gridCol w="1295400"/>
                <a:gridCol w="838200"/>
                <a:gridCol w="609600"/>
              </a:tblGrid>
              <a:tr h="36544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80" marB="4568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80" marB="4568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3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680" marB="4568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80" marB="4568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74218" name="Group 138"/>
          <p:cNvGraphicFramePr>
            <a:graphicFrameLocks noGrp="1"/>
          </p:cNvGraphicFramePr>
          <p:nvPr/>
        </p:nvGraphicFramePr>
        <p:xfrm>
          <a:off x="3581400" y="5105400"/>
          <a:ext cx="1905000" cy="1098710"/>
        </p:xfrm>
        <a:graphic>
          <a:graphicData uri="http://schemas.openxmlformats.org/drawingml/2006/table">
            <a:tbl>
              <a:tblPr/>
              <a:tblGrid>
                <a:gridCol w="457200"/>
                <a:gridCol w="914400"/>
                <a:gridCol w="5334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74138" name="Text Box 58"/>
          <p:cNvSpPr txBox="1">
            <a:spLocks noChangeArrowheads="1"/>
          </p:cNvSpPr>
          <p:nvPr/>
        </p:nvSpPr>
        <p:spPr bwMode="auto">
          <a:xfrm>
            <a:off x="1066800" y="4800600"/>
            <a:ext cx="22098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he-IL" sz="1200" noProof="1">
                <a:latin typeface="Verdana" pitchFamily="34" charset="0"/>
              </a:rPr>
              <a:t>B</a:t>
            </a:r>
            <a:r>
              <a:rPr lang="en-US" altLang="he-IL" sz="1200" noProof="1" smtClean="0">
                <a:latin typeface="Verdana" pitchFamily="34" charset="0"/>
              </a:rPr>
              <a:t>uildArray</a:t>
            </a:r>
            <a:r>
              <a:rPr lang="en-US" altLang="he-IL" sz="1200" noProof="1">
                <a:latin typeface="Verdana" pitchFamily="34" charset="0"/>
              </a:rPr>
              <a:t>();</a:t>
            </a:r>
            <a:endParaRPr lang="en-US" altLang="he-IL" sz="1200" dirty="0">
              <a:latin typeface="Verdana" pitchFamily="34" charset="0"/>
            </a:endParaRPr>
          </a:p>
        </p:txBody>
      </p:sp>
      <p:sp>
        <p:nvSpPr>
          <p:cNvPr id="2" name="Text Box 47"/>
          <p:cNvSpPr txBox="1">
            <a:spLocks noChangeArrowheads="1"/>
          </p:cNvSpPr>
          <p:nvPr/>
        </p:nvSpPr>
        <p:spPr bwMode="auto">
          <a:xfrm>
            <a:off x="6172200" y="4586288"/>
            <a:ext cx="2590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>
              <a:spcBef>
                <a:spcPct val="50000"/>
              </a:spcBef>
            </a:pPr>
            <a:r>
              <a:rPr lang="he-IL" altLang="he-IL"/>
              <a:t>הזיכרון של </a:t>
            </a:r>
            <a:r>
              <a:rPr lang="en-US" altLang="he-IL"/>
              <a:t>buildArray</a:t>
            </a:r>
          </a:p>
        </p:txBody>
      </p:sp>
      <p:graphicFrame>
        <p:nvGraphicFramePr>
          <p:cNvPr id="174140" name="Group 60"/>
          <p:cNvGraphicFramePr>
            <a:graphicFrameLocks noGrp="1"/>
          </p:cNvGraphicFramePr>
          <p:nvPr/>
        </p:nvGraphicFramePr>
        <p:xfrm>
          <a:off x="6096000" y="3763963"/>
          <a:ext cx="2743200" cy="732075"/>
        </p:xfrm>
        <a:graphic>
          <a:graphicData uri="http://schemas.openxmlformats.org/drawingml/2006/table">
            <a:tbl>
              <a:tblPr/>
              <a:tblGrid>
                <a:gridCol w="1295400"/>
                <a:gridCol w="838200"/>
                <a:gridCol w="609600"/>
              </a:tblGrid>
              <a:tr h="36544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int:i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80" marB="4568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80" marB="4568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3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80" marB="4568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80" marB="4568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74158" name="Group 78"/>
          <p:cNvGraphicFramePr>
            <a:graphicFrameLocks noGrp="1"/>
          </p:cNvGraphicFramePr>
          <p:nvPr/>
        </p:nvGraphicFramePr>
        <p:xfrm>
          <a:off x="6096000" y="3763963"/>
          <a:ext cx="2743200" cy="732075"/>
        </p:xfrm>
        <a:graphic>
          <a:graphicData uri="http://schemas.openxmlformats.org/drawingml/2006/table">
            <a:tbl>
              <a:tblPr/>
              <a:tblGrid>
                <a:gridCol w="1295400"/>
                <a:gridCol w="838200"/>
                <a:gridCol w="609600"/>
              </a:tblGrid>
              <a:tr h="36544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int:i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80" marB="4568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80" marB="4568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3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80" marB="4568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3000</a:t>
                      </a: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80" marB="4568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74226" name="Group 146"/>
          <p:cNvGraphicFramePr>
            <a:graphicFrameLocks noGrp="1"/>
          </p:cNvGraphicFramePr>
          <p:nvPr/>
        </p:nvGraphicFramePr>
        <p:xfrm>
          <a:off x="3581400" y="5105400"/>
          <a:ext cx="1905000" cy="1098710"/>
        </p:xfrm>
        <a:graphic>
          <a:graphicData uri="http://schemas.openxmlformats.org/drawingml/2006/table">
            <a:tbl>
              <a:tblPr/>
              <a:tblGrid>
                <a:gridCol w="457200"/>
                <a:gridCol w="914400"/>
                <a:gridCol w="5334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4190" name="Group 110"/>
          <p:cNvGraphicFramePr>
            <a:graphicFrameLocks noGrp="1"/>
          </p:cNvGraphicFramePr>
          <p:nvPr/>
        </p:nvGraphicFramePr>
        <p:xfrm>
          <a:off x="6172200" y="5440363"/>
          <a:ext cx="2743200" cy="732075"/>
        </p:xfrm>
        <a:graphic>
          <a:graphicData uri="http://schemas.openxmlformats.org/drawingml/2006/table">
            <a:tbl>
              <a:tblPr/>
              <a:tblGrid>
                <a:gridCol w="1295400"/>
                <a:gridCol w="838200"/>
                <a:gridCol w="609600"/>
              </a:tblGrid>
              <a:tr h="36544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80" marB="4568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3000</a:t>
                      </a: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80" marB="4568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3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80" marB="4568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80" marB="4568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74208" name="AutoShape 128"/>
          <p:cNvSpPr>
            <a:spLocks noChangeArrowheads="1"/>
          </p:cNvSpPr>
          <p:nvPr/>
        </p:nvSpPr>
        <p:spPr bwMode="auto">
          <a:xfrm>
            <a:off x="4724400" y="1524000"/>
            <a:ext cx="4191000" cy="1828800"/>
          </a:xfrm>
          <a:prstGeom prst="wedgeRectCallout">
            <a:avLst>
              <a:gd name="adj1" fmla="val -126773"/>
              <a:gd name="adj2" fmla="val 6490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he-IL" altLang="he-IL" b="1">
                <a:solidFill>
                  <a:schemeClr val="bg1"/>
                </a:solidFill>
              </a:rPr>
              <a:t>אם אנחנו יוצאים מפונקציה שהקצתה </a:t>
            </a:r>
          </a:p>
          <a:p>
            <a:pPr algn="ctr" eaLnBrk="1" hangingPunct="1"/>
            <a:r>
              <a:rPr lang="he-IL" altLang="he-IL" b="1">
                <a:solidFill>
                  <a:schemeClr val="bg1"/>
                </a:solidFill>
              </a:rPr>
              <a:t>דינאמית ולא שחררה, חובה להחזיר את כתובת ההתחלה של ההקצאה, כדי שנוכל לשחרר אותה בהמשך!</a:t>
            </a:r>
          </a:p>
          <a:p>
            <a:pPr algn="ctr" eaLnBrk="1" hangingPunct="1"/>
            <a:r>
              <a:rPr lang="he-IL" altLang="he-IL" b="1">
                <a:solidFill>
                  <a:schemeClr val="bg1"/>
                </a:solidFill>
              </a:rPr>
              <a:t>אחרת כאשר נצא מהפונקציה כבר לא יהיה משתנה שיכיל את מיקום ההקצאה!</a:t>
            </a:r>
            <a:endParaRPr lang="en-US" altLang="he-IL" b="1">
              <a:solidFill>
                <a:schemeClr val="bg1"/>
              </a:solidFill>
            </a:endParaRPr>
          </a:p>
        </p:txBody>
      </p:sp>
      <p:sp>
        <p:nvSpPr>
          <p:cNvPr id="16483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126B9AE1-9870-4C47-9835-9066014411ED}" type="slidenum">
              <a:rPr lang="he-IL" altLang="he-IL" sz="1000">
                <a:latin typeface="Verdana" pitchFamily="34" charset="0"/>
              </a:rPr>
              <a:pPr algn="r" rtl="1" eaLnBrk="1" hangingPunct="1"/>
              <a:t>15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הקצאה בתוך פונקציה</a:t>
            </a:r>
            <a:endParaRPr lang="en-US" altLang="he-IL" smtClean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he-IL" altLang="he-IL" dirty="0" smtClean="0"/>
          </a:p>
          <a:p>
            <a:r>
              <a:rPr lang="he-IL" altLang="he-IL" dirty="0" smtClean="0"/>
              <a:t>אחריות שלנו כמתכנתים לשחרר את כל הזיכרון שהקצינו.</a:t>
            </a:r>
          </a:p>
          <a:p>
            <a:endParaRPr lang="he-IL" altLang="he-IL" dirty="0" smtClean="0"/>
          </a:p>
          <a:p>
            <a:r>
              <a:rPr lang="he-IL" altLang="he-IL" dirty="0" smtClean="0"/>
              <a:t>יש לשים לב בייחוד במקרים בהם ההקצאה מתבצעת בפונקציה אחת, והשחרור צריך להיות בפונקציה אחרת!</a:t>
            </a:r>
            <a:endParaRPr lang="en-US" altLang="he-IL" dirty="0" smtClean="0"/>
          </a:p>
        </p:txBody>
      </p:sp>
      <p:sp>
        <p:nvSpPr>
          <p:cNvPr id="17412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EE3E63C2-9DCA-407A-B44C-FECF341C268E}" type="slidenum">
              <a:rPr lang="he-IL" altLang="he-IL" sz="1000">
                <a:latin typeface="Verdana" pitchFamily="34" charset="0"/>
              </a:rPr>
              <a:pPr algn="r" rtl="1" eaLnBrk="1" hangingPunct="1"/>
              <a:t>16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החזרת מערך מפונקציה </a:t>
            </a:r>
            <a:r>
              <a:rPr lang="en-US" altLang="he-IL" smtClean="0"/>
              <a:t>by pointer</a:t>
            </a:r>
            <a:endParaRPr lang="he-IL" altLang="he-IL" smtClean="0"/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altLang="he-IL" dirty="0" smtClean="0"/>
              <a:t>למדנו שפונקציה יכולה להחזיר ערכים ע"י קבלת כתובת לעדכון התשובה</a:t>
            </a:r>
          </a:p>
          <a:p>
            <a:r>
              <a:rPr lang="he-IL" altLang="he-IL" dirty="0" smtClean="0"/>
              <a:t>למשל: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b="1" dirty="0" err="1" smtClean="0"/>
              <a:t>Int</a:t>
            </a:r>
            <a:r>
              <a:rPr lang="en-US" altLang="he-IL" dirty="0" smtClean="0"/>
              <a:t> </a:t>
            </a:r>
            <a:r>
              <a:rPr lang="en-US" altLang="he-IL" dirty="0" err="1" smtClean="0"/>
              <a:t>getSum</a:t>
            </a:r>
            <a:r>
              <a:rPr lang="en-US" altLang="he-IL" dirty="0" smtClean="0"/>
              <a:t>(</a:t>
            </a:r>
            <a:r>
              <a:rPr lang="en-US" altLang="he-IL" dirty="0" err="1" smtClean="0"/>
              <a:t>int</a:t>
            </a:r>
            <a:r>
              <a:rPr lang="en-US" altLang="he-IL" dirty="0" smtClean="0"/>
              <a:t> </a:t>
            </a:r>
            <a:r>
              <a:rPr lang="en-US" altLang="he-IL" dirty="0" err="1" smtClean="0"/>
              <a:t>arr</a:t>
            </a:r>
            <a:r>
              <a:rPr lang="en-US" altLang="he-IL" dirty="0" smtClean="0"/>
              <a:t>[], </a:t>
            </a:r>
            <a:r>
              <a:rPr lang="en-US" altLang="he-IL" dirty="0" err="1" smtClean="0"/>
              <a:t>int</a:t>
            </a:r>
            <a:r>
              <a:rPr lang="en-US" altLang="he-IL" dirty="0" smtClean="0"/>
              <a:t> size);</a:t>
            </a:r>
          </a:p>
          <a:p>
            <a:r>
              <a:rPr lang="he-IL" altLang="he-IL" dirty="0" smtClean="0"/>
              <a:t>לעומת: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dirty="0" smtClean="0"/>
              <a:t>void </a:t>
            </a:r>
            <a:r>
              <a:rPr lang="en-US" altLang="he-IL" dirty="0" err="1" smtClean="0"/>
              <a:t>getSum</a:t>
            </a:r>
            <a:r>
              <a:rPr lang="en-US" altLang="he-IL" dirty="0" smtClean="0"/>
              <a:t>(</a:t>
            </a:r>
            <a:r>
              <a:rPr lang="en-US" altLang="he-IL" dirty="0" err="1" smtClean="0"/>
              <a:t>int</a:t>
            </a:r>
            <a:r>
              <a:rPr lang="en-US" altLang="he-IL" dirty="0" smtClean="0"/>
              <a:t> </a:t>
            </a:r>
            <a:r>
              <a:rPr lang="en-US" altLang="he-IL" dirty="0" err="1" smtClean="0"/>
              <a:t>arr</a:t>
            </a:r>
            <a:r>
              <a:rPr lang="en-US" altLang="he-IL" dirty="0" smtClean="0"/>
              <a:t>[], </a:t>
            </a:r>
            <a:r>
              <a:rPr lang="en-US" altLang="he-IL" dirty="0" err="1" smtClean="0"/>
              <a:t>int</a:t>
            </a:r>
            <a:r>
              <a:rPr lang="en-US" altLang="he-IL" dirty="0" smtClean="0"/>
              <a:t> size, </a:t>
            </a:r>
            <a:r>
              <a:rPr lang="en-US" altLang="he-IL" b="1" dirty="0" err="1" smtClean="0"/>
              <a:t>int</a:t>
            </a:r>
            <a:r>
              <a:rPr lang="en-US" altLang="he-IL" b="1" dirty="0" smtClean="0"/>
              <a:t>* sum</a:t>
            </a:r>
            <a:r>
              <a:rPr lang="en-US" altLang="he-IL" dirty="0" smtClean="0"/>
              <a:t>);</a:t>
            </a:r>
          </a:p>
          <a:p>
            <a:endParaRPr lang="he-IL" altLang="he-IL" dirty="0" smtClean="0"/>
          </a:p>
          <a:p>
            <a:r>
              <a:rPr lang="he-IL" altLang="he-IL" dirty="0" smtClean="0"/>
              <a:t>באותו אופן ניתן גם להחזיר מערך שייוצר בתוך הפונקציה</a:t>
            </a:r>
          </a:p>
          <a:p>
            <a:pPr lvl="1"/>
            <a:r>
              <a:rPr lang="he-IL" altLang="he-IL" dirty="0" smtClean="0"/>
              <a:t>לא לשכוח להעביר את המערך כ- **.</a:t>
            </a:r>
            <a:endParaRPr lang="en-US" altLang="he-IL" dirty="0" smtClean="0"/>
          </a:p>
          <a:p>
            <a:endParaRPr lang="he-IL" altLang="he-IL" dirty="0" smtClean="0"/>
          </a:p>
        </p:txBody>
      </p:sp>
      <p:sp>
        <p:nvSpPr>
          <p:cNvPr id="18436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E9029054-E2E2-4D02-9033-04E328A6FCEF}" type="slidenum">
              <a:rPr lang="he-IL" altLang="he-IL" sz="1000">
                <a:latin typeface="Verdana" pitchFamily="34" charset="0"/>
              </a:rPr>
              <a:pPr algn="r" rtl="1" eaLnBrk="1" hangingPunct="1"/>
              <a:t>17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5"/>
          <p:cNvSpPr>
            <a:spLocks noChangeArrowheads="1"/>
          </p:cNvSpPr>
          <p:nvPr/>
        </p:nvSpPr>
        <p:spPr bwMode="auto">
          <a:xfrm>
            <a:off x="381000" y="1295400"/>
            <a:ext cx="83058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endParaRPr lang="he-IL" altLang="he-IL">
              <a:latin typeface="Verdana" pitchFamily="34" charset="0"/>
            </a:endParaRPr>
          </a:p>
        </p:txBody>
      </p:sp>
      <p:sp>
        <p:nvSpPr>
          <p:cNvPr id="1945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החזרת מערך מפונקציה</a:t>
            </a:r>
            <a:br>
              <a:rPr lang="he-IL" altLang="he-IL" smtClean="0"/>
            </a:br>
            <a:r>
              <a:rPr lang="en-US" altLang="he-IL" smtClean="0"/>
              <a:t> by pointer </a:t>
            </a:r>
            <a:r>
              <a:rPr lang="he-IL" altLang="he-IL" smtClean="0"/>
              <a:t> - דוגמא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46075"/>
            <a:ext cx="7391400" cy="6816725"/>
          </a:xfrm>
        </p:spPr>
        <p:txBody>
          <a:bodyPr/>
          <a:lstStyle/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/>
              <a:t>#include &lt;</a:t>
            </a:r>
            <a:r>
              <a:rPr lang="en-US" altLang="he-IL" sz="1200" dirty="0" err="1" smtClean="0"/>
              <a:t>stdio.h</a:t>
            </a:r>
            <a:r>
              <a:rPr lang="en-US" altLang="he-IL" sz="1200" dirty="0" smtClean="0"/>
              <a:t>&gt;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/>
              <a:t>#include &lt;</a:t>
            </a:r>
            <a:r>
              <a:rPr lang="en-US" altLang="he-IL" sz="1200" dirty="0" err="1" smtClean="0"/>
              <a:t>stdlib.h</a:t>
            </a:r>
            <a:r>
              <a:rPr lang="en-US" altLang="he-IL" sz="1200" dirty="0" smtClean="0"/>
              <a:t>&gt;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endParaRPr lang="he-IL" altLang="he-IL" sz="1200" dirty="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>
                <a:solidFill>
                  <a:srgbClr val="0070C0"/>
                </a:solidFill>
              </a:rPr>
              <a:t>void</a:t>
            </a:r>
            <a:r>
              <a:rPr lang="en-US" altLang="he-IL" sz="1200" dirty="0" smtClean="0"/>
              <a:t> </a:t>
            </a:r>
            <a:r>
              <a:rPr lang="en-US" altLang="he-IL" sz="1200" dirty="0" err="1"/>
              <a:t>B</a:t>
            </a:r>
            <a:r>
              <a:rPr lang="en-US" altLang="he-IL" sz="1200" dirty="0" err="1" smtClean="0"/>
              <a:t>uildArray</a:t>
            </a:r>
            <a:r>
              <a:rPr lang="en-US" altLang="he-IL" sz="1200" dirty="0" smtClean="0"/>
              <a:t>(</a:t>
            </a:r>
            <a:r>
              <a:rPr lang="en-US" altLang="he-IL" sz="1200" dirty="0" err="1" smtClean="0">
                <a:solidFill>
                  <a:srgbClr val="0070C0"/>
                </a:solidFill>
              </a:rPr>
              <a:t>int</a:t>
            </a:r>
            <a:r>
              <a:rPr lang="en-US" altLang="he-IL" sz="1200" dirty="0" smtClean="0">
                <a:solidFill>
                  <a:srgbClr val="0070C0"/>
                </a:solidFill>
              </a:rPr>
              <a:t>* </a:t>
            </a:r>
            <a:r>
              <a:rPr lang="en-US" altLang="he-IL" sz="1200" dirty="0" err="1" smtClean="0">
                <a:solidFill>
                  <a:srgbClr val="0070C0"/>
                </a:solidFill>
              </a:rPr>
              <a:t>arr</a:t>
            </a:r>
            <a:r>
              <a:rPr lang="en-US" altLang="he-IL" sz="1200" dirty="0" smtClean="0"/>
              <a:t>, </a:t>
            </a:r>
            <a:r>
              <a:rPr lang="en-US" altLang="he-IL" sz="1200" dirty="0" err="1" smtClean="0"/>
              <a:t>int</a:t>
            </a:r>
            <a:r>
              <a:rPr lang="en-US" altLang="he-IL" sz="1200" dirty="0" smtClean="0"/>
              <a:t> size)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/>
              <a:t>{</a:t>
            </a:r>
            <a:endParaRPr lang="he-IL" altLang="he-IL" sz="1200" dirty="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/>
              <a:t>	</a:t>
            </a:r>
            <a:r>
              <a:rPr lang="en-US" altLang="he-IL" sz="1200" dirty="0" err="1" smtClean="0"/>
              <a:t>int</a:t>
            </a:r>
            <a:r>
              <a:rPr lang="en-US" altLang="he-IL" sz="1200" dirty="0" smtClean="0"/>
              <a:t> </a:t>
            </a:r>
            <a:r>
              <a:rPr lang="en-US" altLang="he-IL" sz="1200" dirty="0" err="1" smtClean="0"/>
              <a:t>i</a:t>
            </a:r>
            <a:r>
              <a:rPr lang="en-US" altLang="he-IL" sz="1200" dirty="0" smtClean="0"/>
              <a:t>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/>
              <a:t>	</a:t>
            </a:r>
            <a:r>
              <a:rPr lang="en-US" altLang="he-IL" sz="1200" dirty="0" err="1" smtClean="0"/>
              <a:t>arr</a:t>
            </a:r>
            <a:r>
              <a:rPr lang="en-US" altLang="he-IL" sz="1200" dirty="0" smtClean="0"/>
              <a:t> = (</a:t>
            </a:r>
            <a:r>
              <a:rPr lang="en-US" altLang="he-IL" sz="1200" dirty="0" err="1" smtClean="0"/>
              <a:t>int</a:t>
            </a:r>
            <a:r>
              <a:rPr lang="en-US" altLang="he-IL" sz="1200" dirty="0" smtClean="0"/>
              <a:t>*)</a:t>
            </a:r>
            <a:r>
              <a:rPr lang="en-US" altLang="he-IL" sz="1200" dirty="0" err="1" smtClean="0"/>
              <a:t>malloc</a:t>
            </a:r>
            <a:r>
              <a:rPr lang="en-US" altLang="he-IL" sz="1200" dirty="0" smtClean="0"/>
              <a:t>(size*</a:t>
            </a:r>
            <a:r>
              <a:rPr lang="en-US" altLang="he-IL" sz="1200" dirty="0" err="1" smtClean="0"/>
              <a:t>sizeof</a:t>
            </a:r>
            <a:r>
              <a:rPr lang="en-US" altLang="he-IL" sz="1200" dirty="0" smtClean="0"/>
              <a:t>(</a:t>
            </a:r>
            <a:r>
              <a:rPr lang="en-US" altLang="he-IL" sz="1200" dirty="0" err="1" smtClean="0"/>
              <a:t>int</a:t>
            </a:r>
            <a:r>
              <a:rPr lang="en-US" altLang="he-IL" sz="1200" dirty="0" smtClean="0"/>
              <a:t>));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he-IL" altLang="he-IL" sz="1200" dirty="0" smtClean="0"/>
              <a:t>	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/>
              <a:t>	if (!</a:t>
            </a:r>
            <a:r>
              <a:rPr lang="en-US" altLang="he-IL" sz="1200" dirty="0" err="1" smtClean="0"/>
              <a:t>arr</a:t>
            </a:r>
            <a:r>
              <a:rPr lang="en-US" altLang="he-IL" sz="1200" dirty="0" smtClean="0"/>
              <a:t>)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he-IL" altLang="he-IL" sz="1200" dirty="0" smtClean="0"/>
              <a:t>	}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/>
              <a:t>		</a:t>
            </a:r>
            <a:r>
              <a:rPr lang="en-US" altLang="he-IL" sz="1200" dirty="0" err="1" smtClean="0"/>
              <a:t>printf</a:t>
            </a:r>
            <a:r>
              <a:rPr lang="en-US" altLang="he-IL" sz="1200" dirty="0" smtClean="0"/>
              <a:t>("ERROR! Not enough memory!\n");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/>
              <a:t>		exit(1); </a:t>
            </a:r>
            <a:r>
              <a:rPr lang="en-US" altLang="he-IL" sz="1200" dirty="0" smtClean="0">
                <a:solidFill>
                  <a:srgbClr val="009900"/>
                </a:solidFill>
              </a:rPr>
              <a:t>// to exit the program </a:t>
            </a:r>
            <a:r>
              <a:rPr lang="en-US" altLang="he-IL" sz="1200" dirty="0" err="1" smtClean="0">
                <a:solidFill>
                  <a:srgbClr val="009900"/>
                </a:solidFill>
              </a:rPr>
              <a:t>immedietly</a:t>
            </a:r>
            <a:r>
              <a:rPr lang="en-US" altLang="he-IL" sz="1200" dirty="0" smtClean="0">
                <a:solidFill>
                  <a:srgbClr val="009900"/>
                </a:solidFill>
              </a:rPr>
              <a:t>.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>
                <a:solidFill>
                  <a:srgbClr val="009900"/>
                </a:solidFill>
              </a:rPr>
              <a:t>		 // use only when memory allocation fails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he-IL" altLang="he-IL" sz="1200" dirty="0" smtClean="0"/>
              <a:t>	{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endParaRPr lang="he-IL" altLang="he-IL" sz="1200" dirty="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nn-NO" altLang="he-IL" sz="1200" dirty="0" smtClean="0"/>
              <a:t>	for (i=0 ; i &lt; size ; i++)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/>
              <a:t>		</a:t>
            </a:r>
            <a:r>
              <a:rPr lang="en-US" altLang="he-IL" sz="1200" dirty="0" err="1" smtClean="0"/>
              <a:t>arr</a:t>
            </a:r>
            <a:r>
              <a:rPr lang="en-US" altLang="he-IL" sz="1200" dirty="0" smtClean="0"/>
              <a:t>[</a:t>
            </a:r>
            <a:r>
              <a:rPr lang="en-US" altLang="he-IL" sz="1200" dirty="0" err="1" smtClean="0"/>
              <a:t>i</a:t>
            </a:r>
            <a:r>
              <a:rPr lang="en-US" altLang="he-IL" sz="1200" dirty="0" smtClean="0"/>
              <a:t>] = i+1;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he-IL" altLang="he-IL" sz="1200" dirty="0" smtClean="0"/>
              <a:t>{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endParaRPr lang="he-IL" altLang="he-IL" sz="1200" dirty="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/>
              <a:t>void main()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/>
              <a:t>{</a:t>
            </a:r>
            <a:endParaRPr lang="he-IL" altLang="he-IL" sz="1200" dirty="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/>
              <a:t>	</a:t>
            </a:r>
            <a:r>
              <a:rPr lang="en-US" altLang="he-IL" sz="1200" dirty="0" err="1" smtClean="0"/>
              <a:t>int</a:t>
            </a:r>
            <a:r>
              <a:rPr lang="en-US" altLang="he-IL" sz="1200" dirty="0" smtClean="0"/>
              <a:t> size, *</a:t>
            </a:r>
            <a:r>
              <a:rPr lang="en-US" altLang="he-IL" sz="1200" dirty="0" err="1" smtClean="0"/>
              <a:t>arr</a:t>
            </a:r>
            <a:r>
              <a:rPr lang="en-US" altLang="he-IL" sz="1200" dirty="0" smtClean="0">
                <a:solidFill>
                  <a:srgbClr val="0070C0"/>
                </a:solidFill>
              </a:rPr>
              <a:t>=NULL</a:t>
            </a:r>
            <a:r>
              <a:rPr lang="en-US" altLang="he-IL" sz="1200" dirty="0" smtClean="0"/>
              <a:t>, </a:t>
            </a:r>
            <a:r>
              <a:rPr lang="en-US" altLang="he-IL" sz="1200" dirty="0" err="1" smtClean="0"/>
              <a:t>i</a:t>
            </a:r>
            <a:r>
              <a:rPr lang="en-US" altLang="he-IL" sz="1200" dirty="0" smtClean="0"/>
              <a:t>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he-IL" altLang="he-IL" sz="1200" dirty="0" smtClean="0"/>
              <a:t>	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/>
              <a:t>	</a:t>
            </a:r>
            <a:r>
              <a:rPr lang="en-US" altLang="he-IL" sz="1200" dirty="0" err="1" smtClean="0"/>
              <a:t>printf</a:t>
            </a:r>
            <a:r>
              <a:rPr lang="en-US" altLang="he-IL" sz="1200" dirty="0" smtClean="0"/>
              <a:t>("Please enter the size of the array: ");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/>
              <a:t>	</a:t>
            </a:r>
            <a:r>
              <a:rPr lang="en-US" altLang="he-IL" sz="1200" dirty="0" err="1" smtClean="0"/>
              <a:t>scanf</a:t>
            </a:r>
            <a:r>
              <a:rPr lang="en-US" altLang="he-IL" sz="1200" dirty="0" smtClean="0"/>
              <a:t>("%d", &amp;size);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/>
              <a:t>	</a:t>
            </a:r>
            <a:r>
              <a:rPr lang="en-US" altLang="he-IL" sz="1200" dirty="0" err="1"/>
              <a:t>B</a:t>
            </a:r>
            <a:r>
              <a:rPr lang="en-US" altLang="he-IL" sz="1200" dirty="0" err="1" smtClean="0"/>
              <a:t>uildArray</a:t>
            </a:r>
            <a:r>
              <a:rPr lang="en-US" altLang="he-IL" sz="1200" dirty="0" smtClean="0"/>
              <a:t>(</a:t>
            </a:r>
            <a:r>
              <a:rPr lang="en-US" altLang="he-IL" sz="1200" dirty="0" err="1" smtClean="0">
                <a:solidFill>
                  <a:srgbClr val="0070C0"/>
                </a:solidFill>
              </a:rPr>
              <a:t>arr</a:t>
            </a:r>
            <a:r>
              <a:rPr lang="en-US" altLang="he-IL" sz="1200" dirty="0" smtClean="0"/>
              <a:t>, size);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endParaRPr lang="he-IL" altLang="he-IL" sz="1200" dirty="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/>
              <a:t>	</a:t>
            </a:r>
            <a:r>
              <a:rPr lang="en-US" altLang="he-IL" sz="1200" dirty="0" err="1" smtClean="0"/>
              <a:t>printf</a:t>
            </a:r>
            <a:r>
              <a:rPr lang="en-US" altLang="he-IL" sz="1200" dirty="0" smtClean="0"/>
              <a:t>("Values in the array: ");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nn-NO" altLang="he-IL" sz="1200" dirty="0" smtClean="0"/>
              <a:t>	for (i=0 ; i &lt; size ; i++)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/>
              <a:t>		</a:t>
            </a:r>
            <a:r>
              <a:rPr lang="en-US" altLang="he-IL" sz="1200" dirty="0" err="1" smtClean="0"/>
              <a:t>printf</a:t>
            </a:r>
            <a:r>
              <a:rPr lang="en-US" altLang="he-IL" sz="1200" dirty="0" smtClean="0"/>
              <a:t>("%d ", </a:t>
            </a:r>
            <a:r>
              <a:rPr lang="en-US" altLang="he-IL" sz="1200" dirty="0" err="1" smtClean="0"/>
              <a:t>arr</a:t>
            </a:r>
            <a:r>
              <a:rPr lang="en-US" altLang="he-IL" sz="1200" dirty="0" smtClean="0"/>
              <a:t>[</a:t>
            </a:r>
            <a:r>
              <a:rPr lang="en-US" altLang="he-IL" sz="1200" dirty="0" err="1" smtClean="0"/>
              <a:t>i</a:t>
            </a:r>
            <a:r>
              <a:rPr lang="en-US" altLang="he-IL" sz="1200" dirty="0" smtClean="0"/>
              <a:t>]); 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/>
              <a:t>	</a:t>
            </a:r>
            <a:r>
              <a:rPr lang="en-US" altLang="he-IL" sz="1200" dirty="0" err="1" smtClean="0"/>
              <a:t>printf</a:t>
            </a:r>
            <a:r>
              <a:rPr lang="en-US" altLang="he-IL" sz="1200" dirty="0" smtClean="0"/>
              <a:t>("\n");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endParaRPr lang="he-IL" altLang="he-IL" sz="1200" dirty="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/>
              <a:t>	free(</a:t>
            </a:r>
            <a:r>
              <a:rPr lang="en-US" altLang="he-IL" sz="1200" dirty="0" err="1" smtClean="0"/>
              <a:t>arr</a:t>
            </a:r>
            <a:r>
              <a:rPr lang="en-US" altLang="he-IL" sz="1200" dirty="0" smtClean="0"/>
              <a:t>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/>
              <a:t>}</a:t>
            </a:r>
            <a:endParaRPr lang="he-IL" altLang="he-IL" sz="1200" dirty="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endParaRPr lang="he-IL" altLang="he-IL" sz="1200" dirty="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endParaRPr lang="he-IL" altLang="he-IL" sz="1200" dirty="0" smtClean="0"/>
          </a:p>
        </p:txBody>
      </p:sp>
      <p:sp>
        <p:nvSpPr>
          <p:cNvPr id="19461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A0536041-6D31-4223-8A2D-6707EC844A8C}" type="slidenum">
              <a:rPr lang="he-IL" altLang="he-IL" sz="1000">
                <a:latin typeface="Verdana" pitchFamily="34" charset="0"/>
              </a:rPr>
              <a:pPr algn="r" rtl="1" eaLnBrk="1" hangingPunct="1"/>
              <a:t>18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  <p:sp>
        <p:nvSpPr>
          <p:cNvPr id="6" name="Text Box 47"/>
          <p:cNvSpPr txBox="1">
            <a:spLocks noChangeArrowheads="1"/>
          </p:cNvSpPr>
          <p:nvPr/>
        </p:nvSpPr>
        <p:spPr bwMode="auto">
          <a:xfrm>
            <a:off x="6781800" y="6186488"/>
            <a:ext cx="1981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>
              <a:spcBef>
                <a:spcPct val="50000"/>
              </a:spcBef>
            </a:pPr>
            <a:r>
              <a:rPr lang="he-IL" altLang="he-IL"/>
              <a:t>הזיכרון של ה- </a:t>
            </a:r>
            <a:r>
              <a:rPr lang="en-US" altLang="he-IL"/>
              <a:t>main</a:t>
            </a:r>
          </a:p>
        </p:txBody>
      </p:sp>
      <p:sp>
        <p:nvSpPr>
          <p:cNvPr id="7" name="Oval 72"/>
          <p:cNvSpPr>
            <a:spLocks noChangeArrowheads="1"/>
          </p:cNvSpPr>
          <p:nvPr/>
        </p:nvSpPr>
        <p:spPr bwMode="auto">
          <a:xfrm>
            <a:off x="6096000" y="1524000"/>
            <a:ext cx="2743200" cy="1447800"/>
          </a:xfrm>
          <a:prstGeom prst="ellipse">
            <a:avLst/>
          </a:prstGeom>
          <a:solidFill>
            <a:srgbClr val="00CC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he-IL" altLang="he-IL"/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6705600" y="2909888"/>
            <a:ext cx="1981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>
              <a:spcBef>
                <a:spcPct val="50000"/>
              </a:spcBef>
            </a:pPr>
            <a:r>
              <a:rPr lang="he-IL" altLang="he-IL"/>
              <a:t>זיכרון ה- </a:t>
            </a:r>
            <a:r>
              <a:rPr lang="en-US" altLang="he-IL"/>
              <a:t>heap</a:t>
            </a:r>
          </a:p>
        </p:txBody>
      </p:sp>
      <p:graphicFrame>
        <p:nvGraphicFramePr>
          <p:cNvPr id="9" name="Group 7"/>
          <p:cNvGraphicFramePr>
            <a:graphicFrameLocks noGrp="1"/>
          </p:cNvGraphicFramePr>
          <p:nvPr/>
        </p:nvGraphicFramePr>
        <p:xfrm>
          <a:off x="6096000" y="5105400"/>
          <a:ext cx="2743200" cy="1098710"/>
        </p:xfrm>
        <a:graphic>
          <a:graphicData uri="http://schemas.openxmlformats.org/drawingml/2006/table">
            <a:tbl>
              <a:tblPr/>
              <a:tblGrid>
                <a:gridCol w="1295400"/>
                <a:gridCol w="838200"/>
                <a:gridCol w="6096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int:size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694" marB="4569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694" marB="4569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Group 138"/>
          <p:cNvGraphicFramePr>
            <a:graphicFrameLocks noGrp="1"/>
          </p:cNvGraphicFramePr>
          <p:nvPr/>
        </p:nvGraphicFramePr>
        <p:xfrm>
          <a:off x="6553200" y="1676400"/>
          <a:ext cx="1905000" cy="1098710"/>
        </p:xfrm>
        <a:graphic>
          <a:graphicData uri="http://schemas.openxmlformats.org/drawingml/2006/table">
            <a:tbl>
              <a:tblPr/>
              <a:tblGrid>
                <a:gridCol w="457200"/>
                <a:gridCol w="914400"/>
                <a:gridCol w="5334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2" name="Text Box 47"/>
          <p:cNvSpPr txBox="1">
            <a:spLocks noChangeArrowheads="1"/>
          </p:cNvSpPr>
          <p:nvPr/>
        </p:nvSpPr>
        <p:spPr bwMode="auto">
          <a:xfrm>
            <a:off x="6172200" y="4586288"/>
            <a:ext cx="2590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>
              <a:spcBef>
                <a:spcPct val="50000"/>
              </a:spcBef>
            </a:pPr>
            <a:r>
              <a:rPr lang="he-IL" altLang="he-IL" dirty="0"/>
              <a:t>הזיכרון של </a:t>
            </a:r>
            <a:r>
              <a:rPr lang="en-US" altLang="he-IL" dirty="0" err="1"/>
              <a:t>B</a:t>
            </a:r>
            <a:r>
              <a:rPr lang="en-US" altLang="he-IL" dirty="0" err="1" smtClean="0"/>
              <a:t>uildArray</a:t>
            </a:r>
            <a:endParaRPr lang="en-US" altLang="he-IL" dirty="0"/>
          </a:p>
        </p:txBody>
      </p:sp>
      <p:graphicFrame>
        <p:nvGraphicFramePr>
          <p:cNvPr id="13" name="Group 60"/>
          <p:cNvGraphicFramePr>
            <a:graphicFrameLocks noGrp="1"/>
          </p:cNvGraphicFramePr>
          <p:nvPr/>
        </p:nvGraphicFramePr>
        <p:xfrm>
          <a:off x="6096000" y="3505200"/>
          <a:ext cx="2743200" cy="1098710"/>
        </p:xfrm>
        <a:graphic>
          <a:graphicData uri="http://schemas.openxmlformats.org/drawingml/2006/table">
            <a:tbl>
              <a:tblPr/>
              <a:tblGrid>
                <a:gridCol w="1295400"/>
                <a:gridCol w="838200"/>
                <a:gridCol w="6096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int:size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694" marB="4569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694" marB="4569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NULL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5" name="Group 146"/>
          <p:cNvGraphicFramePr>
            <a:graphicFrameLocks noGrp="1"/>
          </p:cNvGraphicFramePr>
          <p:nvPr/>
        </p:nvGraphicFramePr>
        <p:xfrm>
          <a:off x="6553200" y="1676400"/>
          <a:ext cx="1905000" cy="1098710"/>
        </p:xfrm>
        <a:graphic>
          <a:graphicData uri="http://schemas.openxmlformats.org/drawingml/2006/table">
            <a:tbl>
              <a:tblPr/>
              <a:tblGrid>
                <a:gridCol w="457200"/>
                <a:gridCol w="914400"/>
                <a:gridCol w="5334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Group 7"/>
          <p:cNvGraphicFramePr>
            <a:graphicFrameLocks noGrp="1"/>
          </p:cNvGraphicFramePr>
          <p:nvPr/>
        </p:nvGraphicFramePr>
        <p:xfrm>
          <a:off x="6096000" y="5105400"/>
          <a:ext cx="2743200" cy="1098710"/>
        </p:xfrm>
        <a:graphic>
          <a:graphicData uri="http://schemas.openxmlformats.org/drawingml/2006/table">
            <a:tbl>
              <a:tblPr/>
              <a:tblGrid>
                <a:gridCol w="1295400"/>
                <a:gridCol w="838200"/>
                <a:gridCol w="6096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int:size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694" marB="4569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NULL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694" marB="4569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Group 7"/>
          <p:cNvGraphicFramePr>
            <a:graphicFrameLocks noGrp="1"/>
          </p:cNvGraphicFramePr>
          <p:nvPr/>
        </p:nvGraphicFramePr>
        <p:xfrm>
          <a:off x="6096000" y="5105400"/>
          <a:ext cx="2743200" cy="1098710"/>
        </p:xfrm>
        <a:graphic>
          <a:graphicData uri="http://schemas.openxmlformats.org/drawingml/2006/table">
            <a:tbl>
              <a:tblPr/>
              <a:tblGrid>
                <a:gridCol w="1295400"/>
                <a:gridCol w="838200"/>
                <a:gridCol w="6096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int:size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694" marB="4569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NULL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694" marB="4569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9" name="Group 60"/>
          <p:cNvGraphicFramePr>
            <a:graphicFrameLocks noGrp="1"/>
          </p:cNvGraphicFramePr>
          <p:nvPr/>
        </p:nvGraphicFramePr>
        <p:xfrm>
          <a:off x="6096000" y="3505200"/>
          <a:ext cx="2743200" cy="1098710"/>
        </p:xfrm>
        <a:graphic>
          <a:graphicData uri="http://schemas.openxmlformats.org/drawingml/2006/table">
            <a:tbl>
              <a:tblPr/>
              <a:tblGrid>
                <a:gridCol w="1295400"/>
                <a:gridCol w="838200"/>
                <a:gridCol w="6096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int:size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694" marB="4569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694" marB="4569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3000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" name="Rectangular Callout 19"/>
          <p:cNvSpPr>
            <a:spLocks noChangeArrowheads="1"/>
          </p:cNvSpPr>
          <p:nvPr/>
        </p:nvSpPr>
        <p:spPr bwMode="auto">
          <a:xfrm>
            <a:off x="3505200" y="5638800"/>
            <a:ext cx="2286000" cy="381000"/>
          </a:xfrm>
          <a:prstGeom prst="wedgeRectCallout">
            <a:avLst>
              <a:gd name="adj1" fmla="val -75671"/>
              <a:gd name="adj2" fmla="val -18792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/>
            <a:r>
              <a:rPr lang="he-IL" altLang="he-IL" b="1">
                <a:solidFill>
                  <a:schemeClr val="bg1"/>
                </a:solidFill>
                <a:latin typeface="Verdana" pitchFamily="34" charset="0"/>
              </a:rPr>
              <a:t>פה התוכנית תעוף...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5"/>
          <p:cNvSpPr>
            <a:spLocks noChangeArrowheads="1"/>
          </p:cNvSpPr>
          <p:nvPr/>
        </p:nvSpPr>
        <p:spPr bwMode="auto">
          <a:xfrm>
            <a:off x="381000" y="1295400"/>
            <a:ext cx="83058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endParaRPr lang="he-IL" altLang="he-IL">
              <a:latin typeface="Verdana" pitchFamily="34" charset="0"/>
            </a:endParaRPr>
          </a:p>
        </p:txBody>
      </p:sp>
      <p:sp>
        <p:nvSpPr>
          <p:cNvPr id="2048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החזרת מערך מפונקציה</a:t>
            </a:r>
            <a:br>
              <a:rPr lang="he-IL" altLang="he-IL" smtClean="0"/>
            </a:br>
            <a:r>
              <a:rPr lang="en-US" altLang="he-IL" smtClean="0"/>
              <a:t> by pointer </a:t>
            </a:r>
            <a:r>
              <a:rPr lang="he-IL" altLang="he-IL" smtClean="0"/>
              <a:t> - התיקון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422275"/>
            <a:ext cx="7391400" cy="6816725"/>
          </a:xfrm>
        </p:spPr>
        <p:txBody>
          <a:bodyPr/>
          <a:lstStyle/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/>
              <a:t>#include &lt;</a:t>
            </a:r>
            <a:r>
              <a:rPr lang="en-US" altLang="he-IL" sz="1200" dirty="0" err="1" smtClean="0"/>
              <a:t>stdio.h</a:t>
            </a:r>
            <a:r>
              <a:rPr lang="en-US" altLang="he-IL" sz="1200" dirty="0" smtClean="0"/>
              <a:t>&gt;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/>
              <a:t>#include &lt;</a:t>
            </a:r>
            <a:r>
              <a:rPr lang="en-US" altLang="he-IL" sz="1200" dirty="0" err="1" smtClean="0"/>
              <a:t>stdlib.h</a:t>
            </a:r>
            <a:r>
              <a:rPr lang="en-US" altLang="he-IL" sz="1200" dirty="0" smtClean="0"/>
              <a:t>&gt;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endParaRPr lang="he-IL" altLang="he-IL" sz="1200" dirty="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/>
              <a:t>void </a:t>
            </a:r>
            <a:r>
              <a:rPr lang="en-US" altLang="he-IL" sz="1200" dirty="0" err="1"/>
              <a:t>B</a:t>
            </a:r>
            <a:r>
              <a:rPr lang="en-US" altLang="he-IL" sz="1200" dirty="0" err="1" smtClean="0"/>
              <a:t>uildArray</a:t>
            </a:r>
            <a:r>
              <a:rPr lang="en-US" altLang="he-IL" sz="1200" dirty="0" smtClean="0"/>
              <a:t>(</a:t>
            </a:r>
            <a:r>
              <a:rPr lang="en-US" altLang="he-IL" sz="1200" dirty="0" err="1" smtClean="0"/>
              <a:t>int</a:t>
            </a:r>
            <a:r>
              <a:rPr lang="en-US" altLang="he-IL" sz="1200" dirty="0" smtClean="0"/>
              <a:t>*</a:t>
            </a:r>
            <a:r>
              <a:rPr lang="en-US" altLang="he-IL" sz="1200" dirty="0" smtClean="0">
                <a:solidFill>
                  <a:schemeClr val="accent1"/>
                </a:solidFill>
              </a:rPr>
              <a:t>*</a:t>
            </a:r>
            <a:r>
              <a:rPr lang="en-US" altLang="he-IL" sz="1200" dirty="0" smtClean="0"/>
              <a:t> </a:t>
            </a:r>
            <a:r>
              <a:rPr lang="en-US" altLang="he-IL" sz="1200" dirty="0" err="1" smtClean="0"/>
              <a:t>arr</a:t>
            </a:r>
            <a:r>
              <a:rPr lang="en-US" altLang="he-IL" sz="1200" dirty="0" smtClean="0"/>
              <a:t>, </a:t>
            </a:r>
            <a:r>
              <a:rPr lang="en-US" altLang="he-IL" sz="1200" dirty="0" err="1" smtClean="0"/>
              <a:t>int</a:t>
            </a:r>
            <a:r>
              <a:rPr lang="en-US" altLang="he-IL" sz="1200" dirty="0" smtClean="0"/>
              <a:t> size)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he-IL" altLang="he-IL" sz="1200" dirty="0" smtClean="0"/>
              <a:t>}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/>
              <a:t>	</a:t>
            </a:r>
            <a:r>
              <a:rPr lang="en-US" altLang="he-IL" sz="1200" dirty="0" err="1" smtClean="0"/>
              <a:t>int</a:t>
            </a:r>
            <a:r>
              <a:rPr lang="en-US" altLang="he-IL" sz="1200" dirty="0" smtClean="0"/>
              <a:t> </a:t>
            </a:r>
            <a:r>
              <a:rPr lang="en-US" altLang="he-IL" sz="1200" dirty="0" err="1" smtClean="0"/>
              <a:t>i</a:t>
            </a:r>
            <a:r>
              <a:rPr lang="en-US" altLang="he-IL" sz="1200" dirty="0" smtClean="0"/>
              <a:t>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/>
              <a:t>	</a:t>
            </a:r>
            <a:r>
              <a:rPr lang="en-US" altLang="he-IL" sz="1200" dirty="0" smtClean="0">
                <a:solidFill>
                  <a:schemeClr val="accent1"/>
                </a:solidFill>
              </a:rPr>
              <a:t>*</a:t>
            </a:r>
            <a:r>
              <a:rPr lang="en-US" altLang="he-IL" sz="1200" dirty="0" err="1" smtClean="0"/>
              <a:t>arr</a:t>
            </a:r>
            <a:r>
              <a:rPr lang="en-US" altLang="he-IL" sz="1200" dirty="0" smtClean="0"/>
              <a:t> = (</a:t>
            </a:r>
            <a:r>
              <a:rPr lang="en-US" altLang="he-IL" sz="1200" dirty="0" err="1" smtClean="0"/>
              <a:t>int</a:t>
            </a:r>
            <a:r>
              <a:rPr lang="en-US" altLang="he-IL" sz="1200" dirty="0" smtClean="0"/>
              <a:t>*)</a:t>
            </a:r>
            <a:r>
              <a:rPr lang="en-US" altLang="he-IL" sz="1200" dirty="0" err="1" smtClean="0"/>
              <a:t>malloc</a:t>
            </a:r>
            <a:r>
              <a:rPr lang="en-US" altLang="he-IL" sz="1200" dirty="0" smtClean="0"/>
              <a:t>(size*</a:t>
            </a:r>
            <a:r>
              <a:rPr lang="en-US" altLang="he-IL" sz="1200" dirty="0" err="1" smtClean="0"/>
              <a:t>sizeof</a:t>
            </a:r>
            <a:r>
              <a:rPr lang="en-US" altLang="he-IL" sz="1200" dirty="0" smtClean="0"/>
              <a:t>(</a:t>
            </a:r>
            <a:r>
              <a:rPr lang="en-US" altLang="he-IL" sz="1200" dirty="0" err="1" smtClean="0"/>
              <a:t>int</a:t>
            </a:r>
            <a:r>
              <a:rPr lang="en-US" altLang="he-IL" sz="1200" dirty="0" smtClean="0"/>
              <a:t>));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he-IL" altLang="he-IL" sz="1200" dirty="0" smtClean="0"/>
              <a:t>	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/>
              <a:t>	if (!</a:t>
            </a:r>
            <a:r>
              <a:rPr lang="en-US" altLang="he-IL" sz="1200" dirty="0" smtClean="0">
                <a:solidFill>
                  <a:schemeClr val="accent1"/>
                </a:solidFill>
              </a:rPr>
              <a:t>*</a:t>
            </a:r>
            <a:r>
              <a:rPr lang="en-US" altLang="he-IL" sz="1200" dirty="0" err="1" smtClean="0"/>
              <a:t>arr</a:t>
            </a:r>
            <a:r>
              <a:rPr lang="en-US" altLang="he-IL" sz="1200" dirty="0" smtClean="0"/>
              <a:t>)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he-IL" altLang="he-IL" sz="1200" dirty="0" smtClean="0"/>
              <a:t>	}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/>
              <a:t>		</a:t>
            </a:r>
            <a:r>
              <a:rPr lang="en-US" altLang="he-IL" sz="1200" dirty="0" err="1" smtClean="0"/>
              <a:t>printf</a:t>
            </a:r>
            <a:r>
              <a:rPr lang="en-US" altLang="he-IL" sz="1200" dirty="0" smtClean="0"/>
              <a:t>("ERROR! Not enough memory!\n");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/>
              <a:t>		exit(1); </a:t>
            </a:r>
            <a:r>
              <a:rPr lang="en-US" altLang="he-IL" sz="1200" dirty="0" smtClean="0">
                <a:solidFill>
                  <a:srgbClr val="009900"/>
                </a:solidFill>
              </a:rPr>
              <a:t>// to exit the program </a:t>
            </a:r>
            <a:r>
              <a:rPr lang="en-US" altLang="he-IL" sz="1200" dirty="0" err="1" smtClean="0">
                <a:solidFill>
                  <a:srgbClr val="009900"/>
                </a:solidFill>
              </a:rPr>
              <a:t>immedietly</a:t>
            </a:r>
            <a:r>
              <a:rPr lang="en-US" altLang="he-IL" sz="1200" dirty="0" smtClean="0">
                <a:solidFill>
                  <a:srgbClr val="009900"/>
                </a:solidFill>
              </a:rPr>
              <a:t>.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>
                <a:solidFill>
                  <a:srgbClr val="009900"/>
                </a:solidFill>
              </a:rPr>
              <a:t>		 // use only when memory allocation fails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he-IL" altLang="he-IL" sz="1200" dirty="0" smtClean="0"/>
              <a:t>	{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endParaRPr lang="he-IL" altLang="he-IL" sz="1200" dirty="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nn-NO" altLang="he-IL" sz="1200" dirty="0" smtClean="0"/>
              <a:t>	for (i=0 ; i &lt; size ; i++)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/>
              <a:t>		</a:t>
            </a:r>
            <a:r>
              <a:rPr lang="en-US" altLang="he-IL" sz="1200" dirty="0" smtClean="0">
                <a:solidFill>
                  <a:schemeClr val="accent1"/>
                </a:solidFill>
              </a:rPr>
              <a:t>(*</a:t>
            </a:r>
            <a:r>
              <a:rPr lang="en-US" altLang="he-IL" sz="1200" dirty="0" err="1" smtClean="0"/>
              <a:t>arr</a:t>
            </a:r>
            <a:r>
              <a:rPr lang="en-US" altLang="he-IL" sz="1200" dirty="0" smtClean="0">
                <a:solidFill>
                  <a:schemeClr val="accent1"/>
                </a:solidFill>
              </a:rPr>
              <a:t>)</a:t>
            </a:r>
            <a:r>
              <a:rPr lang="en-US" altLang="he-IL" sz="1200" dirty="0" smtClean="0"/>
              <a:t>[</a:t>
            </a:r>
            <a:r>
              <a:rPr lang="en-US" altLang="he-IL" sz="1200" dirty="0" err="1" smtClean="0"/>
              <a:t>i</a:t>
            </a:r>
            <a:r>
              <a:rPr lang="en-US" altLang="he-IL" sz="1200" dirty="0" smtClean="0"/>
              <a:t>] = i+1;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he-IL" altLang="he-IL" sz="1200" dirty="0" smtClean="0"/>
              <a:t>{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endParaRPr lang="he-IL" altLang="he-IL" sz="1200" dirty="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/>
              <a:t>void main()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/>
              <a:t>{</a:t>
            </a:r>
            <a:endParaRPr lang="he-IL" altLang="he-IL" sz="1200" dirty="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/>
              <a:t>	</a:t>
            </a:r>
            <a:r>
              <a:rPr lang="en-US" altLang="he-IL" sz="1200" dirty="0" err="1" smtClean="0"/>
              <a:t>int</a:t>
            </a:r>
            <a:r>
              <a:rPr lang="en-US" altLang="he-IL" sz="1200" dirty="0" smtClean="0"/>
              <a:t> size, *</a:t>
            </a:r>
            <a:r>
              <a:rPr lang="en-US" altLang="he-IL" sz="1200" dirty="0" err="1" smtClean="0"/>
              <a:t>arr</a:t>
            </a:r>
            <a:r>
              <a:rPr lang="en-US" altLang="he-IL" sz="1200" dirty="0" smtClean="0"/>
              <a:t>=NULL, </a:t>
            </a:r>
            <a:r>
              <a:rPr lang="en-US" altLang="he-IL" sz="1200" dirty="0" err="1" smtClean="0"/>
              <a:t>i</a:t>
            </a:r>
            <a:r>
              <a:rPr lang="en-US" altLang="he-IL" sz="1200" dirty="0" smtClean="0"/>
              <a:t>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he-IL" altLang="he-IL" sz="1200" dirty="0" smtClean="0"/>
              <a:t>	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/>
              <a:t>	</a:t>
            </a:r>
            <a:r>
              <a:rPr lang="en-US" altLang="he-IL" sz="1200" dirty="0" err="1" smtClean="0"/>
              <a:t>printf</a:t>
            </a:r>
            <a:r>
              <a:rPr lang="en-US" altLang="he-IL" sz="1200" dirty="0" smtClean="0"/>
              <a:t>("Please enter the size of the array: ");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/>
              <a:t>	</a:t>
            </a:r>
            <a:r>
              <a:rPr lang="en-US" altLang="he-IL" sz="1200" dirty="0" err="1" smtClean="0"/>
              <a:t>scanf</a:t>
            </a:r>
            <a:r>
              <a:rPr lang="en-US" altLang="he-IL" sz="1200" dirty="0" smtClean="0"/>
              <a:t>("%d", &amp;size);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/>
              <a:t>	</a:t>
            </a:r>
            <a:r>
              <a:rPr lang="en-US" altLang="he-IL" sz="1200" dirty="0" err="1"/>
              <a:t>B</a:t>
            </a:r>
            <a:r>
              <a:rPr lang="en-US" altLang="he-IL" sz="1200" dirty="0" err="1" smtClean="0"/>
              <a:t>uildArray</a:t>
            </a:r>
            <a:r>
              <a:rPr lang="en-US" altLang="he-IL" sz="1200" dirty="0" smtClean="0"/>
              <a:t>(</a:t>
            </a:r>
            <a:r>
              <a:rPr lang="en-US" altLang="he-IL" sz="1200" dirty="0" smtClean="0">
                <a:solidFill>
                  <a:srgbClr val="0070C0"/>
                </a:solidFill>
              </a:rPr>
              <a:t>&amp;</a:t>
            </a:r>
            <a:r>
              <a:rPr lang="en-US" altLang="he-IL" sz="1200" dirty="0" err="1" smtClean="0"/>
              <a:t>arr</a:t>
            </a:r>
            <a:r>
              <a:rPr lang="en-US" altLang="he-IL" sz="1200" dirty="0" smtClean="0"/>
              <a:t>, size);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endParaRPr lang="he-IL" altLang="he-IL" sz="1200" dirty="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/>
              <a:t>	</a:t>
            </a:r>
            <a:r>
              <a:rPr lang="en-US" altLang="he-IL" sz="1200" dirty="0" err="1" smtClean="0"/>
              <a:t>printf</a:t>
            </a:r>
            <a:r>
              <a:rPr lang="en-US" altLang="he-IL" sz="1200" dirty="0" smtClean="0"/>
              <a:t>("Values in the array: ");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nn-NO" altLang="he-IL" sz="1200" dirty="0" smtClean="0"/>
              <a:t>	for (i=0 ; i &lt; size ; i++)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/>
              <a:t>		</a:t>
            </a:r>
            <a:r>
              <a:rPr lang="en-US" altLang="he-IL" sz="1200" dirty="0" err="1" smtClean="0"/>
              <a:t>printf</a:t>
            </a:r>
            <a:r>
              <a:rPr lang="en-US" altLang="he-IL" sz="1200" dirty="0" smtClean="0"/>
              <a:t>("%d ", </a:t>
            </a:r>
            <a:r>
              <a:rPr lang="en-US" altLang="he-IL" sz="1200" dirty="0" err="1" smtClean="0"/>
              <a:t>arr</a:t>
            </a:r>
            <a:r>
              <a:rPr lang="en-US" altLang="he-IL" sz="1200" dirty="0" smtClean="0"/>
              <a:t>[</a:t>
            </a:r>
            <a:r>
              <a:rPr lang="en-US" altLang="he-IL" sz="1200" dirty="0" err="1" smtClean="0"/>
              <a:t>i</a:t>
            </a:r>
            <a:r>
              <a:rPr lang="en-US" altLang="he-IL" sz="1200" dirty="0" smtClean="0"/>
              <a:t>]); 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/>
              <a:t>	</a:t>
            </a:r>
            <a:r>
              <a:rPr lang="en-US" altLang="he-IL" sz="1200" dirty="0" err="1" smtClean="0"/>
              <a:t>printf</a:t>
            </a:r>
            <a:r>
              <a:rPr lang="en-US" altLang="he-IL" sz="1200" dirty="0" smtClean="0"/>
              <a:t>("\n");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endParaRPr lang="he-IL" altLang="he-IL" sz="1200" dirty="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/>
              <a:t>	free(</a:t>
            </a:r>
            <a:r>
              <a:rPr lang="en-US" altLang="he-IL" sz="1200" dirty="0" err="1" smtClean="0"/>
              <a:t>arr</a:t>
            </a:r>
            <a:r>
              <a:rPr lang="en-US" altLang="he-IL" sz="1200" dirty="0" smtClean="0"/>
              <a:t>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200" dirty="0" smtClean="0"/>
              <a:t>}</a:t>
            </a:r>
            <a:endParaRPr lang="he-IL" altLang="he-IL" sz="1200" dirty="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endParaRPr lang="he-IL" altLang="he-IL" sz="1200" dirty="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endParaRPr lang="he-IL" altLang="he-IL" sz="1200" dirty="0" smtClean="0"/>
          </a:p>
        </p:txBody>
      </p:sp>
      <p:sp>
        <p:nvSpPr>
          <p:cNvPr id="20485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FE112EDD-81D7-4D96-A013-4982DF486C8C}" type="slidenum">
              <a:rPr lang="he-IL" altLang="he-IL" sz="1000">
                <a:latin typeface="Verdana" pitchFamily="34" charset="0"/>
              </a:rPr>
              <a:pPr algn="r" rtl="1" eaLnBrk="1" hangingPunct="1"/>
              <a:t>19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  <p:sp>
        <p:nvSpPr>
          <p:cNvPr id="6" name="Text Box 47"/>
          <p:cNvSpPr txBox="1">
            <a:spLocks noChangeArrowheads="1"/>
          </p:cNvSpPr>
          <p:nvPr/>
        </p:nvSpPr>
        <p:spPr bwMode="auto">
          <a:xfrm>
            <a:off x="6781800" y="6186488"/>
            <a:ext cx="1981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>
              <a:spcBef>
                <a:spcPct val="50000"/>
              </a:spcBef>
            </a:pPr>
            <a:r>
              <a:rPr lang="he-IL" altLang="he-IL"/>
              <a:t>הזיכרון של ה- </a:t>
            </a:r>
            <a:r>
              <a:rPr lang="en-US" altLang="he-IL"/>
              <a:t>main</a:t>
            </a:r>
          </a:p>
        </p:txBody>
      </p:sp>
      <p:sp>
        <p:nvSpPr>
          <p:cNvPr id="7" name="Oval 72"/>
          <p:cNvSpPr>
            <a:spLocks noChangeArrowheads="1"/>
          </p:cNvSpPr>
          <p:nvPr/>
        </p:nvSpPr>
        <p:spPr bwMode="auto">
          <a:xfrm>
            <a:off x="6096000" y="1524000"/>
            <a:ext cx="2743200" cy="1447800"/>
          </a:xfrm>
          <a:prstGeom prst="ellipse">
            <a:avLst/>
          </a:prstGeom>
          <a:solidFill>
            <a:srgbClr val="00CC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he-IL" altLang="he-IL"/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6705600" y="2909888"/>
            <a:ext cx="1981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>
              <a:spcBef>
                <a:spcPct val="50000"/>
              </a:spcBef>
            </a:pPr>
            <a:r>
              <a:rPr lang="he-IL" altLang="he-IL"/>
              <a:t>זיכרון ה- </a:t>
            </a:r>
            <a:r>
              <a:rPr lang="en-US" altLang="he-IL"/>
              <a:t>heap</a:t>
            </a:r>
          </a:p>
        </p:txBody>
      </p:sp>
      <p:graphicFrame>
        <p:nvGraphicFramePr>
          <p:cNvPr id="9" name="Group 7"/>
          <p:cNvGraphicFramePr>
            <a:graphicFrameLocks noGrp="1"/>
          </p:cNvGraphicFramePr>
          <p:nvPr/>
        </p:nvGraphicFramePr>
        <p:xfrm>
          <a:off x="6096000" y="5105400"/>
          <a:ext cx="2743200" cy="1098710"/>
        </p:xfrm>
        <a:graphic>
          <a:graphicData uri="http://schemas.openxmlformats.org/drawingml/2006/table">
            <a:tbl>
              <a:tblPr/>
              <a:tblGrid>
                <a:gridCol w="1295400"/>
                <a:gridCol w="838200"/>
                <a:gridCol w="6096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int:size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694" marB="4569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694" marB="4569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Group 138"/>
          <p:cNvGraphicFramePr>
            <a:graphicFrameLocks noGrp="1"/>
          </p:cNvGraphicFramePr>
          <p:nvPr/>
        </p:nvGraphicFramePr>
        <p:xfrm>
          <a:off x="6553200" y="1676400"/>
          <a:ext cx="1905000" cy="1098710"/>
        </p:xfrm>
        <a:graphic>
          <a:graphicData uri="http://schemas.openxmlformats.org/drawingml/2006/table">
            <a:tbl>
              <a:tblPr/>
              <a:tblGrid>
                <a:gridCol w="457200"/>
                <a:gridCol w="914400"/>
                <a:gridCol w="5334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2" name="Text Box 47"/>
          <p:cNvSpPr txBox="1">
            <a:spLocks noChangeArrowheads="1"/>
          </p:cNvSpPr>
          <p:nvPr/>
        </p:nvSpPr>
        <p:spPr bwMode="auto">
          <a:xfrm>
            <a:off x="6172200" y="4586288"/>
            <a:ext cx="2590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>
              <a:spcBef>
                <a:spcPct val="50000"/>
              </a:spcBef>
            </a:pPr>
            <a:r>
              <a:rPr lang="he-IL" altLang="he-IL"/>
              <a:t>הזיכרון של </a:t>
            </a:r>
            <a:r>
              <a:rPr lang="en-US" altLang="he-IL"/>
              <a:t>buildArray</a:t>
            </a:r>
          </a:p>
        </p:txBody>
      </p:sp>
      <p:graphicFrame>
        <p:nvGraphicFramePr>
          <p:cNvPr id="13" name="Group 60"/>
          <p:cNvGraphicFramePr>
            <a:graphicFrameLocks noGrp="1"/>
          </p:cNvGraphicFramePr>
          <p:nvPr/>
        </p:nvGraphicFramePr>
        <p:xfrm>
          <a:off x="6096000" y="3473450"/>
          <a:ext cx="2743200" cy="1098710"/>
        </p:xfrm>
        <a:graphic>
          <a:graphicData uri="http://schemas.openxmlformats.org/drawingml/2006/table">
            <a:tbl>
              <a:tblPr/>
              <a:tblGrid>
                <a:gridCol w="1295400"/>
                <a:gridCol w="838200"/>
                <a:gridCol w="6096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int:size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694" marB="4569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**: </a:t>
                      </a: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5" name="Group 146"/>
          <p:cNvGraphicFramePr>
            <a:graphicFrameLocks noGrp="1"/>
          </p:cNvGraphicFramePr>
          <p:nvPr/>
        </p:nvGraphicFramePr>
        <p:xfrm>
          <a:off x="6553200" y="1676400"/>
          <a:ext cx="1905000" cy="1098710"/>
        </p:xfrm>
        <a:graphic>
          <a:graphicData uri="http://schemas.openxmlformats.org/drawingml/2006/table">
            <a:tbl>
              <a:tblPr/>
              <a:tblGrid>
                <a:gridCol w="457200"/>
                <a:gridCol w="914400"/>
                <a:gridCol w="5334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Group 7"/>
          <p:cNvGraphicFramePr>
            <a:graphicFrameLocks noGrp="1"/>
          </p:cNvGraphicFramePr>
          <p:nvPr/>
        </p:nvGraphicFramePr>
        <p:xfrm>
          <a:off x="6096000" y="5105400"/>
          <a:ext cx="2743200" cy="1098710"/>
        </p:xfrm>
        <a:graphic>
          <a:graphicData uri="http://schemas.openxmlformats.org/drawingml/2006/table">
            <a:tbl>
              <a:tblPr/>
              <a:tblGrid>
                <a:gridCol w="1295400"/>
                <a:gridCol w="838200"/>
                <a:gridCol w="6096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int:size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694" marB="4569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NULL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694" marB="4569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Group 7"/>
          <p:cNvGraphicFramePr>
            <a:graphicFrameLocks noGrp="1"/>
          </p:cNvGraphicFramePr>
          <p:nvPr/>
        </p:nvGraphicFramePr>
        <p:xfrm>
          <a:off x="6096000" y="5105400"/>
          <a:ext cx="2743200" cy="1098710"/>
        </p:xfrm>
        <a:graphic>
          <a:graphicData uri="http://schemas.openxmlformats.org/drawingml/2006/table">
            <a:tbl>
              <a:tblPr/>
              <a:tblGrid>
                <a:gridCol w="1295400"/>
                <a:gridCol w="838200"/>
                <a:gridCol w="6096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int:size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694" marB="4569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NULL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694" marB="4569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1" name="Group 7"/>
          <p:cNvGraphicFramePr>
            <a:graphicFrameLocks noGrp="1"/>
          </p:cNvGraphicFramePr>
          <p:nvPr/>
        </p:nvGraphicFramePr>
        <p:xfrm>
          <a:off x="6096000" y="5105400"/>
          <a:ext cx="2743200" cy="1098710"/>
        </p:xfrm>
        <a:graphic>
          <a:graphicData uri="http://schemas.openxmlformats.org/drawingml/2006/table">
            <a:tbl>
              <a:tblPr/>
              <a:tblGrid>
                <a:gridCol w="1295400"/>
                <a:gridCol w="838200"/>
                <a:gridCol w="6096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int:size</a:t>
                      </a: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694" marB="4569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3000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694" marB="4569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הקצאת מערך של מערכים (1)</a:t>
            </a:r>
            <a:endParaRPr lang="en-US" altLang="he-IL" smtClean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altLang="he-IL" smtClean="0"/>
              <a:t>כעת אנחנו יכולים לייצר מטריצה שבכל שורה יש מספר שונה של איברים</a:t>
            </a:r>
            <a:endParaRPr lang="en-US" altLang="he-IL" smtClean="0"/>
          </a:p>
        </p:txBody>
      </p:sp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895600"/>
            <a:ext cx="4800600" cy="214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5F40DB6F-1B8D-4127-A130-7D702F89C5A0}" type="slidenum">
              <a:rPr lang="he-IL" altLang="he-IL" sz="1000">
                <a:latin typeface="Verdana" pitchFamily="34" charset="0"/>
              </a:rPr>
              <a:pPr algn="r" rtl="1" eaLnBrk="1" hangingPunct="1"/>
              <a:t>20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5"/>
          <p:cNvSpPr>
            <a:spLocks noChangeArrowheads="1"/>
          </p:cNvSpPr>
          <p:nvPr/>
        </p:nvSpPr>
        <p:spPr bwMode="auto">
          <a:xfrm>
            <a:off x="381000" y="1295400"/>
            <a:ext cx="83058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endParaRPr lang="he-IL" altLang="he-IL">
              <a:latin typeface="Verdana" pitchFamily="34" charset="0"/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8229600" cy="1139825"/>
          </a:xfrm>
        </p:spPr>
        <p:txBody>
          <a:bodyPr/>
          <a:lstStyle/>
          <a:p>
            <a:pPr algn="r"/>
            <a:r>
              <a:rPr lang="he-IL" altLang="he-IL" smtClean="0"/>
              <a:t>הקצאת מערך של מערכים (2)</a:t>
            </a:r>
            <a:endParaRPr lang="en-US" altLang="he-IL" smtClean="0"/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55675"/>
            <a:ext cx="8229600" cy="4530725"/>
          </a:xfrm>
        </p:spPr>
        <p:txBody>
          <a:bodyPr/>
          <a:lstStyle/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#include &lt;stdio.h&gt;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#include &lt;stdlib.h&gt;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void main()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int rows, **matrix, i, j, *sizes;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printf("Enter number of rows in the matrix: ");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scanf("%d", &amp;rows);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matrix = (int**)malloc(rows*sizeof(int*));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sizes = (int*)malloc(rows*sizeof(int));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for (</a:t>
            </a:r>
            <a:r>
              <a:rPr lang="en-US" altLang="he-IL" sz="1200" smtClean="0"/>
              <a:t>      </a:t>
            </a:r>
            <a:r>
              <a:rPr lang="en-US" altLang="he-IL" sz="1200" noProof="1" smtClean="0"/>
              <a:t> ; </a:t>
            </a:r>
            <a:r>
              <a:rPr lang="en-US" altLang="he-IL" sz="1200" smtClean="0"/>
              <a:t>   </a:t>
            </a:r>
            <a:r>
              <a:rPr lang="en-US" altLang="he-IL" sz="1200" noProof="1" smtClean="0"/>
              <a:t> </a:t>
            </a:r>
            <a:r>
              <a:rPr lang="en-US" altLang="he-IL" sz="1200" smtClean="0"/>
              <a:t>         </a:t>
            </a:r>
            <a:r>
              <a:rPr lang="en-US" altLang="he-IL" sz="1200" noProof="1" smtClean="0"/>
              <a:t> ; </a:t>
            </a:r>
            <a:r>
              <a:rPr lang="en-US" altLang="he-IL" sz="1200" smtClean="0"/>
              <a:t>         )</a:t>
            </a: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	printf("Enter size of row #%d: ", i+1);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	scanf("%d", &amp;sizes[i]);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	matrix[i] = (int*)calloc(sizes[i], sizeof(int));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	for (j=0 ; j &lt; sizes[i] ; j++)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	</a:t>
            </a:r>
            <a:r>
              <a:rPr lang="en-US" altLang="he-IL" sz="1200" smtClean="0"/>
              <a:t>      </a:t>
            </a:r>
            <a:r>
              <a:rPr lang="en-US" altLang="he-IL" sz="1200" noProof="1" smtClean="0"/>
              <a:t>matrix[i][j] = (i+1)*10+j+1;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}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printf("The matrix is:\n");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for (i=0 ; i &lt; rows ; i++)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	for (j=0 ; j &lt; sizes[i] ; j++)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	</a:t>
            </a:r>
            <a:r>
              <a:rPr lang="en-US" altLang="he-IL" sz="1200" smtClean="0"/>
              <a:t>      </a:t>
            </a:r>
            <a:r>
              <a:rPr lang="en-US" altLang="he-IL" sz="1200" noProof="1" smtClean="0"/>
              <a:t>printf("%d ", matrix[i][j]);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	printf("\n");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}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free(sizes);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for (</a:t>
            </a:r>
            <a:r>
              <a:rPr lang="en-US" altLang="he-IL" sz="1200" smtClean="0"/>
              <a:t>       </a:t>
            </a:r>
            <a:r>
              <a:rPr lang="en-US" altLang="he-IL" sz="1200" noProof="1" smtClean="0"/>
              <a:t>; </a:t>
            </a:r>
            <a:r>
              <a:rPr lang="en-US" altLang="he-IL" sz="1200" smtClean="0"/>
              <a:t>              </a:t>
            </a:r>
            <a:r>
              <a:rPr lang="en-US" altLang="he-IL" sz="1200" noProof="1" smtClean="0"/>
              <a:t> ; </a:t>
            </a:r>
            <a:r>
              <a:rPr lang="en-US" altLang="he-IL" sz="1200" smtClean="0"/>
              <a:t>        )</a:t>
            </a:r>
            <a:endParaRPr lang="en-US" altLang="he-IL" sz="12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	free(matrix[i]);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	free(matrix);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200" noProof="1" smtClean="0"/>
              <a:t>}</a:t>
            </a:r>
          </a:p>
        </p:txBody>
      </p:sp>
      <p:sp>
        <p:nvSpPr>
          <p:cNvPr id="28681" name="Text Box 47"/>
          <p:cNvSpPr txBox="1">
            <a:spLocks noChangeArrowheads="1"/>
          </p:cNvSpPr>
          <p:nvPr/>
        </p:nvSpPr>
        <p:spPr bwMode="auto">
          <a:xfrm>
            <a:off x="6781800" y="3200400"/>
            <a:ext cx="1981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>
              <a:spcBef>
                <a:spcPct val="50000"/>
              </a:spcBef>
            </a:pPr>
            <a:r>
              <a:rPr lang="he-IL" altLang="he-IL"/>
              <a:t>הזיכרון של ה- </a:t>
            </a:r>
            <a:r>
              <a:rPr lang="en-US" altLang="he-IL"/>
              <a:t>main</a:t>
            </a:r>
          </a:p>
        </p:txBody>
      </p:sp>
      <p:sp>
        <p:nvSpPr>
          <p:cNvPr id="58440" name="Oval 72"/>
          <p:cNvSpPr>
            <a:spLocks noChangeArrowheads="1"/>
          </p:cNvSpPr>
          <p:nvPr/>
        </p:nvSpPr>
        <p:spPr bwMode="auto">
          <a:xfrm>
            <a:off x="3733800" y="3810000"/>
            <a:ext cx="5334000" cy="3048000"/>
          </a:xfrm>
          <a:prstGeom prst="ellipse">
            <a:avLst/>
          </a:prstGeom>
          <a:solidFill>
            <a:srgbClr val="00CC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he-IL" altLang="he-IL"/>
          </a:p>
        </p:txBody>
      </p:sp>
      <p:sp>
        <p:nvSpPr>
          <p:cNvPr id="3" name="Text Box 9"/>
          <p:cNvSpPr txBox="1">
            <a:spLocks noChangeArrowheads="1"/>
          </p:cNvSpPr>
          <p:nvPr/>
        </p:nvSpPr>
        <p:spPr bwMode="auto">
          <a:xfrm>
            <a:off x="7467600" y="6491288"/>
            <a:ext cx="1981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>
              <a:spcBef>
                <a:spcPct val="50000"/>
              </a:spcBef>
            </a:pPr>
            <a:r>
              <a:rPr lang="he-IL" altLang="he-IL"/>
              <a:t>זיכרון ה- </a:t>
            </a:r>
            <a:r>
              <a:rPr lang="en-US" altLang="he-IL"/>
              <a:t>heap</a:t>
            </a:r>
          </a:p>
        </p:txBody>
      </p:sp>
      <p:graphicFrame>
        <p:nvGraphicFramePr>
          <p:cNvPr id="180398" name="Group 174"/>
          <p:cNvGraphicFramePr>
            <a:graphicFrameLocks noGrp="1"/>
          </p:cNvGraphicFramePr>
          <p:nvPr/>
        </p:nvGraphicFramePr>
        <p:xfrm>
          <a:off x="3886200" y="4114800"/>
          <a:ext cx="2057400" cy="1098710"/>
        </p:xfrm>
        <a:graphic>
          <a:graphicData uri="http://schemas.openxmlformats.org/drawingml/2006/table">
            <a:tbl>
              <a:tblPr/>
              <a:tblGrid>
                <a:gridCol w="609600"/>
                <a:gridCol w="914400"/>
                <a:gridCol w="5334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0291" name="Group 67"/>
          <p:cNvGraphicFramePr>
            <a:graphicFrameLocks noGrp="1"/>
          </p:cNvGraphicFramePr>
          <p:nvPr/>
        </p:nvGraphicFramePr>
        <p:xfrm>
          <a:off x="6019800" y="1447800"/>
          <a:ext cx="2743200" cy="1832072"/>
        </p:xfrm>
        <a:graphic>
          <a:graphicData uri="http://schemas.openxmlformats.org/drawingml/2006/table">
            <a:tbl>
              <a:tblPr/>
              <a:tblGrid>
                <a:gridCol w="1295400"/>
                <a:gridCol w="838200"/>
                <a:gridCol w="609600"/>
              </a:tblGrid>
              <a:tr h="36563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int:rows</a:t>
                      </a:r>
                    </a:p>
                  </a:txBody>
                  <a:tcPr marT="45704" marB="45704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matrix</a:t>
                      </a:r>
                    </a:p>
                  </a:txBody>
                  <a:tcPr marT="45704" marB="4570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04" marB="4570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j</a:t>
                      </a:r>
                    </a:p>
                  </a:txBody>
                  <a:tcPr marT="45704" marB="4570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sizes</a:t>
                      </a:r>
                    </a:p>
                  </a:txBody>
                  <a:tcPr marT="45704" marB="4570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80294" name="Group 70"/>
          <p:cNvGraphicFramePr>
            <a:graphicFrameLocks noGrp="1"/>
          </p:cNvGraphicFramePr>
          <p:nvPr/>
        </p:nvGraphicFramePr>
        <p:xfrm>
          <a:off x="6019800" y="1447800"/>
          <a:ext cx="2743200" cy="1832072"/>
        </p:xfrm>
        <a:graphic>
          <a:graphicData uri="http://schemas.openxmlformats.org/drawingml/2006/table">
            <a:tbl>
              <a:tblPr/>
              <a:tblGrid>
                <a:gridCol w="1295400"/>
                <a:gridCol w="838200"/>
                <a:gridCol w="609600"/>
              </a:tblGrid>
              <a:tr h="36563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int:rows</a:t>
                      </a:r>
                    </a:p>
                  </a:txBody>
                  <a:tcPr marT="45704" marB="45704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matrix</a:t>
                      </a:r>
                    </a:p>
                  </a:txBody>
                  <a:tcPr marT="45704" marB="4570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04" marB="4570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j</a:t>
                      </a:r>
                    </a:p>
                  </a:txBody>
                  <a:tcPr marT="45704" marB="4570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sizes</a:t>
                      </a:r>
                    </a:p>
                  </a:txBody>
                  <a:tcPr marT="45704" marB="4570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80320" name="Group 96"/>
          <p:cNvGraphicFramePr>
            <a:graphicFrameLocks noGrp="1"/>
          </p:cNvGraphicFramePr>
          <p:nvPr/>
        </p:nvGraphicFramePr>
        <p:xfrm>
          <a:off x="6019800" y="1447800"/>
          <a:ext cx="2743200" cy="1832072"/>
        </p:xfrm>
        <a:graphic>
          <a:graphicData uri="http://schemas.openxmlformats.org/drawingml/2006/table">
            <a:tbl>
              <a:tblPr/>
              <a:tblGrid>
                <a:gridCol w="1295400"/>
                <a:gridCol w="838200"/>
                <a:gridCol w="609600"/>
              </a:tblGrid>
              <a:tr h="36563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int:rows</a:t>
                      </a:r>
                    </a:p>
                  </a:txBody>
                  <a:tcPr marT="45704" marB="45704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matrix</a:t>
                      </a:r>
                    </a:p>
                  </a:txBody>
                  <a:tcPr marT="45704" marB="4570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3000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04" marB="4570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j</a:t>
                      </a:r>
                    </a:p>
                  </a:txBody>
                  <a:tcPr marT="45704" marB="4570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sizes</a:t>
                      </a:r>
                    </a:p>
                  </a:txBody>
                  <a:tcPr marT="45704" marB="4570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80397" name="Group 173"/>
          <p:cNvGraphicFramePr>
            <a:graphicFrameLocks noGrp="1"/>
          </p:cNvGraphicFramePr>
          <p:nvPr/>
        </p:nvGraphicFramePr>
        <p:xfrm>
          <a:off x="6629400" y="5454650"/>
          <a:ext cx="1981200" cy="1098710"/>
        </p:xfrm>
        <a:graphic>
          <a:graphicData uri="http://schemas.openxmlformats.org/drawingml/2006/table">
            <a:tbl>
              <a:tblPr/>
              <a:tblGrid>
                <a:gridCol w="533400"/>
                <a:gridCol w="914400"/>
                <a:gridCol w="5334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0399" name="Group 175"/>
          <p:cNvGraphicFramePr>
            <a:graphicFrameLocks noGrp="1"/>
          </p:cNvGraphicFramePr>
          <p:nvPr/>
        </p:nvGraphicFramePr>
        <p:xfrm>
          <a:off x="6019800" y="1447800"/>
          <a:ext cx="2743200" cy="1832072"/>
        </p:xfrm>
        <a:graphic>
          <a:graphicData uri="http://schemas.openxmlformats.org/drawingml/2006/table">
            <a:tbl>
              <a:tblPr/>
              <a:tblGrid>
                <a:gridCol w="1295400"/>
                <a:gridCol w="838200"/>
                <a:gridCol w="609600"/>
              </a:tblGrid>
              <a:tr h="36563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int:rows</a:t>
                      </a:r>
                    </a:p>
                  </a:txBody>
                  <a:tcPr marT="45704" marB="45704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matrix</a:t>
                      </a:r>
                    </a:p>
                  </a:txBody>
                  <a:tcPr marT="45704" marB="4570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3000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04" marB="4570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j</a:t>
                      </a:r>
                    </a:p>
                  </a:txBody>
                  <a:tcPr marT="45704" marB="4570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sizes</a:t>
                      </a:r>
                    </a:p>
                  </a:txBody>
                  <a:tcPr marT="45704" marB="4570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4000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80425" name="Text Box 201"/>
          <p:cNvSpPr txBox="1">
            <a:spLocks noChangeArrowheads="1"/>
          </p:cNvSpPr>
          <p:nvPr/>
        </p:nvSpPr>
        <p:spPr bwMode="auto">
          <a:xfrm>
            <a:off x="990600" y="2971800"/>
            <a:ext cx="1143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1200">
                <a:latin typeface="Verdana" pitchFamily="34" charset="0"/>
              </a:rPr>
              <a:t>i=0</a:t>
            </a:r>
          </a:p>
        </p:txBody>
      </p:sp>
      <p:sp>
        <p:nvSpPr>
          <p:cNvPr id="180426" name="Text Box 202"/>
          <p:cNvSpPr txBox="1">
            <a:spLocks noChangeArrowheads="1"/>
          </p:cNvSpPr>
          <p:nvPr/>
        </p:nvSpPr>
        <p:spPr bwMode="auto">
          <a:xfrm>
            <a:off x="1447800" y="2971800"/>
            <a:ext cx="1143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1200">
                <a:latin typeface="Verdana" pitchFamily="34" charset="0"/>
              </a:rPr>
              <a:t>i &lt; rows</a:t>
            </a:r>
          </a:p>
        </p:txBody>
      </p:sp>
      <p:sp>
        <p:nvSpPr>
          <p:cNvPr id="180427" name="Text Box 203"/>
          <p:cNvSpPr txBox="1">
            <a:spLocks noChangeArrowheads="1"/>
          </p:cNvSpPr>
          <p:nvPr/>
        </p:nvSpPr>
        <p:spPr bwMode="auto">
          <a:xfrm>
            <a:off x="2362200" y="2971800"/>
            <a:ext cx="1143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1200">
                <a:latin typeface="Verdana" pitchFamily="34" charset="0"/>
              </a:rPr>
              <a:t>i++</a:t>
            </a:r>
          </a:p>
        </p:txBody>
      </p:sp>
      <p:graphicFrame>
        <p:nvGraphicFramePr>
          <p:cNvPr id="180428" name="Group 204"/>
          <p:cNvGraphicFramePr>
            <a:graphicFrameLocks noGrp="1"/>
          </p:cNvGraphicFramePr>
          <p:nvPr/>
        </p:nvGraphicFramePr>
        <p:xfrm>
          <a:off x="6019800" y="1447800"/>
          <a:ext cx="2743200" cy="1832072"/>
        </p:xfrm>
        <a:graphic>
          <a:graphicData uri="http://schemas.openxmlformats.org/drawingml/2006/table">
            <a:tbl>
              <a:tblPr/>
              <a:tblGrid>
                <a:gridCol w="1295400"/>
                <a:gridCol w="838200"/>
                <a:gridCol w="609600"/>
              </a:tblGrid>
              <a:tr h="36563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int:rows</a:t>
                      </a:r>
                    </a:p>
                  </a:txBody>
                  <a:tcPr marT="45704" marB="45704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matrix</a:t>
                      </a:r>
                    </a:p>
                  </a:txBody>
                  <a:tcPr marT="45704" marB="4570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3000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04" marB="4570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j</a:t>
                      </a:r>
                    </a:p>
                  </a:txBody>
                  <a:tcPr marT="45704" marB="4570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sizes</a:t>
                      </a:r>
                    </a:p>
                  </a:txBody>
                  <a:tcPr marT="45704" marB="4570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4000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80473" name="Group 249"/>
          <p:cNvGraphicFramePr>
            <a:graphicFrameLocks noGrp="1"/>
          </p:cNvGraphicFramePr>
          <p:nvPr/>
        </p:nvGraphicFramePr>
        <p:xfrm>
          <a:off x="6629400" y="5454650"/>
          <a:ext cx="1981200" cy="1098710"/>
        </p:xfrm>
        <a:graphic>
          <a:graphicData uri="http://schemas.openxmlformats.org/drawingml/2006/table">
            <a:tbl>
              <a:tblPr/>
              <a:tblGrid>
                <a:gridCol w="533400"/>
                <a:gridCol w="914400"/>
                <a:gridCol w="5334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0511" name="Group 287"/>
          <p:cNvGraphicFramePr>
            <a:graphicFrameLocks noGrp="1"/>
          </p:cNvGraphicFramePr>
          <p:nvPr/>
        </p:nvGraphicFramePr>
        <p:xfrm>
          <a:off x="5943600" y="3657600"/>
          <a:ext cx="1981200" cy="732075"/>
        </p:xfrm>
        <a:graphic>
          <a:graphicData uri="http://schemas.openxmlformats.org/drawingml/2006/table">
            <a:tbl>
              <a:tblPr/>
              <a:tblGrid>
                <a:gridCol w="533400"/>
                <a:gridCol w="914400"/>
                <a:gridCol w="533400"/>
              </a:tblGrid>
              <a:tr h="3654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4050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80" marB="4568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39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4054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80" marB="4568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0512" name="Group 288"/>
          <p:cNvGraphicFramePr>
            <a:graphicFrameLocks noGrp="1"/>
          </p:cNvGraphicFramePr>
          <p:nvPr/>
        </p:nvGraphicFramePr>
        <p:xfrm>
          <a:off x="3886200" y="4114800"/>
          <a:ext cx="2057400" cy="1098710"/>
        </p:xfrm>
        <a:graphic>
          <a:graphicData uri="http://schemas.openxmlformats.org/drawingml/2006/table">
            <a:tbl>
              <a:tblPr/>
              <a:tblGrid>
                <a:gridCol w="609600"/>
                <a:gridCol w="914400"/>
                <a:gridCol w="5334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4050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0531" name="Group 307"/>
          <p:cNvGraphicFramePr>
            <a:graphicFrameLocks noGrp="1"/>
          </p:cNvGraphicFramePr>
          <p:nvPr/>
        </p:nvGraphicFramePr>
        <p:xfrm>
          <a:off x="5943600" y="3657600"/>
          <a:ext cx="1981200" cy="732075"/>
        </p:xfrm>
        <a:graphic>
          <a:graphicData uri="http://schemas.openxmlformats.org/drawingml/2006/table">
            <a:tbl>
              <a:tblPr/>
              <a:tblGrid>
                <a:gridCol w="533400"/>
                <a:gridCol w="914400"/>
                <a:gridCol w="533400"/>
              </a:tblGrid>
              <a:tr h="3654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11</a:t>
                      </a: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4050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80" marB="4568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39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12</a:t>
                      </a:r>
                    </a:p>
                  </a:txBody>
                  <a:tcPr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4054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80" marB="4568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0546" name="Group 322"/>
          <p:cNvGraphicFramePr>
            <a:graphicFrameLocks noGrp="1"/>
          </p:cNvGraphicFramePr>
          <p:nvPr/>
        </p:nvGraphicFramePr>
        <p:xfrm>
          <a:off x="6019800" y="1447800"/>
          <a:ext cx="2743200" cy="1832072"/>
        </p:xfrm>
        <a:graphic>
          <a:graphicData uri="http://schemas.openxmlformats.org/drawingml/2006/table">
            <a:tbl>
              <a:tblPr/>
              <a:tblGrid>
                <a:gridCol w="1295400"/>
                <a:gridCol w="838200"/>
                <a:gridCol w="609600"/>
              </a:tblGrid>
              <a:tr h="36563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int:rows</a:t>
                      </a:r>
                    </a:p>
                  </a:txBody>
                  <a:tcPr marT="45704" marB="45704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matrix</a:t>
                      </a:r>
                    </a:p>
                  </a:txBody>
                  <a:tcPr marT="45704" marB="4570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3000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04" marB="4570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j</a:t>
                      </a:r>
                    </a:p>
                  </a:txBody>
                  <a:tcPr marT="45704" marB="4570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sizes</a:t>
                      </a:r>
                    </a:p>
                  </a:txBody>
                  <a:tcPr marT="45704" marB="4570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4000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4" marB="4570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80572" name="Group 348"/>
          <p:cNvGraphicFramePr>
            <a:graphicFrameLocks noGrp="1"/>
          </p:cNvGraphicFramePr>
          <p:nvPr/>
        </p:nvGraphicFramePr>
        <p:xfrm>
          <a:off x="6629400" y="5454650"/>
          <a:ext cx="1981200" cy="1098710"/>
        </p:xfrm>
        <a:graphic>
          <a:graphicData uri="http://schemas.openxmlformats.org/drawingml/2006/table">
            <a:tbl>
              <a:tblPr/>
              <a:tblGrid>
                <a:gridCol w="533400"/>
                <a:gridCol w="914400"/>
                <a:gridCol w="5334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0629" name="Group 405"/>
          <p:cNvGraphicFramePr>
            <a:graphicFrameLocks noGrp="1"/>
          </p:cNvGraphicFramePr>
          <p:nvPr/>
        </p:nvGraphicFramePr>
        <p:xfrm>
          <a:off x="7162800" y="4387850"/>
          <a:ext cx="1981200" cy="1098710"/>
        </p:xfrm>
        <a:graphic>
          <a:graphicData uri="http://schemas.openxmlformats.org/drawingml/2006/table">
            <a:tbl>
              <a:tblPr/>
              <a:tblGrid>
                <a:gridCol w="533400"/>
                <a:gridCol w="914400"/>
                <a:gridCol w="5334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0610" name="Group 386"/>
          <p:cNvGraphicFramePr>
            <a:graphicFrameLocks noGrp="1"/>
          </p:cNvGraphicFramePr>
          <p:nvPr/>
        </p:nvGraphicFramePr>
        <p:xfrm>
          <a:off x="3886200" y="4114800"/>
          <a:ext cx="2057400" cy="1098710"/>
        </p:xfrm>
        <a:graphic>
          <a:graphicData uri="http://schemas.openxmlformats.org/drawingml/2006/table">
            <a:tbl>
              <a:tblPr/>
              <a:tblGrid>
                <a:gridCol w="609600"/>
                <a:gridCol w="914400"/>
                <a:gridCol w="5334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4050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5000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0630" name="Group 406"/>
          <p:cNvGraphicFramePr>
            <a:graphicFrameLocks noGrp="1"/>
          </p:cNvGraphicFramePr>
          <p:nvPr/>
        </p:nvGraphicFramePr>
        <p:xfrm>
          <a:off x="7162800" y="4387850"/>
          <a:ext cx="1981200" cy="1098710"/>
        </p:xfrm>
        <a:graphic>
          <a:graphicData uri="http://schemas.openxmlformats.org/drawingml/2006/table">
            <a:tbl>
              <a:tblPr/>
              <a:tblGrid>
                <a:gridCol w="533400"/>
                <a:gridCol w="914400"/>
                <a:gridCol w="5334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21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23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0783" name="Group 559"/>
          <p:cNvGraphicFramePr>
            <a:graphicFrameLocks noGrp="1"/>
          </p:cNvGraphicFramePr>
          <p:nvPr/>
        </p:nvGraphicFramePr>
        <p:xfrm>
          <a:off x="6019800" y="1447800"/>
          <a:ext cx="2743200" cy="1831974"/>
        </p:xfrm>
        <a:graphic>
          <a:graphicData uri="http://schemas.openxmlformats.org/drawingml/2006/table">
            <a:tbl>
              <a:tblPr/>
              <a:tblGrid>
                <a:gridCol w="1295400"/>
                <a:gridCol w="838200"/>
                <a:gridCol w="609600"/>
              </a:tblGrid>
              <a:tr h="3658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int:rows</a:t>
                      </a:r>
                    </a:p>
                  </a:txBody>
                  <a:tcPr marT="45728" marB="45728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matrix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j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sizes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4000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80675" name="Group 451"/>
          <p:cNvGraphicFramePr>
            <a:graphicFrameLocks noGrp="1"/>
          </p:cNvGraphicFramePr>
          <p:nvPr/>
        </p:nvGraphicFramePr>
        <p:xfrm>
          <a:off x="6629400" y="5454650"/>
          <a:ext cx="1981200" cy="1098710"/>
        </p:xfrm>
        <a:graphic>
          <a:graphicData uri="http://schemas.openxmlformats.org/drawingml/2006/table">
            <a:tbl>
              <a:tblPr/>
              <a:tblGrid>
                <a:gridCol w="533400"/>
                <a:gridCol w="914400"/>
                <a:gridCol w="5334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0721" name="Group 497"/>
          <p:cNvGraphicFramePr>
            <a:graphicFrameLocks noGrp="1"/>
          </p:cNvGraphicFramePr>
          <p:nvPr/>
        </p:nvGraphicFramePr>
        <p:xfrm>
          <a:off x="4267200" y="5257800"/>
          <a:ext cx="2057400" cy="1465382"/>
        </p:xfrm>
        <a:graphic>
          <a:graphicData uri="http://schemas.openxmlformats.org/drawingml/2006/table">
            <a:tbl>
              <a:tblPr/>
              <a:tblGrid>
                <a:gridCol w="609600"/>
                <a:gridCol w="914400"/>
                <a:gridCol w="533400"/>
              </a:tblGrid>
              <a:tr h="3656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0" marB="457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2224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0" marB="457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2228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0" marB="457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2232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0" marB="457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0741" name="Group 517"/>
          <p:cNvGraphicFramePr>
            <a:graphicFrameLocks noGrp="1"/>
          </p:cNvGraphicFramePr>
          <p:nvPr/>
        </p:nvGraphicFramePr>
        <p:xfrm>
          <a:off x="3886200" y="4102100"/>
          <a:ext cx="2057400" cy="1098710"/>
        </p:xfrm>
        <a:graphic>
          <a:graphicData uri="http://schemas.openxmlformats.org/drawingml/2006/table">
            <a:tbl>
              <a:tblPr/>
              <a:tblGrid>
                <a:gridCol w="609600"/>
                <a:gridCol w="914400"/>
                <a:gridCol w="533400"/>
              </a:tblGrid>
              <a:tr h="36554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4050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5000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2200</a:t>
                      </a:r>
                    </a:p>
                  </a:txBody>
                  <a:tcPr marT="45694" marB="456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4" marB="4569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0760" name="Group 536"/>
          <p:cNvGraphicFramePr>
            <a:graphicFrameLocks noGrp="1"/>
          </p:cNvGraphicFramePr>
          <p:nvPr/>
        </p:nvGraphicFramePr>
        <p:xfrm>
          <a:off x="4267200" y="5257800"/>
          <a:ext cx="2057400" cy="1465382"/>
        </p:xfrm>
        <a:graphic>
          <a:graphicData uri="http://schemas.openxmlformats.org/drawingml/2006/table">
            <a:tbl>
              <a:tblPr/>
              <a:tblGrid>
                <a:gridCol w="609600"/>
                <a:gridCol w="914400"/>
                <a:gridCol w="533400"/>
              </a:tblGrid>
              <a:tr h="36560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31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0" marB="457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32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2224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0" marB="457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33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2228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0" marB="457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34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2232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0" marB="457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0784" name="Group 560"/>
          <p:cNvGraphicFramePr>
            <a:graphicFrameLocks noGrp="1"/>
          </p:cNvGraphicFramePr>
          <p:nvPr/>
        </p:nvGraphicFramePr>
        <p:xfrm>
          <a:off x="6019800" y="1447800"/>
          <a:ext cx="2743200" cy="1831974"/>
        </p:xfrm>
        <a:graphic>
          <a:graphicData uri="http://schemas.openxmlformats.org/drawingml/2006/table">
            <a:tbl>
              <a:tblPr/>
              <a:tblGrid>
                <a:gridCol w="1295400"/>
                <a:gridCol w="838200"/>
                <a:gridCol w="609600"/>
              </a:tblGrid>
              <a:tr h="3658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int:rows</a:t>
                      </a:r>
                    </a:p>
                  </a:txBody>
                  <a:tcPr marT="45728" marB="45728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matrix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j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sizes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4000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80810" name="Text Box 586"/>
          <p:cNvSpPr txBox="1">
            <a:spLocks noChangeArrowheads="1"/>
          </p:cNvSpPr>
          <p:nvPr/>
        </p:nvSpPr>
        <p:spPr bwMode="auto">
          <a:xfrm>
            <a:off x="990600" y="6049963"/>
            <a:ext cx="1219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1200">
                <a:latin typeface="Verdana" pitchFamily="34" charset="0"/>
              </a:rPr>
              <a:t>i=0</a:t>
            </a:r>
          </a:p>
        </p:txBody>
      </p:sp>
      <p:sp>
        <p:nvSpPr>
          <p:cNvPr id="180811" name="Text Box 587"/>
          <p:cNvSpPr txBox="1">
            <a:spLocks noChangeArrowheads="1"/>
          </p:cNvSpPr>
          <p:nvPr/>
        </p:nvSpPr>
        <p:spPr bwMode="auto">
          <a:xfrm>
            <a:off x="1447800" y="6049963"/>
            <a:ext cx="1219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1200">
                <a:latin typeface="Verdana" pitchFamily="34" charset="0"/>
              </a:rPr>
              <a:t>i &lt; rows</a:t>
            </a:r>
          </a:p>
        </p:txBody>
      </p:sp>
      <p:sp>
        <p:nvSpPr>
          <p:cNvPr id="180812" name="Text Box 588"/>
          <p:cNvSpPr txBox="1">
            <a:spLocks noChangeArrowheads="1"/>
          </p:cNvSpPr>
          <p:nvPr/>
        </p:nvSpPr>
        <p:spPr bwMode="auto">
          <a:xfrm>
            <a:off x="2362200" y="6049963"/>
            <a:ext cx="1219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he-IL" sz="1200">
                <a:latin typeface="Verdana" pitchFamily="34" charset="0"/>
              </a:rPr>
              <a:t>i++</a:t>
            </a:r>
          </a:p>
        </p:txBody>
      </p:sp>
      <p:graphicFrame>
        <p:nvGraphicFramePr>
          <p:cNvPr id="180813" name="Group 589"/>
          <p:cNvGraphicFramePr>
            <a:graphicFrameLocks noGrp="1"/>
          </p:cNvGraphicFramePr>
          <p:nvPr/>
        </p:nvGraphicFramePr>
        <p:xfrm>
          <a:off x="6019800" y="1447800"/>
          <a:ext cx="2743200" cy="1831974"/>
        </p:xfrm>
        <a:graphic>
          <a:graphicData uri="http://schemas.openxmlformats.org/drawingml/2006/table">
            <a:tbl>
              <a:tblPr/>
              <a:tblGrid>
                <a:gridCol w="1295400"/>
                <a:gridCol w="838200"/>
                <a:gridCol w="609600"/>
              </a:tblGrid>
              <a:tr h="3658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int:rows</a:t>
                      </a:r>
                    </a:p>
                  </a:txBody>
                  <a:tcPr marT="45728" marB="45728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matrix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j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sizes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4000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80840" name="Group 616"/>
          <p:cNvGraphicFramePr>
            <a:graphicFrameLocks noGrp="1"/>
          </p:cNvGraphicFramePr>
          <p:nvPr/>
        </p:nvGraphicFramePr>
        <p:xfrm>
          <a:off x="6019800" y="1447800"/>
          <a:ext cx="2743200" cy="1831974"/>
        </p:xfrm>
        <a:graphic>
          <a:graphicData uri="http://schemas.openxmlformats.org/drawingml/2006/table">
            <a:tbl>
              <a:tblPr/>
              <a:tblGrid>
                <a:gridCol w="1295400"/>
                <a:gridCol w="838200"/>
                <a:gridCol w="609600"/>
              </a:tblGrid>
              <a:tr h="3658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int:rows</a:t>
                      </a:r>
                    </a:p>
                  </a:txBody>
                  <a:tcPr marT="45728" marB="45728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matrix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j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sizes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4000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80866" name="Group 642"/>
          <p:cNvGraphicFramePr>
            <a:graphicFrameLocks noGrp="1"/>
          </p:cNvGraphicFramePr>
          <p:nvPr/>
        </p:nvGraphicFramePr>
        <p:xfrm>
          <a:off x="6019800" y="1447800"/>
          <a:ext cx="2743200" cy="1831974"/>
        </p:xfrm>
        <a:graphic>
          <a:graphicData uri="http://schemas.openxmlformats.org/drawingml/2006/table">
            <a:tbl>
              <a:tblPr/>
              <a:tblGrid>
                <a:gridCol w="1295400"/>
                <a:gridCol w="838200"/>
                <a:gridCol w="609600"/>
              </a:tblGrid>
              <a:tr h="3658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int:rows</a:t>
                      </a:r>
                    </a:p>
                  </a:txBody>
                  <a:tcPr marT="45728" marB="45728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matrix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j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sizes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4000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80892" name="Group 668"/>
          <p:cNvGraphicFramePr>
            <a:graphicFrameLocks noGrp="1"/>
          </p:cNvGraphicFramePr>
          <p:nvPr/>
        </p:nvGraphicFramePr>
        <p:xfrm>
          <a:off x="6019800" y="1447800"/>
          <a:ext cx="2743200" cy="1831974"/>
        </p:xfrm>
        <a:graphic>
          <a:graphicData uri="http://schemas.openxmlformats.org/drawingml/2006/table">
            <a:tbl>
              <a:tblPr/>
              <a:tblGrid>
                <a:gridCol w="1295400"/>
                <a:gridCol w="838200"/>
                <a:gridCol w="609600"/>
              </a:tblGrid>
              <a:tr h="3658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int:rows</a:t>
                      </a:r>
                    </a:p>
                  </a:txBody>
                  <a:tcPr marT="45728" marB="45728" anchor="b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int**: matrix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j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sizes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4000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3094" name="Slide Number Placeholder 3"/>
          <p:cNvSpPr txBox="1">
            <a:spLocks noGrp="1"/>
          </p:cNvSpPr>
          <p:nvPr/>
        </p:nvSpPr>
        <p:spPr bwMode="auto">
          <a:xfrm>
            <a:off x="228600" y="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rtl="1" eaLnBrk="1" hangingPunct="1"/>
            <a:fld id="{EE4E6A66-8B8B-472C-8F81-935411D61D57}" type="slidenum">
              <a:rPr lang="he-IL" altLang="he-IL" sz="1000">
                <a:latin typeface="Verdana" pitchFamily="34" charset="0"/>
              </a:rPr>
              <a:pPr rtl="1" eaLnBrk="1" hangingPunct="1"/>
              <a:t>21</a:t>
            </a:fld>
            <a:endParaRPr lang="en-US" altLang="he-IL" sz="1000" dirty="0">
              <a:latin typeface="Verdana" pitchFamily="34" charset="0"/>
            </a:endParaRPr>
          </a:p>
          <a:p>
            <a:pPr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הגדלת מערך</a:t>
            </a:r>
            <a:endParaRPr lang="en-US" altLang="he-IL" smtClean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altLang="he-IL" dirty="0" smtClean="0"/>
              <a:t>בדוגמא הבאה אנו קולטים מהמשתמש מספרים לתוך מערך, לא ידוע כמה איברים המשתמש יכניס.</a:t>
            </a:r>
          </a:p>
          <a:p>
            <a:r>
              <a:rPr lang="he-IL" altLang="he-IL" dirty="0" smtClean="0"/>
              <a:t>כל פעם כאשר כבר אין מקום במערך צריך להגדיל אותו פי 2.</a:t>
            </a:r>
          </a:p>
          <a:p>
            <a:r>
              <a:rPr lang="he-IL" altLang="he-IL" dirty="0" smtClean="0"/>
              <a:t>האלגוריתם:</a:t>
            </a:r>
          </a:p>
          <a:p>
            <a:pPr lvl="1"/>
            <a:r>
              <a:rPr lang="he-IL" altLang="he-IL" dirty="0" smtClean="0"/>
              <a:t>קרא את האיבר החדש, אם 1- צא.</a:t>
            </a:r>
          </a:p>
          <a:p>
            <a:pPr lvl="1"/>
            <a:r>
              <a:rPr lang="he-IL" altLang="he-IL" dirty="0" smtClean="0"/>
              <a:t>אם אין מקום במערך, הקצה מערך גדול פי 2.</a:t>
            </a:r>
          </a:p>
          <a:p>
            <a:pPr lvl="2"/>
            <a:r>
              <a:rPr lang="he-IL" altLang="he-IL" dirty="0" smtClean="0"/>
              <a:t>העתק למערך החדש את האיברים מהמערך הישן.</a:t>
            </a:r>
          </a:p>
          <a:p>
            <a:pPr lvl="2"/>
            <a:r>
              <a:rPr lang="he-IL" altLang="he-IL" dirty="0" smtClean="0"/>
              <a:t>שחרר את המערך המקורי.</a:t>
            </a:r>
          </a:p>
          <a:p>
            <a:pPr lvl="2"/>
            <a:r>
              <a:rPr lang="he-IL" altLang="he-IL" dirty="0" smtClean="0"/>
              <a:t>שנה את מצביע המערך להצביע למערך החדש.</a:t>
            </a:r>
          </a:p>
          <a:p>
            <a:pPr lvl="1"/>
            <a:endParaRPr lang="en-US" altLang="he-IL" dirty="0" smtClean="0"/>
          </a:p>
        </p:txBody>
      </p:sp>
      <p:sp>
        <p:nvSpPr>
          <p:cNvPr id="23556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B0339B73-F56C-45FE-9A0C-056DD761DDAD}" type="slidenum">
              <a:rPr lang="he-IL" altLang="he-IL" sz="1000">
                <a:latin typeface="Verdana" pitchFamily="34" charset="0"/>
              </a:rPr>
              <a:pPr algn="r" rtl="1" eaLnBrk="1" hangingPunct="1"/>
              <a:t>22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הגדלת מערך - הפלט</a:t>
            </a:r>
            <a:endParaRPr lang="en-US" altLang="he-IL" smtClean="0"/>
          </a:p>
        </p:txBody>
      </p:sp>
      <p:pic>
        <p:nvPicPr>
          <p:cNvPr id="24579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00200" y="1857375"/>
            <a:ext cx="6324600" cy="4010025"/>
          </a:xfrm>
        </p:spPr>
      </p:pic>
      <p:sp>
        <p:nvSpPr>
          <p:cNvPr id="24580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7771BF20-80BB-4FDA-B603-787DABB9D67D}" type="slidenum">
              <a:rPr lang="he-IL" altLang="he-IL" sz="1000">
                <a:latin typeface="Verdana" pitchFamily="34" charset="0"/>
              </a:rPr>
              <a:pPr algn="r" rtl="1" eaLnBrk="1" hangingPunct="1"/>
              <a:t>23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52400"/>
            <a:ext cx="8229600" cy="1139825"/>
          </a:xfrm>
        </p:spPr>
        <p:txBody>
          <a:bodyPr/>
          <a:lstStyle/>
          <a:p>
            <a:pPr algn="r"/>
            <a:r>
              <a:rPr lang="he-IL" altLang="he-IL" sz="4000" smtClean="0"/>
              <a:t>הגדלת מערך – הקוד</a:t>
            </a:r>
            <a:br>
              <a:rPr lang="he-IL" altLang="he-IL" sz="4000" smtClean="0"/>
            </a:br>
            <a:endParaRPr lang="en-US" altLang="he-IL" sz="4000" smtClean="0"/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-34925"/>
            <a:ext cx="8229600" cy="4530725"/>
          </a:xfrm>
        </p:spPr>
        <p:txBody>
          <a:bodyPr/>
          <a:lstStyle/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400" noProof="1" smtClean="0"/>
              <a:t>void main()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400" noProof="1" smtClean="0"/>
              <a:t>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400" noProof="1" smtClean="0"/>
              <a:t>	int num, i;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400" noProof="1" smtClean="0"/>
              <a:t>	int physSize = 2, logicSize = 0;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400" noProof="1" smtClean="0"/>
              <a:t>	int* arr = (int*)</a:t>
            </a:r>
            <a:r>
              <a:rPr lang="en-US" altLang="he-IL" sz="1400" smtClean="0"/>
              <a:t>c</a:t>
            </a:r>
            <a:r>
              <a:rPr lang="en-US" altLang="he-IL" sz="1400" noProof="1" smtClean="0"/>
              <a:t>alloc(physSize</a:t>
            </a:r>
            <a:r>
              <a:rPr lang="en-US" altLang="he-IL" sz="1400" smtClean="0"/>
              <a:t>, </a:t>
            </a:r>
            <a:r>
              <a:rPr lang="en-US" altLang="he-IL" sz="1400" noProof="1" smtClean="0"/>
              <a:t>sizeof(int));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400" noProof="1" smtClean="0"/>
              <a:t>	int* tmp;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400" noProof="1" smtClean="0"/>
              <a:t>	printf("Please enter numbers, -1 to stop:\n");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400" noProof="1" smtClean="0"/>
              <a:t>	while (1)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400" noProof="1" smtClean="0"/>
              <a:t>	{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400" noProof="1" smtClean="0"/>
              <a:t>	</a:t>
            </a:r>
            <a:r>
              <a:rPr lang="en-US" altLang="he-IL" sz="1400" smtClean="0"/>
              <a:t>     </a:t>
            </a:r>
            <a:r>
              <a:rPr lang="en-US" altLang="he-IL" sz="1400" noProof="1" smtClean="0"/>
              <a:t>scanf("%d", &amp;num);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400" noProof="1" smtClean="0"/>
              <a:t>	</a:t>
            </a:r>
            <a:r>
              <a:rPr lang="en-US" altLang="he-IL" sz="1400" smtClean="0"/>
              <a:t>     </a:t>
            </a:r>
            <a:r>
              <a:rPr lang="en-US" altLang="he-IL" sz="1400" noProof="1" smtClean="0"/>
              <a:t>if (num == -1)</a:t>
            </a:r>
            <a:endParaRPr lang="en-US" altLang="he-IL" sz="1400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400" noProof="1" smtClean="0"/>
              <a:t>		break;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400" noProof="1" smtClean="0"/>
              <a:t>	</a:t>
            </a:r>
            <a:r>
              <a:rPr lang="en-US" altLang="he-IL" sz="1400" smtClean="0"/>
              <a:t>     </a:t>
            </a:r>
            <a:r>
              <a:rPr lang="en-US" altLang="he-IL" sz="1400" noProof="1" smtClean="0"/>
              <a:t>if (physSize == logicSize)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400" noProof="1" smtClean="0"/>
              <a:t>	</a:t>
            </a:r>
            <a:r>
              <a:rPr lang="en-US" altLang="he-IL" sz="1400" smtClean="0"/>
              <a:t>     {</a:t>
            </a:r>
            <a:endParaRPr lang="en-US" altLang="he-IL" sz="14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400" noProof="1" smtClean="0"/>
              <a:t>		physSize *= 2;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400" noProof="1" smtClean="0"/>
              <a:t>		tmp = (int*)</a:t>
            </a:r>
            <a:r>
              <a:rPr lang="en-US" altLang="he-IL" sz="1400" smtClean="0"/>
              <a:t>c</a:t>
            </a:r>
            <a:r>
              <a:rPr lang="en-US" altLang="he-IL" sz="1400" noProof="1" smtClean="0"/>
              <a:t>alloc(physSize</a:t>
            </a:r>
            <a:r>
              <a:rPr lang="en-US" altLang="he-IL" sz="1400" smtClean="0"/>
              <a:t>, </a:t>
            </a:r>
            <a:r>
              <a:rPr lang="en-US" altLang="he-IL" sz="1400" noProof="1" smtClean="0"/>
              <a:t>sizeof(int));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400" noProof="1" smtClean="0"/>
              <a:t>		for (i=0 ; i &lt; logicSize ; i++)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400" noProof="1" smtClean="0"/>
              <a:t>		</a:t>
            </a:r>
            <a:r>
              <a:rPr lang="en-US" altLang="he-IL" sz="1400" smtClean="0"/>
              <a:t>     </a:t>
            </a:r>
            <a:r>
              <a:rPr lang="en-US" altLang="he-IL" sz="1400" noProof="1" smtClean="0"/>
              <a:t>tmp[i] = arr[i];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400" noProof="1" smtClean="0"/>
              <a:t>		free(arr);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400" noProof="1" smtClean="0"/>
              <a:t>		arr = tmp;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400" noProof="1" smtClean="0"/>
              <a:t>		printf("Doubled the array size to %d\n", physSize);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400" noProof="1" smtClean="0"/>
              <a:t>	</a:t>
            </a:r>
            <a:r>
              <a:rPr lang="en-US" altLang="he-IL" sz="1400" smtClean="0"/>
              <a:t>     </a:t>
            </a:r>
            <a:r>
              <a:rPr lang="en-US" altLang="he-IL" sz="1400" noProof="1" smtClean="0"/>
              <a:t>}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400" noProof="1" smtClean="0"/>
              <a:t>	</a:t>
            </a:r>
            <a:r>
              <a:rPr lang="en-US" altLang="he-IL" sz="1400" smtClean="0"/>
              <a:t>     </a:t>
            </a:r>
            <a:r>
              <a:rPr lang="en-US" altLang="he-IL" sz="1400" noProof="1" smtClean="0"/>
              <a:t>printf("Read number is %d\n", num);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400" noProof="1" smtClean="0"/>
              <a:t>	</a:t>
            </a:r>
            <a:r>
              <a:rPr lang="en-US" altLang="he-IL" sz="1400" smtClean="0"/>
              <a:t>     </a:t>
            </a:r>
            <a:r>
              <a:rPr lang="en-US" altLang="he-IL" sz="1400" noProof="1" smtClean="0"/>
              <a:t>arr[logicSize] = num;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400" noProof="1" smtClean="0"/>
              <a:t>	</a:t>
            </a:r>
            <a:r>
              <a:rPr lang="en-US" altLang="he-IL" sz="1400" smtClean="0"/>
              <a:t>     </a:t>
            </a:r>
            <a:r>
              <a:rPr lang="en-US" altLang="he-IL" sz="1400" noProof="1" smtClean="0"/>
              <a:t>logicSize++;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400" noProof="1" smtClean="0"/>
              <a:t>	}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400" noProof="1" smtClean="0"/>
              <a:t>	printf("The array has %d elements (physSize=%d):\n", </a:t>
            </a:r>
            <a:endParaRPr lang="en-US" altLang="he-IL" sz="1400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400" smtClean="0"/>
              <a:t>				</a:t>
            </a:r>
            <a:r>
              <a:rPr lang="en-US" altLang="he-IL" sz="1400" noProof="1" smtClean="0"/>
              <a:t>logicSize, physSize);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400" noProof="1" smtClean="0"/>
              <a:t>	for (i=0 ; i &lt; logicSize ; i++)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400" noProof="1" smtClean="0"/>
              <a:t>		printf("%d ", arr[i]);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400" noProof="1" smtClean="0"/>
              <a:t>	printf("\n");</a:t>
            </a:r>
            <a:endParaRPr lang="en-US" altLang="he-IL" sz="1400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400" smtClean="0"/>
              <a:t>	free(arr);</a:t>
            </a:r>
            <a:endParaRPr lang="en-US" altLang="he-IL" sz="14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r>
              <a:rPr lang="en-US" altLang="he-IL" sz="1400" noProof="1" smtClean="0"/>
              <a:t>}</a:t>
            </a:r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400" noProof="1" smtClean="0"/>
          </a:p>
          <a:p>
            <a:pPr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400" smtClean="0"/>
          </a:p>
        </p:txBody>
      </p:sp>
      <p:sp>
        <p:nvSpPr>
          <p:cNvPr id="28681" name="Text Box 47"/>
          <p:cNvSpPr txBox="1">
            <a:spLocks noChangeArrowheads="1"/>
          </p:cNvSpPr>
          <p:nvPr/>
        </p:nvSpPr>
        <p:spPr bwMode="auto">
          <a:xfrm>
            <a:off x="6248400" y="6172200"/>
            <a:ext cx="2971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>
              <a:spcBef>
                <a:spcPct val="50000"/>
              </a:spcBef>
            </a:pPr>
            <a:r>
              <a:rPr lang="he-IL" altLang="he-IL"/>
              <a:t>הזיכרון של ה- </a:t>
            </a:r>
            <a:r>
              <a:rPr lang="en-US" altLang="he-IL"/>
              <a:t>main</a:t>
            </a:r>
          </a:p>
        </p:txBody>
      </p:sp>
      <p:sp>
        <p:nvSpPr>
          <p:cNvPr id="58440" name="Oval 72"/>
          <p:cNvSpPr>
            <a:spLocks noChangeArrowheads="1"/>
          </p:cNvSpPr>
          <p:nvPr/>
        </p:nvSpPr>
        <p:spPr bwMode="auto">
          <a:xfrm>
            <a:off x="4953000" y="762000"/>
            <a:ext cx="4191000" cy="2819400"/>
          </a:xfrm>
          <a:prstGeom prst="ellipse">
            <a:avLst/>
          </a:prstGeom>
          <a:solidFill>
            <a:srgbClr val="00CC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he-IL" altLang="he-IL"/>
          </a:p>
        </p:txBody>
      </p:sp>
      <p:sp>
        <p:nvSpPr>
          <p:cNvPr id="3" name="Text Box 9"/>
          <p:cNvSpPr txBox="1">
            <a:spLocks noChangeArrowheads="1"/>
          </p:cNvSpPr>
          <p:nvPr/>
        </p:nvSpPr>
        <p:spPr bwMode="auto">
          <a:xfrm>
            <a:off x="6248400" y="3581400"/>
            <a:ext cx="1981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>
              <a:spcBef>
                <a:spcPct val="50000"/>
              </a:spcBef>
            </a:pPr>
            <a:r>
              <a:rPr lang="he-IL" altLang="he-IL"/>
              <a:t>זיכרון ה- </a:t>
            </a:r>
            <a:r>
              <a:rPr lang="en-US" altLang="he-IL"/>
              <a:t>heap</a:t>
            </a:r>
          </a:p>
        </p:txBody>
      </p:sp>
      <p:graphicFrame>
        <p:nvGraphicFramePr>
          <p:cNvPr id="197707" name="Group 75"/>
          <p:cNvGraphicFramePr>
            <a:graphicFrameLocks noGrp="1"/>
          </p:cNvGraphicFramePr>
          <p:nvPr/>
        </p:nvGraphicFramePr>
        <p:xfrm>
          <a:off x="6553200" y="1233488"/>
          <a:ext cx="2057400" cy="701785"/>
        </p:xfrm>
        <a:graphic>
          <a:graphicData uri="http://schemas.openxmlformats.org/drawingml/2006/table">
            <a:tbl>
              <a:tblPr/>
              <a:tblGrid>
                <a:gridCol w="914400"/>
                <a:gridCol w="609600"/>
                <a:gridCol w="533400"/>
              </a:tblGrid>
              <a:tr h="33512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9" marB="4569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4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int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9" marB="4569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7776" name="Group 144"/>
          <p:cNvGraphicFramePr>
            <a:graphicFrameLocks noGrp="1"/>
          </p:cNvGraphicFramePr>
          <p:nvPr/>
        </p:nvGraphicFramePr>
        <p:xfrm>
          <a:off x="6019800" y="3975100"/>
          <a:ext cx="2819400" cy="2198690"/>
        </p:xfrm>
        <a:graphic>
          <a:graphicData uri="http://schemas.openxmlformats.org/drawingml/2006/table">
            <a:tbl>
              <a:tblPr/>
              <a:tblGrid>
                <a:gridCol w="1447800"/>
                <a:gridCol w="838200"/>
                <a:gridCol w="533400"/>
              </a:tblGrid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num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physSize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logicSize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tmp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97774" name="Group 142"/>
          <p:cNvGraphicFramePr>
            <a:graphicFrameLocks noGrp="1"/>
          </p:cNvGraphicFramePr>
          <p:nvPr/>
        </p:nvGraphicFramePr>
        <p:xfrm>
          <a:off x="6019800" y="3975100"/>
          <a:ext cx="2819400" cy="2198690"/>
        </p:xfrm>
        <a:graphic>
          <a:graphicData uri="http://schemas.openxmlformats.org/drawingml/2006/table">
            <a:tbl>
              <a:tblPr/>
              <a:tblGrid>
                <a:gridCol w="1447800"/>
                <a:gridCol w="838200"/>
                <a:gridCol w="533400"/>
              </a:tblGrid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num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physSize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logicSize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tmp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97771" name="Group 139"/>
          <p:cNvGraphicFramePr>
            <a:graphicFrameLocks noGrp="1"/>
          </p:cNvGraphicFramePr>
          <p:nvPr/>
        </p:nvGraphicFramePr>
        <p:xfrm>
          <a:off x="6019800" y="3962400"/>
          <a:ext cx="2895600" cy="2198690"/>
        </p:xfrm>
        <a:graphic>
          <a:graphicData uri="http://schemas.openxmlformats.org/drawingml/2006/table">
            <a:tbl>
              <a:tblPr/>
              <a:tblGrid>
                <a:gridCol w="1447800"/>
                <a:gridCol w="850900"/>
                <a:gridCol w="596900"/>
              </a:tblGrid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num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physSize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logicSize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2200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tmp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97777" name="Group 145"/>
          <p:cNvGraphicFramePr>
            <a:graphicFrameLocks noGrp="1"/>
          </p:cNvGraphicFramePr>
          <p:nvPr/>
        </p:nvGraphicFramePr>
        <p:xfrm>
          <a:off x="6019800" y="3962400"/>
          <a:ext cx="2895600" cy="2198690"/>
        </p:xfrm>
        <a:graphic>
          <a:graphicData uri="http://schemas.openxmlformats.org/drawingml/2006/table">
            <a:tbl>
              <a:tblPr/>
              <a:tblGrid>
                <a:gridCol w="1447800"/>
                <a:gridCol w="850900"/>
                <a:gridCol w="596900"/>
              </a:tblGrid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num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physSize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logicSize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2200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tmp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97807" name="Group 175"/>
          <p:cNvGraphicFramePr>
            <a:graphicFrameLocks noGrp="1"/>
          </p:cNvGraphicFramePr>
          <p:nvPr/>
        </p:nvGraphicFramePr>
        <p:xfrm>
          <a:off x="6553200" y="1233488"/>
          <a:ext cx="2057400" cy="701785"/>
        </p:xfrm>
        <a:graphic>
          <a:graphicData uri="http://schemas.openxmlformats.org/drawingml/2006/table">
            <a:tbl>
              <a:tblPr/>
              <a:tblGrid>
                <a:gridCol w="914400"/>
                <a:gridCol w="609600"/>
                <a:gridCol w="533400"/>
              </a:tblGrid>
              <a:tr h="33512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9" marB="4569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4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int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9" marB="4569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7822" name="Group 190"/>
          <p:cNvGraphicFramePr>
            <a:graphicFrameLocks noGrp="1"/>
          </p:cNvGraphicFramePr>
          <p:nvPr/>
        </p:nvGraphicFramePr>
        <p:xfrm>
          <a:off x="6019800" y="3962400"/>
          <a:ext cx="2895600" cy="2198690"/>
        </p:xfrm>
        <a:graphic>
          <a:graphicData uri="http://schemas.openxmlformats.org/drawingml/2006/table">
            <a:tbl>
              <a:tblPr/>
              <a:tblGrid>
                <a:gridCol w="1447800"/>
                <a:gridCol w="850900"/>
                <a:gridCol w="596900"/>
              </a:tblGrid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num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physSize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logicSize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2200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tmp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97852" name="Group 220"/>
          <p:cNvGraphicFramePr>
            <a:graphicFrameLocks noGrp="1"/>
          </p:cNvGraphicFramePr>
          <p:nvPr/>
        </p:nvGraphicFramePr>
        <p:xfrm>
          <a:off x="6019800" y="3962400"/>
          <a:ext cx="2895600" cy="2198690"/>
        </p:xfrm>
        <a:graphic>
          <a:graphicData uri="http://schemas.openxmlformats.org/drawingml/2006/table">
            <a:tbl>
              <a:tblPr/>
              <a:tblGrid>
                <a:gridCol w="1447800"/>
                <a:gridCol w="850900"/>
                <a:gridCol w="596900"/>
              </a:tblGrid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num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physSize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logicSize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2200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tmp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97882" name="Group 250"/>
          <p:cNvGraphicFramePr>
            <a:graphicFrameLocks noGrp="1"/>
          </p:cNvGraphicFramePr>
          <p:nvPr/>
        </p:nvGraphicFramePr>
        <p:xfrm>
          <a:off x="6553200" y="1219200"/>
          <a:ext cx="2057400" cy="701785"/>
        </p:xfrm>
        <a:graphic>
          <a:graphicData uri="http://schemas.openxmlformats.org/drawingml/2006/table">
            <a:tbl>
              <a:tblPr/>
              <a:tblGrid>
                <a:gridCol w="914400"/>
                <a:gridCol w="609600"/>
                <a:gridCol w="533400"/>
              </a:tblGrid>
              <a:tr h="33512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9" marB="4569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4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int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9" marB="4569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7897" name="Group 265"/>
          <p:cNvGraphicFramePr>
            <a:graphicFrameLocks noGrp="1"/>
          </p:cNvGraphicFramePr>
          <p:nvPr/>
        </p:nvGraphicFramePr>
        <p:xfrm>
          <a:off x="6019800" y="3976688"/>
          <a:ext cx="2895600" cy="2198688"/>
        </p:xfrm>
        <a:graphic>
          <a:graphicData uri="http://schemas.openxmlformats.org/drawingml/2006/table">
            <a:tbl>
              <a:tblPr/>
              <a:tblGrid>
                <a:gridCol w="1447800"/>
                <a:gridCol w="850900"/>
                <a:gridCol w="596900"/>
              </a:tblGrid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num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physSize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logicSize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2200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tmp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97927" name="Group 295"/>
          <p:cNvGraphicFramePr>
            <a:graphicFrameLocks noGrp="1"/>
          </p:cNvGraphicFramePr>
          <p:nvPr/>
        </p:nvGraphicFramePr>
        <p:xfrm>
          <a:off x="6019800" y="3976688"/>
          <a:ext cx="2895600" cy="2198688"/>
        </p:xfrm>
        <a:graphic>
          <a:graphicData uri="http://schemas.openxmlformats.org/drawingml/2006/table">
            <a:tbl>
              <a:tblPr/>
              <a:tblGrid>
                <a:gridCol w="1447800"/>
                <a:gridCol w="850900"/>
                <a:gridCol w="596900"/>
              </a:tblGrid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num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physSize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logicSize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2200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tmp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97957" name="Group 325"/>
          <p:cNvGraphicFramePr>
            <a:graphicFrameLocks noGrp="1"/>
          </p:cNvGraphicFramePr>
          <p:nvPr/>
        </p:nvGraphicFramePr>
        <p:xfrm>
          <a:off x="6019800" y="3976688"/>
          <a:ext cx="2895600" cy="2198688"/>
        </p:xfrm>
        <a:graphic>
          <a:graphicData uri="http://schemas.openxmlformats.org/drawingml/2006/table">
            <a:tbl>
              <a:tblPr/>
              <a:tblGrid>
                <a:gridCol w="1447800"/>
                <a:gridCol w="850900"/>
                <a:gridCol w="596900"/>
              </a:tblGrid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num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physSize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logicSize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2200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tmp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98030" name="Group 398"/>
          <p:cNvGraphicFramePr>
            <a:graphicFrameLocks noGrp="1"/>
          </p:cNvGraphicFramePr>
          <p:nvPr/>
        </p:nvGraphicFramePr>
        <p:xfrm>
          <a:off x="5562600" y="1981200"/>
          <a:ext cx="2057400" cy="1435156"/>
        </p:xfrm>
        <a:graphic>
          <a:graphicData uri="http://schemas.openxmlformats.org/drawingml/2006/table">
            <a:tbl>
              <a:tblPr/>
              <a:tblGrid>
                <a:gridCol w="914400"/>
                <a:gridCol w="609600"/>
                <a:gridCol w="533400"/>
              </a:tblGrid>
              <a:tr h="3352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0" marB="4571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3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int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0" marB="4571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3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int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0" marB="4571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3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int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0" marB="4571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8031" name="Group 399"/>
          <p:cNvGraphicFramePr>
            <a:graphicFrameLocks noGrp="1"/>
          </p:cNvGraphicFramePr>
          <p:nvPr/>
        </p:nvGraphicFramePr>
        <p:xfrm>
          <a:off x="6019800" y="3962400"/>
          <a:ext cx="2895600" cy="2198690"/>
        </p:xfrm>
        <a:graphic>
          <a:graphicData uri="http://schemas.openxmlformats.org/drawingml/2006/table">
            <a:tbl>
              <a:tblPr/>
              <a:tblGrid>
                <a:gridCol w="1447800"/>
                <a:gridCol w="850900"/>
                <a:gridCol w="596900"/>
              </a:tblGrid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num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physSize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logicSize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2200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tmp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4300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98061" name="Group 429"/>
          <p:cNvGraphicFramePr>
            <a:graphicFrameLocks noGrp="1"/>
          </p:cNvGraphicFramePr>
          <p:nvPr/>
        </p:nvGraphicFramePr>
        <p:xfrm>
          <a:off x="5562600" y="1981200"/>
          <a:ext cx="2057400" cy="1435156"/>
        </p:xfrm>
        <a:graphic>
          <a:graphicData uri="http://schemas.openxmlformats.org/drawingml/2006/table">
            <a:tbl>
              <a:tblPr/>
              <a:tblGrid>
                <a:gridCol w="914400"/>
                <a:gridCol w="609600"/>
                <a:gridCol w="533400"/>
              </a:tblGrid>
              <a:tr h="3352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0" marB="4571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3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int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0" marB="4571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3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int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0" marB="4571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3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int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0" marB="4571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8084" name="Group 452"/>
          <p:cNvGraphicFramePr>
            <a:graphicFrameLocks noGrp="1"/>
          </p:cNvGraphicFramePr>
          <p:nvPr/>
        </p:nvGraphicFramePr>
        <p:xfrm>
          <a:off x="6019800" y="3962400"/>
          <a:ext cx="2895600" cy="2198690"/>
        </p:xfrm>
        <a:graphic>
          <a:graphicData uri="http://schemas.openxmlformats.org/drawingml/2006/table">
            <a:tbl>
              <a:tblPr/>
              <a:tblGrid>
                <a:gridCol w="1447800"/>
                <a:gridCol w="850900"/>
                <a:gridCol w="596900"/>
              </a:tblGrid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num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physSize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logicSize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4300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tmp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4300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98114" name="Group 482"/>
          <p:cNvGraphicFramePr>
            <a:graphicFrameLocks noGrp="1"/>
          </p:cNvGraphicFramePr>
          <p:nvPr/>
        </p:nvGraphicFramePr>
        <p:xfrm>
          <a:off x="5562600" y="1981200"/>
          <a:ext cx="2057400" cy="1435156"/>
        </p:xfrm>
        <a:graphic>
          <a:graphicData uri="http://schemas.openxmlformats.org/drawingml/2006/table">
            <a:tbl>
              <a:tblPr/>
              <a:tblGrid>
                <a:gridCol w="914400"/>
                <a:gridCol w="609600"/>
                <a:gridCol w="533400"/>
              </a:tblGrid>
              <a:tr h="3352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0" marB="4571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3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int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0" marB="4571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3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int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0" marB="4571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3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int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0" marB="4571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8137" name="Group 505"/>
          <p:cNvGraphicFramePr>
            <a:graphicFrameLocks noGrp="1"/>
          </p:cNvGraphicFramePr>
          <p:nvPr/>
        </p:nvGraphicFramePr>
        <p:xfrm>
          <a:off x="6019800" y="3962400"/>
          <a:ext cx="2895600" cy="2198690"/>
        </p:xfrm>
        <a:graphic>
          <a:graphicData uri="http://schemas.openxmlformats.org/drawingml/2006/table">
            <a:tbl>
              <a:tblPr/>
              <a:tblGrid>
                <a:gridCol w="1447800"/>
                <a:gridCol w="850900"/>
                <a:gridCol w="596900"/>
              </a:tblGrid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num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physSize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logicSize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4300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tmp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4300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98167" name="Group 535"/>
          <p:cNvGraphicFramePr>
            <a:graphicFrameLocks noGrp="1"/>
          </p:cNvGraphicFramePr>
          <p:nvPr/>
        </p:nvGraphicFramePr>
        <p:xfrm>
          <a:off x="6019800" y="3962400"/>
          <a:ext cx="2895600" cy="2198690"/>
        </p:xfrm>
        <a:graphic>
          <a:graphicData uri="http://schemas.openxmlformats.org/drawingml/2006/table">
            <a:tbl>
              <a:tblPr/>
              <a:tblGrid>
                <a:gridCol w="1447800"/>
                <a:gridCol w="850900"/>
                <a:gridCol w="596900"/>
              </a:tblGrid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num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-1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physSize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logicSize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4300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tmp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4300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1020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7" marB="4572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6092" name="Slide Number Placeholder 3"/>
          <p:cNvSpPr txBox="1">
            <a:spLocks noGrp="1"/>
          </p:cNvSpPr>
          <p:nvPr/>
        </p:nvSpPr>
        <p:spPr bwMode="auto">
          <a:xfrm>
            <a:off x="7010400" y="64770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62A0CC77-BBF4-47C2-9007-1CCABD50529E}" type="slidenum">
              <a:rPr lang="he-IL" altLang="he-IL" sz="1000">
                <a:latin typeface="Verdana" pitchFamily="34" charset="0"/>
              </a:rPr>
              <a:pPr algn="r" rtl="1" eaLnBrk="1" hangingPunct="1"/>
              <a:t>24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הפונקציה </a:t>
            </a:r>
            <a:r>
              <a:rPr lang="en-US" altLang="he-IL" smtClean="0"/>
              <a:t>realloc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altLang="he-IL" dirty="0" smtClean="0"/>
              <a:t>שפת </a:t>
            </a:r>
            <a:r>
              <a:rPr lang="en-US" altLang="he-IL" dirty="0" smtClean="0"/>
              <a:t>C</a:t>
            </a:r>
            <a:r>
              <a:rPr lang="he-IL" altLang="he-IL" dirty="0" smtClean="0"/>
              <a:t> נותנת לנו פונקציה שיודעת להגדיל מערך:</a:t>
            </a:r>
          </a:p>
          <a:p>
            <a:pPr lvl="1"/>
            <a:r>
              <a:rPr lang="he-IL" altLang="he-IL" dirty="0" smtClean="0"/>
              <a:t>הפונקציה יודעת להקצות מקום חדש בגודל המבוקש ולהעתיק אליו את האיברים מהמערך הישן, ובסוף גם לשחרר את הזיכרון של המערך המקורי.</a:t>
            </a:r>
          </a:p>
          <a:p>
            <a:pPr algn="l" rtl="0"/>
            <a:r>
              <a:rPr lang="en-US" altLang="he-IL" dirty="0" smtClean="0"/>
              <a:t>void* </a:t>
            </a:r>
            <a:r>
              <a:rPr lang="en-US" altLang="he-IL" dirty="0" err="1" smtClean="0"/>
              <a:t>realloc</a:t>
            </a:r>
            <a:r>
              <a:rPr lang="en-US" altLang="he-IL" dirty="0" smtClean="0"/>
              <a:t>(void* </a:t>
            </a:r>
            <a:r>
              <a:rPr lang="en-US" altLang="he-IL" dirty="0" err="1" smtClean="0"/>
              <a:t>ptr</a:t>
            </a:r>
            <a:r>
              <a:rPr lang="en-US" altLang="he-IL" dirty="0" smtClean="0"/>
              <a:t>, </a:t>
            </a:r>
            <a:r>
              <a:rPr lang="en-US" altLang="he-IL" dirty="0" err="1" smtClean="0"/>
              <a:t>size_t</a:t>
            </a:r>
            <a:r>
              <a:rPr lang="en-US" altLang="he-IL" dirty="0" smtClean="0"/>
              <a:t> size</a:t>
            </a:r>
            <a:r>
              <a:rPr lang="he-IL" altLang="he-IL" dirty="0" smtClean="0"/>
              <a:t>; (</a:t>
            </a:r>
          </a:p>
          <a:p>
            <a:pPr lvl="1"/>
            <a:r>
              <a:rPr lang="he-IL" altLang="he-IL" dirty="0" smtClean="0"/>
              <a:t>הפונקציה מקבלת כפרמטר את כתובת ההתחלה של המערך שאותו ברצונה להגדיל וכן את גודל שטח הזיכרון החדש שרוצים</a:t>
            </a:r>
          </a:p>
          <a:p>
            <a:pPr lvl="1"/>
            <a:r>
              <a:rPr lang="he-IL" altLang="he-IL" dirty="0" smtClean="0"/>
              <a:t>הפונקציה מחזירה את כתובת ההתחלה של השטח החדש שהוקצה</a:t>
            </a:r>
          </a:p>
          <a:p>
            <a:pPr lvl="2"/>
            <a:r>
              <a:rPr lang="he-IL" altLang="he-IL" dirty="0" smtClean="0"/>
              <a:t>יתכן וזו תהיה הכתובת המקורית, במידה והיה מספיק מקום להגדלה במקום המקורי בו המערך הוקצה.</a:t>
            </a:r>
            <a:endParaRPr lang="en-US" altLang="he-IL" dirty="0" smtClean="0"/>
          </a:p>
        </p:txBody>
      </p:sp>
      <p:sp>
        <p:nvSpPr>
          <p:cNvPr id="26628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79E2EDAA-0DAE-4997-AD5E-C17CF579B60A}" type="slidenum">
              <a:rPr lang="he-IL" altLang="he-IL" sz="1000">
                <a:latin typeface="Verdana" pitchFamily="34" charset="0"/>
              </a:rPr>
              <a:pPr algn="r" rtl="1" eaLnBrk="1" hangingPunct="1"/>
              <a:t>25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5"/>
          <p:cNvSpPr>
            <a:spLocks noChangeArrowheads="1"/>
          </p:cNvSpPr>
          <p:nvPr/>
        </p:nvSpPr>
        <p:spPr bwMode="auto">
          <a:xfrm>
            <a:off x="381000" y="1295400"/>
            <a:ext cx="83058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endParaRPr lang="he-IL" altLang="he-IL">
              <a:latin typeface="Verdana" pitchFamily="34" charset="0"/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8229600" cy="1139825"/>
          </a:xfrm>
        </p:spPr>
        <p:txBody>
          <a:bodyPr/>
          <a:lstStyle/>
          <a:p>
            <a:pPr algn="r"/>
            <a:r>
              <a:rPr lang="he-IL" altLang="he-IL" sz="4000" smtClean="0"/>
              <a:t>הגדלת מערך – הקוד בשימוש </a:t>
            </a:r>
            <a:r>
              <a:rPr lang="en-US" altLang="he-IL" sz="4000" smtClean="0"/>
              <a:t>realloc</a:t>
            </a:r>
            <a:r>
              <a:rPr lang="he-IL" altLang="he-IL" sz="4000" smtClean="0"/>
              <a:t/>
            </a:r>
            <a:br>
              <a:rPr lang="he-IL" altLang="he-IL" sz="4000" smtClean="0"/>
            </a:br>
            <a:endParaRPr lang="en-US" altLang="he-IL" sz="4000" smtClean="0"/>
          </a:p>
        </p:txBody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-76200"/>
            <a:ext cx="8229600" cy="4530725"/>
          </a:xfrm>
        </p:spPr>
        <p:txBody>
          <a:bodyPr/>
          <a:lstStyle/>
          <a:p>
            <a:pPr marL="533400" indent="-533400" algn="l" rtl="0">
              <a:buFont typeface="Wingdings" pitchFamily="2" charset="2"/>
              <a:buNone/>
            </a:pPr>
            <a:r>
              <a:rPr lang="en-US" altLang="he-IL" sz="1400" noProof="1" smtClean="0"/>
              <a:t>void main()</a:t>
            </a:r>
          </a:p>
          <a:p>
            <a:pPr marL="533400" indent="-533400" algn="l" rtl="0">
              <a:buFont typeface="Wingdings" pitchFamily="2" charset="2"/>
              <a:buNone/>
            </a:pPr>
            <a:r>
              <a:rPr lang="en-US" altLang="he-IL" sz="1400" noProof="1" smtClean="0"/>
              <a:t>{</a:t>
            </a:r>
          </a:p>
          <a:p>
            <a:pPr marL="533400" indent="-533400" algn="l" rtl="0">
              <a:buFont typeface="Wingdings" pitchFamily="2" charset="2"/>
              <a:buNone/>
            </a:pPr>
            <a:r>
              <a:rPr lang="en-US" altLang="he-IL" sz="1400" noProof="1" smtClean="0"/>
              <a:t>	int num, i;</a:t>
            </a:r>
          </a:p>
          <a:p>
            <a:pPr marL="533400" indent="-533400" algn="l" rtl="0">
              <a:buFont typeface="Wingdings" pitchFamily="2" charset="2"/>
              <a:buNone/>
            </a:pPr>
            <a:r>
              <a:rPr lang="en-US" altLang="he-IL" sz="1400" noProof="1" smtClean="0"/>
              <a:t>	int physSize = 2, logicSize = 0;</a:t>
            </a:r>
          </a:p>
          <a:p>
            <a:pPr marL="533400" indent="-533400" algn="l" rtl="0">
              <a:buFont typeface="Wingdings" pitchFamily="2" charset="2"/>
              <a:buNone/>
            </a:pPr>
            <a:r>
              <a:rPr lang="en-US" altLang="he-IL" sz="1400" noProof="1" smtClean="0"/>
              <a:t>	int* arr = (int*)calloc(physSize, sizeof(int));</a:t>
            </a:r>
          </a:p>
          <a:p>
            <a:pPr marL="533400" indent="-533400" algn="l" rtl="0">
              <a:buFont typeface="Wingdings" pitchFamily="2" charset="2"/>
              <a:buNone/>
            </a:pPr>
            <a:r>
              <a:rPr lang="en-US" altLang="he-IL" sz="1400" noProof="1" smtClean="0"/>
              <a:t>	printf("Please enter numbers, -1 to stop:\n");</a:t>
            </a:r>
          </a:p>
          <a:p>
            <a:pPr marL="533400" indent="-533400" algn="l" rtl="0">
              <a:buFont typeface="Wingdings" pitchFamily="2" charset="2"/>
              <a:buNone/>
            </a:pPr>
            <a:r>
              <a:rPr lang="en-US" altLang="he-IL" sz="1400" noProof="1" smtClean="0"/>
              <a:t>	while (1)</a:t>
            </a:r>
          </a:p>
          <a:p>
            <a:pPr marL="533400" indent="-533400" algn="l" rtl="0">
              <a:buFont typeface="Wingdings" pitchFamily="2" charset="2"/>
              <a:buNone/>
            </a:pPr>
            <a:r>
              <a:rPr lang="en-US" altLang="he-IL" sz="1400" noProof="1" smtClean="0"/>
              <a:t>	{</a:t>
            </a:r>
          </a:p>
          <a:p>
            <a:pPr marL="533400" indent="-533400" algn="l" rtl="0">
              <a:buFont typeface="Wingdings" pitchFamily="2" charset="2"/>
              <a:buNone/>
            </a:pPr>
            <a:r>
              <a:rPr lang="en-US" altLang="he-IL" sz="1400" noProof="1" smtClean="0"/>
              <a:t>	    scanf("%d", &amp;num);</a:t>
            </a:r>
          </a:p>
          <a:p>
            <a:pPr marL="533400" indent="-533400" algn="l" rtl="0">
              <a:buFont typeface="Wingdings" pitchFamily="2" charset="2"/>
              <a:buNone/>
            </a:pPr>
            <a:r>
              <a:rPr lang="en-US" altLang="he-IL" sz="1400" noProof="1" smtClean="0"/>
              <a:t>	    if (num == -1)</a:t>
            </a:r>
          </a:p>
          <a:p>
            <a:pPr marL="533400" indent="-533400" algn="l" rtl="0">
              <a:buFont typeface="Wingdings" pitchFamily="2" charset="2"/>
              <a:buNone/>
            </a:pPr>
            <a:r>
              <a:rPr lang="en-US" altLang="he-IL" sz="1400" noProof="1" smtClean="0"/>
              <a:t>		</a:t>
            </a:r>
            <a:r>
              <a:rPr lang="en-US" altLang="he-IL" sz="1400" dirty="0" smtClean="0"/>
              <a:t>   </a:t>
            </a:r>
            <a:r>
              <a:rPr lang="en-US" altLang="he-IL" sz="1400" noProof="1" smtClean="0"/>
              <a:t>break;</a:t>
            </a:r>
          </a:p>
          <a:p>
            <a:pPr marL="533400" indent="-533400" algn="l" rtl="0">
              <a:buFont typeface="Wingdings" pitchFamily="2" charset="2"/>
              <a:buNone/>
            </a:pPr>
            <a:r>
              <a:rPr lang="en-US" altLang="he-IL" sz="1400" noProof="1" smtClean="0"/>
              <a:t>	</a:t>
            </a:r>
            <a:r>
              <a:rPr lang="en-US" altLang="he-IL" sz="1400" dirty="0" smtClean="0"/>
              <a:t>    </a:t>
            </a:r>
            <a:r>
              <a:rPr lang="en-US" altLang="he-IL" sz="1400" noProof="1" smtClean="0"/>
              <a:t>if (physSize == logicSize)</a:t>
            </a:r>
          </a:p>
          <a:p>
            <a:pPr marL="533400" indent="-533400" algn="l" rtl="0">
              <a:buFont typeface="Wingdings" pitchFamily="2" charset="2"/>
              <a:buNone/>
            </a:pPr>
            <a:r>
              <a:rPr lang="en-US" altLang="he-IL" sz="1400" noProof="1" smtClean="0"/>
              <a:t>	</a:t>
            </a:r>
            <a:r>
              <a:rPr lang="en-US" altLang="he-IL" sz="1400" dirty="0" smtClean="0"/>
              <a:t>    </a:t>
            </a:r>
            <a:r>
              <a:rPr lang="en-US" altLang="he-IL" sz="1400" noProof="1" smtClean="0"/>
              <a:t>{</a:t>
            </a:r>
          </a:p>
          <a:p>
            <a:pPr marL="533400" indent="-533400" algn="l" rtl="0">
              <a:buFont typeface="Wingdings" pitchFamily="2" charset="2"/>
              <a:buNone/>
            </a:pPr>
            <a:r>
              <a:rPr lang="en-US" altLang="he-IL" sz="1400" noProof="1" smtClean="0"/>
              <a:t>		</a:t>
            </a:r>
            <a:r>
              <a:rPr lang="en-US" altLang="he-IL" sz="1400" dirty="0" smtClean="0"/>
              <a:t>    </a:t>
            </a:r>
            <a:r>
              <a:rPr lang="en-US" altLang="he-IL" sz="1400" noProof="1" smtClean="0"/>
              <a:t>physSize *= 2;</a:t>
            </a:r>
          </a:p>
          <a:p>
            <a:pPr marL="533400" indent="-533400" algn="l" rtl="0">
              <a:buFont typeface="Wingdings" pitchFamily="2" charset="2"/>
              <a:buNone/>
            </a:pPr>
            <a:r>
              <a:rPr lang="en-US" altLang="he-IL" sz="1400" noProof="1" smtClean="0"/>
              <a:t>		</a:t>
            </a:r>
            <a:r>
              <a:rPr lang="en-US" altLang="he-IL" sz="1400" dirty="0" smtClean="0"/>
              <a:t>    </a:t>
            </a:r>
            <a:r>
              <a:rPr lang="en-US" altLang="he-IL" sz="1400" b="1" noProof="1" smtClean="0"/>
              <a:t>arr = (int*)realloc(arr, physSize*sizeof(int));</a:t>
            </a:r>
          </a:p>
          <a:p>
            <a:pPr marL="533400" indent="-533400" algn="l" rtl="0">
              <a:buFont typeface="Wingdings" pitchFamily="2" charset="2"/>
              <a:buNone/>
            </a:pPr>
            <a:r>
              <a:rPr lang="en-US" altLang="he-IL" sz="1400" noProof="1" smtClean="0"/>
              <a:t>		</a:t>
            </a:r>
            <a:r>
              <a:rPr lang="en-US" altLang="he-IL" sz="1400" dirty="0" smtClean="0"/>
              <a:t>    </a:t>
            </a:r>
            <a:r>
              <a:rPr lang="en-US" altLang="he-IL" sz="1400" noProof="1" smtClean="0"/>
              <a:t>printf("Doubled the array size to %d\n", physSize);</a:t>
            </a:r>
          </a:p>
          <a:p>
            <a:pPr marL="533400" indent="-533400" algn="l" rtl="0">
              <a:buFont typeface="Wingdings" pitchFamily="2" charset="2"/>
              <a:buNone/>
            </a:pPr>
            <a:r>
              <a:rPr lang="en-US" altLang="he-IL" sz="1400" noProof="1" smtClean="0"/>
              <a:t>	</a:t>
            </a:r>
            <a:r>
              <a:rPr lang="en-US" altLang="he-IL" sz="1400" dirty="0" smtClean="0"/>
              <a:t>    </a:t>
            </a:r>
            <a:r>
              <a:rPr lang="en-US" altLang="he-IL" sz="1400" noProof="1" smtClean="0"/>
              <a:t>}</a:t>
            </a:r>
          </a:p>
          <a:p>
            <a:pPr marL="533400" indent="-533400" algn="l" rtl="0">
              <a:buFont typeface="Wingdings" pitchFamily="2" charset="2"/>
              <a:buNone/>
            </a:pPr>
            <a:r>
              <a:rPr lang="en-US" altLang="he-IL" sz="1400" noProof="1" smtClean="0"/>
              <a:t>	    printf("Read number is %d\n", num);</a:t>
            </a:r>
          </a:p>
          <a:p>
            <a:pPr marL="533400" indent="-533400" algn="l" rtl="0">
              <a:buFont typeface="Wingdings" pitchFamily="2" charset="2"/>
              <a:buNone/>
            </a:pPr>
            <a:r>
              <a:rPr lang="en-US" altLang="he-IL" sz="1400" noProof="1" smtClean="0"/>
              <a:t>	    arr[logicSize] = num;</a:t>
            </a:r>
          </a:p>
          <a:p>
            <a:pPr marL="533400" indent="-533400" algn="l" rtl="0">
              <a:buFont typeface="Wingdings" pitchFamily="2" charset="2"/>
              <a:buNone/>
            </a:pPr>
            <a:r>
              <a:rPr lang="en-US" altLang="he-IL" sz="1400" noProof="1" smtClean="0"/>
              <a:t>	    logicSize++;</a:t>
            </a:r>
          </a:p>
          <a:p>
            <a:pPr marL="533400" indent="-533400" algn="l" rtl="0">
              <a:buFont typeface="Wingdings" pitchFamily="2" charset="2"/>
              <a:buNone/>
            </a:pPr>
            <a:r>
              <a:rPr lang="en-US" altLang="he-IL" sz="1400" noProof="1" smtClean="0"/>
              <a:t>	}</a:t>
            </a:r>
          </a:p>
          <a:p>
            <a:pPr marL="533400" indent="-533400" algn="l" rtl="0">
              <a:buFont typeface="Wingdings" pitchFamily="2" charset="2"/>
              <a:buNone/>
            </a:pPr>
            <a:r>
              <a:rPr lang="en-US" altLang="he-IL" sz="1400" noProof="1" smtClean="0"/>
              <a:t>	printf("The array has %d elements (physSize=%d):\n", </a:t>
            </a:r>
          </a:p>
          <a:p>
            <a:pPr marL="533400" indent="-533400" algn="l" rtl="0">
              <a:buFont typeface="Wingdings" pitchFamily="2" charset="2"/>
              <a:buNone/>
            </a:pPr>
            <a:r>
              <a:rPr lang="en-US" altLang="he-IL" sz="1400" noProof="1" smtClean="0"/>
              <a:t>				logicSize, physSize);</a:t>
            </a:r>
          </a:p>
          <a:p>
            <a:pPr marL="533400" indent="-533400" algn="l" rtl="0">
              <a:buFont typeface="Wingdings" pitchFamily="2" charset="2"/>
              <a:buNone/>
            </a:pPr>
            <a:r>
              <a:rPr lang="en-US" altLang="he-IL" sz="1400" noProof="1" smtClean="0"/>
              <a:t>	for (i=0 ; i &lt; logicSize ; i++)</a:t>
            </a:r>
          </a:p>
          <a:p>
            <a:pPr marL="533400" indent="-533400" algn="l" rtl="0">
              <a:buFont typeface="Wingdings" pitchFamily="2" charset="2"/>
              <a:buNone/>
            </a:pPr>
            <a:r>
              <a:rPr lang="en-US" altLang="he-IL" sz="1400" noProof="1" smtClean="0"/>
              <a:t>		printf("%d ", arr[i]);</a:t>
            </a:r>
          </a:p>
          <a:p>
            <a:pPr marL="533400" indent="-533400" algn="l" rtl="0">
              <a:buFont typeface="Wingdings" pitchFamily="2" charset="2"/>
              <a:buNone/>
            </a:pPr>
            <a:r>
              <a:rPr lang="en-US" altLang="he-IL" sz="1400" noProof="1" smtClean="0"/>
              <a:t>	printf("\n");</a:t>
            </a:r>
          </a:p>
          <a:p>
            <a:pPr marL="533400" indent="-533400" algn="l" rtl="0">
              <a:buFont typeface="Wingdings" pitchFamily="2" charset="2"/>
              <a:buNone/>
            </a:pPr>
            <a:r>
              <a:rPr lang="en-US" altLang="he-IL" sz="1400" noProof="1" smtClean="0"/>
              <a:t>	free(arr);</a:t>
            </a:r>
          </a:p>
          <a:p>
            <a:pPr marL="533400" indent="-533400" algn="l" rtl="0">
              <a:buFont typeface="Wingdings" pitchFamily="2" charset="2"/>
              <a:buNone/>
            </a:pPr>
            <a:r>
              <a:rPr lang="en-US" altLang="he-IL" sz="1400" noProof="1" smtClean="0"/>
              <a:t>}</a:t>
            </a:r>
          </a:p>
          <a:p>
            <a:pPr marL="533400" indent="-533400" algn="l" rtl="0">
              <a:buFont typeface="Wingdings" pitchFamily="2" charset="2"/>
              <a:buNone/>
            </a:pPr>
            <a:endParaRPr lang="en-US" altLang="he-IL" sz="1400" noProof="1" smtClean="0"/>
          </a:p>
          <a:p>
            <a:pPr marL="533400" indent="-533400" algn="l" rtl="0">
              <a:lnSpc>
                <a:spcPct val="80000"/>
              </a:lnSpc>
              <a:buFont typeface="Wingdings" pitchFamily="2" charset="2"/>
              <a:buNone/>
            </a:pPr>
            <a:endParaRPr lang="en-US" altLang="he-IL" sz="1400" noProof="1" smtClean="0">
              <a:solidFill>
                <a:srgbClr val="A31515"/>
              </a:solidFill>
            </a:endParaRPr>
          </a:p>
        </p:txBody>
      </p:sp>
      <p:sp>
        <p:nvSpPr>
          <p:cNvPr id="28681" name="Text Box 47"/>
          <p:cNvSpPr txBox="1">
            <a:spLocks noChangeArrowheads="1"/>
          </p:cNvSpPr>
          <p:nvPr/>
        </p:nvSpPr>
        <p:spPr bwMode="auto">
          <a:xfrm>
            <a:off x="6248400" y="6172200"/>
            <a:ext cx="2971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>
              <a:spcBef>
                <a:spcPct val="50000"/>
              </a:spcBef>
            </a:pPr>
            <a:r>
              <a:rPr lang="he-IL" altLang="he-IL"/>
              <a:t>הזיכרון של ה- </a:t>
            </a:r>
            <a:r>
              <a:rPr lang="en-US" altLang="he-IL"/>
              <a:t>main</a:t>
            </a:r>
          </a:p>
        </p:txBody>
      </p:sp>
      <p:sp>
        <p:nvSpPr>
          <p:cNvPr id="58440" name="Oval 72"/>
          <p:cNvSpPr>
            <a:spLocks noChangeArrowheads="1"/>
          </p:cNvSpPr>
          <p:nvPr/>
        </p:nvSpPr>
        <p:spPr bwMode="auto">
          <a:xfrm>
            <a:off x="4953000" y="762000"/>
            <a:ext cx="4191000" cy="2819400"/>
          </a:xfrm>
          <a:prstGeom prst="ellipse">
            <a:avLst/>
          </a:prstGeom>
          <a:solidFill>
            <a:srgbClr val="00CC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he-IL" altLang="he-IL"/>
          </a:p>
        </p:txBody>
      </p:sp>
      <p:sp>
        <p:nvSpPr>
          <p:cNvPr id="3" name="Text Box 9"/>
          <p:cNvSpPr txBox="1">
            <a:spLocks noChangeArrowheads="1"/>
          </p:cNvSpPr>
          <p:nvPr/>
        </p:nvSpPr>
        <p:spPr bwMode="auto">
          <a:xfrm>
            <a:off x="6248400" y="3581400"/>
            <a:ext cx="1981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>
              <a:spcBef>
                <a:spcPct val="50000"/>
              </a:spcBef>
            </a:pPr>
            <a:r>
              <a:rPr lang="he-IL" altLang="he-IL"/>
              <a:t>זיכרון ה- </a:t>
            </a:r>
            <a:r>
              <a:rPr lang="en-US" altLang="he-IL"/>
              <a:t>heap</a:t>
            </a:r>
          </a:p>
        </p:txBody>
      </p:sp>
      <p:graphicFrame>
        <p:nvGraphicFramePr>
          <p:cNvPr id="203783" name="Group 7"/>
          <p:cNvGraphicFramePr>
            <a:graphicFrameLocks noGrp="1"/>
          </p:cNvGraphicFramePr>
          <p:nvPr/>
        </p:nvGraphicFramePr>
        <p:xfrm>
          <a:off x="6553200" y="1233488"/>
          <a:ext cx="2057400" cy="701785"/>
        </p:xfrm>
        <a:graphic>
          <a:graphicData uri="http://schemas.openxmlformats.org/drawingml/2006/table">
            <a:tbl>
              <a:tblPr/>
              <a:tblGrid>
                <a:gridCol w="914400"/>
                <a:gridCol w="609600"/>
                <a:gridCol w="533400"/>
              </a:tblGrid>
              <a:tr h="33512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9" marB="4569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4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int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9" marB="4569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4273" name="Group 497"/>
          <p:cNvGraphicFramePr>
            <a:graphicFrameLocks noGrp="1"/>
          </p:cNvGraphicFramePr>
          <p:nvPr/>
        </p:nvGraphicFramePr>
        <p:xfrm>
          <a:off x="6096000" y="4419600"/>
          <a:ext cx="2819400" cy="1831974"/>
        </p:xfrm>
        <a:graphic>
          <a:graphicData uri="http://schemas.openxmlformats.org/drawingml/2006/table">
            <a:tbl>
              <a:tblPr/>
              <a:tblGrid>
                <a:gridCol w="1447800"/>
                <a:gridCol w="838200"/>
                <a:gridCol w="533400"/>
              </a:tblGrid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num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physSize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logicSize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3913" name="Group 137"/>
          <p:cNvGraphicFramePr>
            <a:graphicFrameLocks noGrp="1"/>
          </p:cNvGraphicFramePr>
          <p:nvPr/>
        </p:nvGraphicFramePr>
        <p:xfrm>
          <a:off x="6553200" y="1219200"/>
          <a:ext cx="2057400" cy="701785"/>
        </p:xfrm>
        <a:graphic>
          <a:graphicData uri="http://schemas.openxmlformats.org/drawingml/2006/table">
            <a:tbl>
              <a:tblPr/>
              <a:tblGrid>
                <a:gridCol w="914400"/>
                <a:gridCol w="609600"/>
                <a:gridCol w="533400"/>
              </a:tblGrid>
              <a:tr h="33512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9" marB="4569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4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int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9" marB="4569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3985" name="Group 209"/>
          <p:cNvGraphicFramePr>
            <a:graphicFrameLocks noGrp="1"/>
          </p:cNvGraphicFramePr>
          <p:nvPr/>
        </p:nvGraphicFramePr>
        <p:xfrm>
          <a:off x="6553200" y="1203325"/>
          <a:ext cx="2057400" cy="701785"/>
        </p:xfrm>
        <a:graphic>
          <a:graphicData uri="http://schemas.openxmlformats.org/drawingml/2006/table">
            <a:tbl>
              <a:tblPr/>
              <a:tblGrid>
                <a:gridCol w="914400"/>
                <a:gridCol w="609600"/>
                <a:gridCol w="533400"/>
              </a:tblGrid>
              <a:tr h="33512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9" marB="4569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4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int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9" marB="4569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4137" name="Group 361"/>
          <p:cNvGraphicFramePr>
            <a:graphicFrameLocks noGrp="1"/>
          </p:cNvGraphicFramePr>
          <p:nvPr/>
        </p:nvGraphicFramePr>
        <p:xfrm>
          <a:off x="5562600" y="2057400"/>
          <a:ext cx="2057400" cy="1435156"/>
        </p:xfrm>
        <a:graphic>
          <a:graphicData uri="http://schemas.openxmlformats.org/drawingml/2006/table">
            <a:tbl>
              <a:tblPr/>
              <a:tblGrid>
                <a:gridCol w="914400"/>
                <a:gridCol w="609600"/>
                <a:gridCol w="533400"/>
              </a:tblGrid>
              <a:tr h="3352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0" marB="4571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3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int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0" marB="4571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3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int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0" marB="4571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3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int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0" marB="4571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4188" name="Group 412"/>
          <p:cNvGraphicFramePr>
            <a:graphicFrameLocks noGrp="1"/>
          </p:cNvGraphicFramePr>
          <p:nvPr/>
        </p:nvGraphicFramePr>
        <p:xfrm>
          <a:off x="5562600" y="2057400"/>
          <a:ext cx="2057400" cy="1435156"/>
        </p:xfrm>
        <a:graphic>
          <a:graphicData uri="http://schemas.openxmlformats.org/drawingml/2006/table">
            <a:tbl>
              <a:tblPr/>
              <a:tblGrid>
                <a:gridCol w="914400"/>
                <a:gridCol w="609600"/>
                <a:gridCol w="533400"/>
              </a:tblGrid>
              <a:tr h="3352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0" marB="4571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3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int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0" marB="4571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3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int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0" marB="4571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3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 int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0" marB="4571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4275" name="Group 499"/>
          <p:cNvGraphicFramePr>
            <a:graphicFrameLocks noGrp="1"/>
          </p:cNvGraphicFramePr>
          <p:nvPr/>
        </p:nvGraphicFramePr>
        <p:xfrm>
          <a:off x="6096000" y="4419600"/>
          <a:ext cx="2819400" cy="1831974"/>
        </p:xfrm>
        <a:graphic>
          <a:graphicData uri="http://schemas.openxmlformats.org/drawingml/2006/table">
            <a:tbl>
              <a:tblPr/>
              <a:tblGrid>
                <a:gridCol w="1447800"/>
                <a:gridCol w="838200"/>
                <a:gridCol w="533400"/>
              </a:tblGrid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num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physSize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logicSize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4303" name="Group 527"/>
          <p:cNvGraphicFramePr>
            <a:graphicFrameLocks noGrp="1"/>
          </p:cNvGraphicFramePr>
          <p:nvPr/>
        </p:nvGraphicFramePr>
        <p:xfrm>
          <a:off x="6096000" y="4419600"/>
          <a:ext cx="2819400" cy="1831974"/>
        </p:xfrm>
        <a:graphic>
          <a:graphicData uri="http://schemas.openxmlformats.org/drawingml/2006/table">
            <a:tbl>
              <a:tblPr/>
              <a:tblGrid>
                <a:gridCol w="1447800"/>
                <a:gridCol w="838200"/>
                <a:gridCol w="533400"/>
              </a:tblGrid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num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physSize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logicSize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2200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4329" name="Group 553"/>
          <p:cNvGraphicFramePr>
            <a:graphicFrameLocks noGrp="1"/>
          </p:cNvGraphicFramePr>
          <p:nvPr/>
        </p:nvGraphicFramePr>
        <p:xfrm>
          <a:off x="6096000" y="4419600"/>
          <a:ext cx="2819400" cy="1831974"/>
        </p:xfrm>
        <a:graphic>
          <a:graphicData uri="http://schemas.openxmlformats.org/drawingml/2006/table">
            <a:tbl>
              <a:tblPr/>
              <a:tblGrid>
                <a:gridCol w="1447800"/>
                <a:gridCol w="838200"/>
                <a:gridCol w="533400"/>
              </a:tblGrid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num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physSize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logicSize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2200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4355" name="Group 579"/>
          <p:cNvGraphicFramePr>
            <a:graphicFrameLocks noGrp="1"/>
          </p:cNvGraphicFramePr>
          <p:nvPr/>
        </p:nvGraphicFramePr>
        <p:xfrm>
          <a:off x="6096000" y="4419600"/>
          <a:ext cx="2819400" cy="1831974"/>
        </p:xfrm>
        <a:graphic>
          <a:graphicData uri="http://schemas.openxmlformats.org/drawingml/2006/table">
            <a:tbl>
              <a:tblPr/>
              <a:tblGrid>
                <a:gridCol w="1447800"/>
                <a:gridCol w="838200"/>
                <a:gridCol w="533400"/>
              </a:tblGrid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num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7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physSize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logicSize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2200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4381" name="Group 605"/>
          <p:cNvGraphicFramePr>
            <a:graphicFrameLocks noGrp="1"/>
          </p:cNvGraphicFramePr>
          <p:nvPr/>
        </p:nvGraphicFramePr>
        <p:xfrm>
          <a:off x="6096000" y="4419600"/>
          <a:ext cx="2819400" cy="1831974"/>
        </p:xfrm>
        <a:graphic>
          <a:graphicData uri="http://schemas.openxmlformats.org/drawingml/2006/table">
            <a:tbl>
              <a:tblPr/>
              <a:tblGrid>
                <a:gridCol w="1447800"/>
                <a:gridCol w="838200"/>
                <a:gridCol w="533400"/>
              </a:tblGrid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num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physSize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logicSize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2200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4407" name="Group 631"/>
          <p:cNvGraphicFramePr>
            <a:graphicFrameLocks noGrp="1"/>
          </p:cNvGraphicFramePr>
          <p:nvPr/>
        </p:nvGraphicFramePr>
        <p:xfrm>
          <a:off x="6096000" y="4419600"/>
          <a:ext cx="2819400" cy="1831974"/>
        </p:xfrm>
        <a:graphic>
          <a:graphicData uri="http://schemas.openxmlformats.org/drawingml/2006/table">
            <a:tbl>
              <a:tblPr/>
              <a:tblGrid>
                <a:gridCol w="1447800"/>
                <a:gridCol w="838200"/>
                <a:gridCol w="533400"/>
              </a:tblGrid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num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physSize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logicSize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2200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4433" name="Group 657"/>
          <p:cNvGraphicFramePr>
            <a:graphicFrameLocks noGrp="1"/>
          </p:cNvGraphicFramePr>
          <p:nvPr/>
        </p:nvGraphicFramePr>
        <p:xfrm>
          <a:off x="6096000" y="4419600"/>
          <a:ext cx="2819400" cy="1831974"/>
        </p:xfrm>
        <a:graphic>
          <a:graphicData uri="http://schemas.openxmlformats.org/drawingml/2006/table">
            <a:tbl>
              <a:tblPr/>
              <a:tblGrid>
                <a:gridCol w="1447800"/>
                <a:gridCol w="838200"/>
                <a:gridCol w="533400"/>
              </a:tblGrid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num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physSize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logicSize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2200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4459" name="Group 683"/>
          <p:cNvGraphicFramePr>
            <a:graphicFrameLocks noGrp="1"/>
          </p:cNvGraphicFramePr>
          <p:nvPr/>
        </p:nvGraphicFramePr>
        <p:xfrm>
          <a:off x="6096000" y="4419600"/>
          <a:ext cx="2819400" cy="1831974"/>
        </p:xfrm>
        <a:graphic>
          <a:graphicData uri="http://schemas.openxmlformats.org/drawingml/2006/table">
            <a:tbl>
              <a:tblPr/>
              <a:tblGrid>
                <a:gridCol w="1447800"/>
                <a:gridCol w="838200"/>
                <a:gridCol w="533400"/>
              </a:tblGrid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num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physSize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logicSize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2200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4485" name="Group 709"/>
          <p:cNvGraphicFramePr>
            <a:graphicFrameLocks noGrp="1"/>
          </p:cNvGraphicFramePr>
          <p:nvPr/>
        </p:nvGraphicFramePr>
        <p:xfrm>
          <a:off x="6096000" y="4419600"/>
          <a:ext cx="2819400" cy="1831974"/>
        </p:xfrm>
        <a:graphic>
          <a:graphicData uri="http://schemas.openxmlformats.org/drawingml/2006/table">
            <a:tbl>
              <a:tblPr/>
              <a:tblGrid>
                <a:gridCol w="1447800"/>
                <a:gridCol w="838200"/>
                <a:gridCol w="533400"/>
              </a:tblGrid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num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physSize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logicSize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4536" name="Group 760"/>
          <p:cNvGraphicFramePr>
            <a:graphicFrameLocks noGrp="1"/>
          </p:cNvGraphicFramePr>
          <p:nvPr/>
        </p:nvGraphicFramePr>
        <p:xfrm>
          <a:off x="6096000" y="4419600"/>
          <a:ext cx="2819400" cy="1831974"/>
        </p:xfrm>
        <a:graphic>
          <a:graphicData uri="http://schemas.openxmlformats.org/drawingml/2006/table">
            <a:tbl>
              <a:tblPr/>
              <a:tblGrid>
                <a:gridCol w="1447800"/>
                <a:gridCol w="838200"/>
                <a:gridCol w="533400"/>
              </a:tblGrid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num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physSize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logicSize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int*: arr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4562" name="Group 786"/>
          <p:cNvGraphicFramePr>
            <a:graphicFrameLocks noGrp="1"/>
          </p:cNvGraphicFramePr>
          <p:nvPr/>
        </p:nvGraphicFramePr>
        <p:xfrm>
          <a:off x="6096000" y="4419600"/>
          <a:ext cx="2819400" cy="1831974"/>
        </p:xfrm>
        <a:graphic>
          <a:graphicData uri="http://schemas.openxmlformats.org/drawingml/2006/table">
            <a:tbl>
              <a:tblPr/>
              <a:tblGrid>
                <a:gridCol w="1447800"/>
                <a:gridCol w="838200"/>
                <a:gridCol w="533400"/>
              </a:tblGrid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num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-1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i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physSize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int: logicSize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1012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*: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arr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1016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28" marB="45728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8042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AD6CB440-5905-4C7B-B430-54BB1C7F05CF}" type="slidenum">
              <a:rPr lang="he-IL" altLang="he-IL" sz="1000">
                <a:latin typeface="Verdana" pitchFamily="34" charset="0"/>
              </a:rPr>
              <a:pPr algn="r" rtl="1" eaLnBrk="1" hangingPunct="1"/>
              <a:t>26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מה יהיה פלט התוכנית הבאה?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229600" cy="4530725"/>
          </a:xfrm>
        </p:spPr>
        <p:txBody>
          <a:bodyPr/>
          <a:lstStyle/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#include &lt;stdio.h&gt;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#include &lt;stdlib.h&gt;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endParaRPr lang="he-IL" altLang="he-IL" sz="160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void main()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{</a:t>
            </a:r>
            <a:endParaRPr lang="he-IL" altLang="he-IL" sz="160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	char* c = (char*)malloc (sizeof(char)*5);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	char** s = (char**)malloc (sizeof(char*)*3);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	int i;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endParaRPr lang="he-IL" altLang="he-IL" sz="160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	for(       ;          ;         )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he-IL" altLang="he-IL" sz="1600" smtClean="0"/>
              <a:t>	</a:t>
            </a:r>
            <a:r>
              <a:rPr lang="en-US" altLang="he-IL" sz="1600" smtClean="0"/>
              <a:t>{</a:t>
            </a:r>
            <a:endParaRPr lang="he-IL" altLang="he-IL" sz="160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		printf("enter word : ");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		gets(c);</a:t>
            </a:r>
            <a:endParaRPr lang="he-IL" altLang="he-IL" sz="160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		s[i] = c;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he-IL" altLang="he-IL" sz="1600" smtClean="0"/>
              <a:t>	{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endParaRPr lang="he-IL" altLang="he-IL" sz="160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	for(i=0; i&lt;3; i++)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		printf("strings : %s \n",s[i]);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endParaRPr lang="he-IL" altLang="he-IL" sz="160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	free(c);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	free(s);</a:t>
            </a:r>
            <a:endParaRPr lang="he-IL" altLang="he-IL" sz="160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}</a:t>
            </a:r>
            <a:endParaRPr lang="he-IL" altLang="he-IL" sz="160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endParaRPr lang="he-IL" altLang="he-IL" sz="1600" smtClean="0"/>
          </a:p>
        </p:txBody>
      </p:sp>
      <p:sp>
        <p:nvSpPr>
          <p:cNvPr id="5" name="Text Box 47"/>
          <p:cNvSpPr txBox="1">
            <a:spLocks noChangeArrowheads="1"/>
          </p:cNvSpPr>
          <p:nvPr/>
        </p:nvSpPr>
        <p:spPr bwMode="auto">
          <a:xfrm>
            <a:off x="6248400" y="6172200"/>
            <a:ext cx="2971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>
              <a:spcBef>
                <a:spcPct val="50000"/>
              </a:spcBef>
            </a:pPr>
            <a:r>
              <a:rPr lang="he-IL" altLang="he-IL"/>
              <a:t>הזיכרון של ה- </a:t>
            </a:r>
            <a:r>
              <a:rPr lang="en-US" altLang="he-IL"/>
              <a:t>main</a:t>
            </a:r>
          </a:p>
        </p:txBody>
      </p:sp>
      <p:sp>
        <p:nvSpPr>
          <p:cNvPr id="6" name="Oval 72"/>
          <p:cNvSpPr>
            <a:spLocks noChangeArrowheads="1"/>
          </p:cNvSpPr>
          <p:nvPr/>
        </p:nvSpPr>
        <p:spPr bwMode="auto">
          <a:xfrm>
            <a:off x="5562600" y="1600200"/>
            <a:ext cx="3581400" cy="3062288"/>
          </a:xfrm>
          <a:prstGeom prst="ellipse">
            <a:avLst/>
          </a:prstGeom>
          <a:solidFill>
            <a:srgbClr val="00CC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he-IL" altLang="he-IL"/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6248400" y="4662488"/>
            <a:ext cx="1981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>
              <a:spcBef>
                <a:spcPct val="50000"/>
              </a:spcBef>
            </a:pPr>
            <a:r>
              <a:rPr lang="he-IL" altLang="he-IL"/>
              <a:t>זיכרון ה- </a:t>
            </a:r>
            <a:r>
              <a:rPr lang="en-US" altLang="he-IL"/>
              <a:t>heap</a:t>
            </a:r>
          </a:p>
        </p:txBody>
      </p:sp>
      <p:graphicFrame>
        <p:nvGraphicFramePr>
          <p:cNvPr id="8" name="Group 497"/>
          <p:cNvGraphicFramePr>
            <a:graphicFrameLocks noGrp="1"/>
          </p:cNvGraphicFramePr>
          <p:nvPr/>
        </p:nvGraphicFramePr>
        <p:xfrm>
          <a:off x="6096000" y="4997450"/>
          <a:ext cx="2819400" cy="1098551"/>
        </p:xfrm>
        <a:graphic>
          <a:graphicData uri="http://schemas.openxmlformats.org/drawingml/2006/table">
            <a:tbl>
              <a:tblPr/>
              <a:tblGrid>
                <a:gridCol w="1447800"/>
                <a:gridCol w="838200"/>
                <a:gridCol w="533400"/>
              </a:tblGrid>
              <a:tr h="3668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c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char**: s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Group 412"/>
          <p:cNvGraphicFramePr>
            <a:graphicFrameLocks noGrp="1"/>
          </p:cNvGraphicFramePr>
          <p:nvPr/>
        </p:nvGraphicFramePr>
        <p:xfrm>
          <a:off x="7010400" y="1752600"/>
          <a:ext cx="1752600" cy="1801856"/>
        </p:xfrm>
        <a:graphic>
          <a:graphicData uri="http://schemas.openxmlformats.org/drawingml/2006/table">
            <a:tbl>
              <a:tblPr/>
              <a:tblGrid>
                <a:gridCol w="685800"/>
                <a:gridCol w="533400"/>
                <a:gridCol w="533400"/>
              </a:tblGrid>
              <a:tr h="33522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2" marB="45712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4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4301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2" marB="45712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4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he-IL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4302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2" marB="45712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4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he-IL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4303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2" marB="45712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4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he-IL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4304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2" marB="45712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8722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59E62AED-1D21-4681-825E-F8778D021493}" type="slidenum">
              <a:rPr lang="he-IL" altLang="he-IL" sz="1000">
                <a:latin typeface="Verdana" pitchFamily="34" charset="0"/>
              </a:rPr>
              <a:pPr algn="r" rtl="1" eaLnBrk="1" hangingPunct="1"/>
              <a:t>27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  <p:graphicFrame>
        <p:nvGraphicFramePr>
          <p:cNvPr id="22" name="Group 497"/>
          <p:cNvGraphicFramePr>
            <a:graphicFrameLocks noGrp="1"/>
          </p:cNvGraphicFramePr>
          <p:nvPr/>
        </p:nvGraphicFramePr>
        <p:xfrm>
          <a:off x="6096000" y="4997450"/>
          <a:ext cx="2819400" cy="1098551"/>
        </p:xfrm>
        <a:graphic>
          <a:graphicData uri="http://schemas.openxmlformats.org/drawingml/2006/table">
            <a:tbl>
              <a:tblPr/>
              <a:tblGrid>
                <a:gridCol w="1447800"/>
                <a:gridCol w="838200"/>
                <a:gridCol w="533400"/>
              </a:tblGrid>
              <a:tr h="3668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c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4300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char**: s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3" name="Group 412"/>
          <p:cNvGraphicFramePr>
            <a:graphicFrameLocks noGrp="1"/>
          </p:cNvGraphicFramePr>
          <p:nvPr/>
        </p:nvGraphicFramePr>
        <p:xfrm>
          <a:off x="6019800" y="3579813"/>
          <a:ext cx="1981200" cy="1068460"/>
        </p:xfrm>
        <a:graphic>
          <a:graphicData uri="http://schemas.openxmlformats.org/drawingml/2006/table">
            <a:tbl>
              <a:tblPr/>
              <a:tblGrid>
                <a:gridCol w="775252"/>
                <a:gridCol w="672548"/>
                <a:gridCol w="533400"/>
              </a:tblGrid>
              <a:tr h="33518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5300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6" marB="4570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5304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6" marB="4570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he-IL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5308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6" marB="4570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Group 497"/>
          <p:cNvGraphicFramePr>
            <a:graphicFrameLocks noGrp="1"/>
          </p:cNvGraphicFramePr>
          <p:nvPr/>
        </p:nvGraphicFramePr>
        <p:xfrm>
          <a:off x="6096000" y="4997450"/>
          <a:ext cx="2819400" cy="1098551"/>
        </p:xfrm>
        <a:graphic>
          <a:graphicData uri="http://schemas.openxmlformats.org/drawingml/2006/table">
            <a:tbl>
              <a:tblPr/>
              <a:tblGrid>
                <a:gridCol w="1447800"/>
                <a:gridCol w="838200"/>
                <a:gridCol w="533400"/>
              </a:tblGrid>
              <a:tr h="3668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c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4300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char**: s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5300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990600" y="3581400"/>
            <a:ext cx="12954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he-IL" sz="1600"/>
              <a:t>i=0</a:t>
            </a:r>
            <a:endParaRPr lang="he-IL" altLang="he-IL" sz="1600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676400" y="3581400"/>
            <a:ext cx="12954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he-IL" sz="1600"/>
              <a:t>i &lt; 3</a:t>
            </a:r>
            <a:endParaRPr lang="he-IL" altLang="he-IL" sz="1600"/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2438400" y="3581400"/>
            <a:ext cx="12954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he-IL" sz="1600"/>
              <a:t>i ++</a:t>
            </a:r>
            <a:endParaRPr lang="he-IL" altLang="he-IL" sz="1600"/>
          </a:p>
        </p:txBody>
      </p:sp>
      <p:graphicFrame>
        <p:nvGraphicFramePr>
          <p:cNvPr id="28" name="Group 497"/>
          <p:cNvGraphicFramePr>
            <a:graphicFrameLocks noGrp="1"/>
          </p:cNvGraphicFramePr>
          <p:nvPr/>
        </p:nvGraphicFramePr>
        <p:xfrm>
          <a:off x="6096000" y="4997450"/>
          <a:ext cx="2819400" cy="1098551"/>
        </p:xfrm>
        <a:graphic>
          <a:graphicData uri="http://schemas.openxmlformats.org/drawingml/2006/table">
            <a:tbl>
              <a:tblPr/>
              <a:tblGrid>
                <a:gridCol w="1447800"/>
                <a:gridCol w="838200"/>
                <a:gridCol w="533400"/>
              </a:tblGrid>
              <a:tr h="3668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c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4300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char**: s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5300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9" name="Group 412"/>
          <p:cNvGraphicFramePr>
            <a:graphicFrameLocks noGrp="1"/>
          </p:cNvGraphicFramePr>
          <p:nvPr/>
        </p:nvGraphicFramePr>
        <p:xfrm>
          <a:off x="7010400" y="1752600"/>
          <a:ext cx="1752600" cy="1801856"/>
        </p:xfrm>
        <a:graphic>
          <a:graphicData uri="http://schemas.openxmlformats.org/drawingml/2006/table">
            <a:tbl>
              <a:tblPr/>
              <a:tblGrid>
                <a:gridCol w="685800"/>
                <a:gridCol w="533400"/>
                <a:gridCol w="533400"/>
              </a:tblGrid>
              <a:tr h="33522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‘h’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2" marB="45712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4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</a:t>
                      </a:r>
                      <a:r>
                        <a:rPr kumimoji="0" lang="en-US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</a:t>
                      </a: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’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4301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2" marB="45712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4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he-IL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4302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2" marB="45712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4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he-IL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4303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2" marB="45712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4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he-IL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4304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2" marB="45712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" name="Group 412"/>
          <p:cNvGraphicFramePr>
            <a:graphicFrameLocks noGrp="1"/>
          </p:cNvGraphicFramePr>
          <p:nvPr/>
        </p:nvGraphicFramePr>
        <p:xfrm>
          <a:off x="6019800" y="3581400"/>
          <a:ext cx="1981200" cy="1068460"/>
        </p:xfrm>
        <a:graphic>
          <a:graphicData uri="http://schemas.openxmlformats.org/drawingml/2006/table">
            <a:tbl>
              <a:tblPr/>
              <a:tblGrid>
                <a:gridCol w="775252"/>
                <a:gridCol w="672548"/>
                <a:gridCol w="533400"/>
              </a:tblGrid>
              <a:tr h="33518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4300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5300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6" marB="4570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5304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6" marB="4570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he-IL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5308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6" marB="4570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Group 497"/>
          <p:cNvGraphicFramePr>
            <a:graphicFrameLocks noGrp="1"/>
          </p:cNvGraphicFramePr>
          <p:nvPr/>
        </p:nvGraphicFramePr>
        <p:xfrm>
          <a:off x="6096000" y="4997450"/>
          <a:ext cx="2819400" cy="1098551"/>
        </p:xfrm>
        <a:graphic>
          <a:graphicData uri="http://schemas.openxmlformats.org/drawingml/2006/table">
            <a:tbl>
              <a:tblPr/>
              <a:tblGrid>
                <a:gridCol w="1447800"/>
                <a:gridCol w="838200"/>
                <a:gridCol w="533400"/>
              </a:tblGrid>
              <a:tr h="3668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c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4300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char**: s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5300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2" name="Group 412"/>
          <p:cNvGraphicFramePr>
            <a:graphicFrameLocks noGrp="1"/>
          </p:cNvGraphicFramePr>
          <p:nvPr/>
        </p:nvGraphicFramePr>
        <p:xfrm>
          <a:off x="7010400" y="1752600"/>
          <a:ext cx="1752600" cy="1801856"/>
        </p:xfrm>
        <a:graphic>
          <a:graphicData uri="http://schemas.openxmlformats.org/drawingml/2006/table">
            <a:tbl>
              <a:tblPr/>
              <a:tblGrid>
                <a:gridCol w="685800"/>
                <a:gridCol w="533400"/>
                <a:gridCol w="533400"/>
              </a:tblGrid>
              <a:tr h="33522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‘b’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2" marB="45712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4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‘y’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4301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2" marB="45712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4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‘e’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4302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2" marB="45712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4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he-IL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4303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2" marB="45712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4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he-IL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4304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2" marB="45712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Group 412"/>
          <p:cNvGraphicFramePr>
            <a:graphicFrameLocks noGrp="1"/>
          </p:cNvGraphicFramePr>
          <p:nvPr/>
        </p:nvGraphicFramePr>
        <p:xfrm>
          <a:off x="6019800" y="3581400"/>
          <a:ext cx="1981200" cy="1068460"/>
        </p:xfrm>
        <a:graphic>
          <a:graphicData uri="http://schemas.openxmlformats.org/drawingml/2006/table">
            <a:tbl>
              <a:tblPr/>
              <a:tblGrid>
                <a:gridCol w="775252"/>
                <a:gridCol w="672548"/>
                <a:gridCol w="533400"/>
              </a:tblGrid>
              <a:tr h="33518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4300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5300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6" marB="4570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4300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5304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6" marB="4570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he-IL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5308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6" marB="4570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Group 497"/>
          <p:cNvGraphicFramePr>
            <a:graphicFrameLocks noGrp="1"/>
          </p:cNvGraphicFramePr>
          <p:nvPr/>
        </p:nvGraphicFramePr>
        <p:xfrm>
          <a:off x="6096000" y="4997450"/>
          <a:ext cx="2819400" cy="1098551"/>
        </p:xfrm>
        <a:graphic>
          <a:graphicData uri="http://schemas.openxmlformats.org/drawingml/2006/table">
            <a:tbl>
              <a:tblPr/>
              <a:tblGrid>
                <a:gridCol w="1447800"/>
                <a:gridCol w="838200"/>
                <a:gridCol w="533400"/>
              </a:tblGrid>
              <a:tr h="3668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c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4300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char**: s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5300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5" name="Group 412"/>
          <p:cNvGraphicFramePr>
            <a:graphicFrameLocks noGrp="1"/>
          </p:cNvGraphicFramePr>
          <p:nvPr/>
        </p:nvGraphicFramePr>
        <p:xfrm>
          <a:off x="7010400" y="1752600"/>
          <a:ext cx="1752600" cy="1801856"/>
        </p:xfrm>
        <a:graphic>
          <a:graphicData uri="http://schemas.openxmlformats.org/drawingml/2006/table">
            <a:tbl>
              <a:tblPr/>
              <a:tblGrid>
                <a:gridCol w="685800"/>
                <a:gridCol w="533400"/>
                <a:gridCol w="533400"/>
              </a:tblGrid>
              <a:tr h="33522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‘g’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2" marB="45712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4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‘o’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4301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2" marB="45712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4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‘o’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4302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2" marB="45712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4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‘d’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4303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2" marB="45712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4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4304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2" marB="45712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" name="Group 412"/>
          <p:cNvGraphicFramePr>
            <a:graphicFrameLocks noGrp="1"/>
          </p:cNvGraphicFramePr>
          <p:nvPr/>
        </p:nvGraphicFramePr>
        <p:xfrm>
          <a:off x="6019800" y="3579813"/>
          <a:ext cx="1981200" cy="1068460"/>
        </p:xfrm>
        <a:graphic>
          <a:graphicData uri="http://schemas.openxmlformats.org/drawingml/2006/table">
            <a:tbl>
              <a:tblPr/>
              <a:tblGrid>
                <a:gridCol w="775252"/>
                <a:gridCol w="672548"/>
                <a:gridCol w="533400"/>
              </a:tblGrid>
              <a:tr h="33518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4300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5300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6" marB="4570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4300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5304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6" marB="4570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he-IL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4300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5308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6" marB="4570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Group 497"/>
          <p:cNvGraphicFramePr>
            <a:graphicFrameLocks noGrp="1"/>
          </p:cNvGraphicFramePr>
          <p:nvPr/>
        </p:nvGraphicFramePr>
        <p:xfrm>
          <a:off x="6096000" y="4997450"/>
          <a:ext cx="2819400" cy="1098551"/>
        </p:xfrm>
        <a:graphic>
          <a:graphicData uri="http://schemas.openxmlformats.org/drawingml/2006/table">
            <a:tbl>
              <a:tblPr/>
              <a:tblGrid>
                <a:gridCol w="1447800"/>
                <a:gridCol w="838200"/>
                <a:gridCol w="533400"/>
              </a:tblGrid>
              <a:tr h="3668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c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4300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char**: s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5300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4224338"/>
            <a:ext cx="2438400" cy="1338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התיקון לתוכנית הקודמת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89075"/>
            <a:ext cx="8229600" cy="4530725"/>
          </a:xfrm>
        </p:spPr>
        <p:txBody>
          <a:bodyPr/>
          <a:lstStyle/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void main()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{</a:t>
            </a:r>
            <a:endParaRPr lang="he-IL" altLang="he-IL" sz="160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	char* c;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	char** s = (char**)malloc (sizeof(char*)*2);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	int i;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endParaRPr lang="he-IL" altLang="he-IL" sz="160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	for(       ;          ;         )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he-IL" altLang="he-IL" sz="1600" smtClean="0"/>
              <a:t>	</a:t>
            </a:r>
            <a:r>
              <a:rPr lang="en-US" altLang="he-IL" sz="1600" smtClean="0"/>
              <a:t>{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		c = (char*)malloc (sizeof(char)*5);</a:t>
            </a:r>
            <a:endParaRPr lang="he-IL" altLang="he-IL" sz="160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		printf("enter word : ");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		gets(c);</a:t>
            </a:r>
            <a:endParaRPr lang="he-IL" altLang="he-IL" sz="160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		s[i] = c;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he-IL" altLang="he-IL" sz="1600" smtClean="0"/>
              <a:t>	{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endParaRPr lang="he-IL" altLang="he-IL" sz="160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	for(i=0; i&lt;2; i++)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		printf("strings : %s \n",s[i]);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endParaRPr lang="he-IL" altLang="he-IL" sz="1600" smtClean="0"/>
          </a:p>
          <a:p>
            <a:pPr algn="l" rtl="0">
              <a:buFont typeface="Wingdings" pitchFamily="2" charset="2"/>
              <a:buNone/>
            </a:pPr>
            <a:r>
              <a:rPr lang="en-US" altLang="he-IL" sz="1600" smtClean="0"/>
              <a:t>     </a:t>
            </a:r>
            <a:r>
              <a:rPr lang="nn-NO" altLang="he-IL" sz="1600" smtClean="0"/>
              <a:t>for (i=0 ; i &lt; 2 ; i++)</a:t>
            </a:r>
          </a:p>
          <a:p>
            <a:pPr algn="l" rtl="0">
              <a:buFont typeface="Wingdings" pitchFamily="2" charset="2"/>
              <a:buNone/>
            </a:pPr>
            <a:r>
              <a:rPr lang="en-US" altLang="he-IL" sz="1600" smtClean="0"/>
              <a:t>   	      free(s[i]);</a:t>
            </a:r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	free(s);</a:t>
            </a:r>
            <a:endParaRPr lang="he-IL" altLang="he-IL" sz="160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r>
              <a:rPr lang="en-US" altLang="he-IL" sz="1600" smtClean="0"/>
              <a:t>}</a:t>
            </a:r>
            <a:endParaRPr lang="he-IL" altLang="he-IL" sz="1600" smtClean="0"/>
          </a:p>
          <a:p>
            <a:pPr algn="l" rtl="0">
              <a:spcBef>
                <a:spcPct val="0"/>
              </a:spcBef>
              <a:buFont typeface="Wingdings" pitchFamily="2" charset="2"/>
              <a:buNone/>
            </a:pPr>
            <a:endParaRPr lang="he-IL" altLang="he-IL" sz="1600" smtClean="0"/>
          </a:p>
        </p:txBody>
      </p:sp>
      <p:sp>
        <p:nvSpPr>
          <p:cNvPr id="5" name="Text Box 47"/>
          <p:cNvSpPr txBox="1">
            <a:spLocks noChangeArrowheads="1"/>
          </p:cNvSpPr>
          <p:nvPr/>
        </p:nvSpPr>
        <p:spPr bwMode="auto">
          <a:xfrm>
            <a:off x="6248400" y="6172200"/>
            <a:ext cx="2971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>
              <a:spcBef>
                <a:spcPct val="50000"/>
              </a:spcBef>
            </a:pPr>
            <a:r>
              <a:rPr lang="he-IL" altLang="he-IL"/>
              <a:t>הזיכרון של ה- </a:t>
            </a:r>
            <a:r>
              <a:rPr lang="en-US" altLang="he-IL"/>
              <a:t>main</a:t>
            </a:r>
          </a:p>
        </p:txBody>
      </p:sp>
      <p:sp>
        <p:nvSpPr>
          <p:cNvPr id="6" name="Oval 72"/>
          <p:cNvSpPr>
            <a:spLocks noChangeArrowheads="1"/>
          </p:cNvSpPr>
          <p:nvPr/>
        </p:nvSpPr>
        <p:spPr bwMode="auto">
          <a:xfrm>
            <a:off x="5562600" y="1600200"/>
            <a:ext cx="3581400" cy="3062288"/>
          </a:xfrm>
          <a:prstGeom prst="ellipse">
            <a:avLst/>
          </a:prstGeom>
          <a:solidFill>
            <a:srgbClr val="00CC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he-IL" altLang="he-IL"/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6248400" y="4662488"/>
            <a:ext cx="1981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>
              <a:spcBef>
                <a:spcPct val="50000"/>
              </a:spcBef>
            </a:pPr>
            <a:r>
              <a:rPr lang="he-IL" altLang="he-IL"/>
              <a:t>זיכרון ה- </a:t>
            </a:r>
            <a:r>
              <a:rPr lang="en-US" altLang="he-IL"/>
              <a:t>heap</a:t>
            </a:r>
          </a:p>
        </p:txBody>
      </p:sp>
      <p:graphicFrame>
        <p:nvGraphicFramePr>
          <p:cNvPr id="8" name="Group 497"/>
          <p:cNvGraphicFramePr>
            <a:graphicFrameLocks noGrp="1"/>
          </p:cNvGraphicFramePr>
          <p:nvPr/>
        </p:nvGraphicFramePr>
        <p:xfrm>
          <a:off x="6096000" y="4997450"/>
          <a:ext cx="2819400" cy="1098551"/>
        </p:xfrm>
        <a:graphic>
          <a:graphicData uri="http://schemas.openxmlformats.org/drawingml/2006/table">
            <a:tbl>
              <a:tblPr/>
              <a:tblGrid>
                <a:gridCol w="1447800"/>
                <a:gridCol w="838200"/>
                <a:gridCol w="533400"/>
              </a:tblGrid>
              <a:tr h="3668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c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char**: s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Group 412"/>
          <p:cNvGraphicFramePr>
            <a:graphicFrameLocks noGrp="1"/>
          </p:cNvGraphicFramePr>
          <p:nvPr/>
        </p:nvGraphicFramePr>
        <p:xfrm>
          <a:off x="7391400" y="1752600"/>
          <a:ext cx="1752600" cy="1676400"/>
        </p:xfrm>
        <a:graphic>
          <a:graphicData uri="http://schemas.openxmlformats.org/drawingml/2006/table">
            <a:tbl>
              <a:tblPr/>
              <a:tblGrid>
                <a:gridCol w="685800"/>
                <a:gridCol w="533400"/>
                <a:gridCol w="533400"/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4301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he-IL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4302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he-IL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4303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he-IL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4304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9746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0EFE50AE-5BFF-4104-BF96-AC64F4F8D65B}" type="slidenum">
              <a:rPr lang="he-IL" altLang="he-IL" sz="1000">
                <a:latin typeface="Verdana" pitchFamily="34" charset="0"/>
              </a:rPr>
              <a:pPr algn="r" rtl="1" eaLnBrk="1" hangingPunct="1"/>
              <a:t>28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  <p:graphicFrame>
        <p:nvGraphicFramePr>
          <p:cNvPr id="23" name="Group 412"/>
          <p:cNvGraphicFramePr>
            <a:graphicFrameLocks noGrp="1"/>
          </p:cNvGraphicFramePr>
          <p:nvPr/>
        </p:nvGraphicFramePr>
        <p:xfrm>
          <a:off x="6019800" y="3717925"/>
          <a:ext cx="1981200" cy="701785"/>
        </p:xfrm>
        <a:graphic>
          <a:graphicData uri="http://schemas.openxmlformats.org/drawingml/2006/table">
            <a:tbl>
              <a:tblPr/>
              <a:tblGrid>
                <a:gridCol w="775252"/>
                <a:gridCol w="672548"/>
                <a:gridCol w="533400"/>
              </a:tblGrid>
              <a:tr h="33512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9" marB="4569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4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9" marB="4569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990600" y="2971800"/>
            <a:ext cx="12954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he-IL" sz="1600"/>
              <a:t>i=0</a:t>
            </a:r>
            <a:endParaRPr lang="he-IL" altLang="he-IL" sz="1600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676400" y="2971800"/>
            <a:ext cx="12954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he-IL" sz="1600"/>
              <a:t>i &lt; 2</a:t>
            </a:r>
            <a:endParaRPr lang="he-IL" altLang="he-IL" sz="1600"/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2438400" y="2971800"/>
            <a:ext cx="12954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he-IL" sz="1600"/>
              <a:t>i ++</a:t>
            </a:r>
            <a:endParaRPr lang="he-IL" altLang="he-IL" sz="1600"/>
          </a:p>
        </p:txBody>
      </p:sp>
      <p:graphicFrame>
        <p:nvGraphicFramePr>
          <p:cNvPr id="38" name="Group 412"/>
          <p:cNvGraphicFramePr>
            <a:graphicFrameLocks noGrp="1"/>
          </p:cNvGraphicFramePr>
          <p:nvPr/>
        </p:nvGraphicFramePr>
        <p:xfrm>
          <a:off x="7391400" y="1752600"/>
          <a:ext cx="1752600" cy="1676400"/>
        </p:xfrm>
        <a:graphic>
          <a:graphicData uri="http://schemas.openxmlformats.org/drawingml/2006/table">
            <a:tbl>
              <a:tblPr/>
              <a:tblGrid>
                <a:gridCol w="685800"/>
                <a:gridCol w="533400"/>
                <a:gridCol w="533400"/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‘h’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</a:t>
                      </a:r>
                      <a:r>
                        <a:rPr kumimoji="0" lang="en-US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</a:t>
                      </a: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4301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he-IL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4302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he-IL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4303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he-IL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4304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Group 412"/>
          <p:cNvGraphicFramePr>
            <a:graphicFrameLocks noGrp="1"/>
          </p:cNvGraphicFramePr>
          <p:nvPr/>
        </p:nvGraphicFramePr>
        <p:xfrm>
          <a:off x="6019800" y="3733800"/>
          <a:ext cx="1981200" cy="701785"/>
        </p:xfrm>
        <a:graphic>
          <a:graphicData uri="http://schemas.openxmlformats.org/drawingml/2006/table">
            <a:tbl>
              <a:tblPr/>
              <a:tblGrid>
                <a:gridCol w="775252"/>
                <a:gridCol w="672548"/>
                <a:gridCol w="533400"/>
              </a:tblGrid>
              <a:tr h="33512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4300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9" marB="4569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4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</a:t>
                      </a: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T="45699" marB="4569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" name="Group 412"/>
          <p:cNvGraphicFramePr>
            <a:graphicFrameLocks noGrp="1"/>
          </p:cNvGraphicFramePr>
          <p:nvPr/>
        </p:nvGraphicFramePr>
        <p:xfrm>
          <a:off x="5638800" y="1905000"/>
          <a:ext cx="1752600" cy="1676400"/>
        </p:xfrm>
        <a:graphic>
          <a:graphicData uri="http://schemas.openxmlformats.org/drawingml/2006/table">
            <a:tbl>
              <a:tblPr/>
              <a:tblGrid>
                <a:gridCol w="685800"/>
                <a:gridCol w="533400"/>
                <a:gridCol w="533400"/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301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he-IL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6302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he-IL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6303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he-IL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6304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" name="Group 412"/>
          <p:cNvGraphicFramePr>
            <a:graphicFrameLocks noGrp="1"/>
          </p:cNvGraphicFramePr>
          <p:nvPr/>
        </p:nvGraphicFramePr>
        <p:xfrm>
          <a:off x="5638800" y="1905000"/>
          <a:ext cx="1752600" cy="1676400"/>
        </p:xfrm>
        <a:graphic>
          <a:graphicData uri="http://schemas.openxmlformats.org/drawingml/2006/table">
            <a:tbl>
              <a:tblPr/>
              <a:tblGrid>
                <a:gridCol w="685800"/>
                <a:gridCol w="533400"/>
                <a:gridCol w="533400"/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‘b’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‘y’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301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‘e’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6302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he-IL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6303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he-IL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6304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" name="Group 412"/>
          <p:cNvGraphicFramePr>
            <a:graphicFrameLocks noGrp="1"/>
          </p:cNvGraphicFramePr>
          <p:nvPr/>
        </p:nvGraphicFramePr>
        <p:xfrm>
          <a:off x="6019800" y="3733800"/>
          <a:ext cx="1981200" cy="701785"/>
        </p:xfrm>
        <a:graphic>
          <a:graphicData uri="http://schemas.openxmlformats.org/drawingml/2006/table">
            <a:tbl>
              <a:tblPr/>
              <a:tblGrid>
                <a:gridCol w="775252"/>
                <a:gridCol w="672548"/>
                <a:gridCol w="533400"/>
              </a:tblGrid>
              <a:tr h="33512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4300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699" marB="4569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54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+mn-ea"/>
                          <a:cs typeface="Arial" pitchFamily="34" charset="0"/>
                        </a:rPr>
                        <a:t>6300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</a:t>
                      </a: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T="45699" marB="45699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7" name="Group 497"/>
          <p:cNvGraphicFramePr>
            <a:graphicFrameLocks noGrp="1"/>
          </p:cNvGraphicFramePr>
          <p:nvPr/>
        </p:nvGraphicFramePr>
        <p:xfrm>
          <a:off x="6096000" y="4997450"/>
          <a:ext cx="2819400" cy="1098551"/>
        </p:xfrm>
        <a:graphic>
          <a:graphicData uri="http://schemas.openxmlformats.org/drawingml/2006/table">
            <a:tbl>
              <a:tblPr/>
              <a:tblGrid>
                <a:gridCol w="1447800"/>
                <a:gridCol w="838200"/>
                <a:gridCol w="533400"/>
              </a:tblGrid>
              <a:tr h="3668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c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char**: s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5300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9" name="Group 497"/>
          <p:cNvGraphicFramePr>
            <a:graphicFrameLocks noGrp="1"/>
          </p:cNvGraphicFramePr>
          <p:nvPr/>
        </p:nvGraphicFramePr>
        <p:xfrm>
          <a:off x="6096000" y="4997450"/>
          <a:ext cx="2819400" cy="1098551"/>
        </p:xfrm>
        <a:graphic>
          <a:graphicData uri="http://schemas.openxmlformats.org/drawingml/2006/table">
            <a:tbl>
              <a:tblPr/>
              <a:tblGrid>
                <a:gridCol w="1447800"/>
                <a:gridCol w="838200"/>
                <a:gridCol w="533400"/>
              </a:tblGrid>
              <a:tr h="3668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c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char**: s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5300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0" name="Group 497"/>
          <p:cNvGraphicFramePr>
            <a:graphicFrameLocks noGrp="1"/>
          </p:cNvGraphicFramePr>
          <p:nvPr/>
        </p:nvGraphicFramePr>
        <p:xfrm>
          <a:off x="6096000" y="4997450"/>
          <a:ext cx="2819400" cy="1098551"/>
        </p:xfrm>
        <a:graphic>
          <a:graphicData uri="http://schemas.openxmlformats.org/drawingml/2006/table">
            <a:tbl>
              <a:tblPr/>
              <a:tblGrid>
                <a:gridCol w="1447800"/>
                <a:gridCol w="838200"/>
                <a:gridCol w="533400"/>
              </a:tblGrid>
              <a:tr h="3668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c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4300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char**: s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5300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0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2" name="Group 497"/>
          <p:cNvGraphicFramePr>
            <a:graphicFrameLocks noGrp="1"/>
          </p:cNvGraphicFramePr>
          <p:nvPr/>
        </p:nvGraphicFramePr>
        <p:xfrm>
          <a:off x="6096000" y="4997450"/>
          <a:ext cx="2819400" cy="1098551"/>
        </p:xfrm>
        <a:graphic>
          <a:graphicData uri="http://schemas.openxmlformats.org/drawingml/2006/table">
            <a:tbl>
              <a:tblPr/>
              <a:tblGrid>
                <a:gridCol w="1447800"/>
                <a:gridCol w="838200"/>
                <a:gridCol w="533400"/>
              </a:tblGrid>
              <a:tr h="3668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c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4300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char**: s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5300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4" name="Group 497"/>
          <p:cNvGraphicFramePr>
            <a:graphicFrameLocks noGrp="1"/>
          </p:cNvGraphicFramePr>
          <p:nvPr/>
        </p:nvGraphicFramePr>
        <p:xfrm>
          <a:off x="6096000" y="4997450"/>
          <a:ext cx="2819400" cy="1098551"/>
        </p:xfrm>
        <a:graphic>
          <a:graphicData uri="http://schemas.openxmlformats.org/drawingml/2006/table">
            <a:tbl>
              <a:tblPr/>
              <a:tblGrid>
                <a:gridCol w="1447800"/>
                <a:gridCol w="838200"/>
                <a:gridCol w="533400"/>
              </a:tblGrid>
              <a:tr h="3668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c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6300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char**: s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5300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8" name="Group 497"/>
          <p:cNvGraphicFramePr>
            <a:graphicFrameLocks noGrp="1"/>
          </p:cNvGraphicFramePr>
          <p:nvPr/>
        </p:nvGraphicFramePr>
        <p:xfrm>
          <a:off x="6096000" y="4997450"/>
          <a:ext cx="2819400" cy="1098551"/>
        </p:xfrm>
        <a:graphic>
          <a:graphicData uri="http://schemas.openxmlformats.org/drawingml/2006/table">
            <a:tbl>
              <a:tblPr/>
              <a:tblGrid>
                <a:gridCol w="1447800"/>
                <a:gridCol w="838200"/>
                <a:gridCol w="533400"/>
              </a:tblGrid>
              <a:tr h="3668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c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6300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char**: s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5300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1004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: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1008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33" marB="4573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5638800"/>
            <a:ext cx="301783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altLang="he-IL" smtClean="0"/>
              <a:t>הפונקציה </a:t>
            </a:r>
            <a:r>
              <a:rPr lang="en-US" altLang="he-IL" smtClean="0"/>
              <a:t>strdup</a:t>
            </a:r>
            <a:endParaRPr lang="he-IL" altLang="he-IL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en-US" altLang="he-IL" dirty="0" smtClean="0"/>
              <a:t>char* </a:t>
            </a:r>
            <a:r>
              <a:rPr lang="en-US" altLang="he-IL" dirty="0" err="1" smtClean="0"/>
              <a:t>strdup</a:t>
            </a:r>
            <a:r>
              <a:rPr lang="en-US" altLang="he-IL" dirty="0" smtClean="0"/>
              <a:t>(</a:t>
            </a:r>
            <a:r>
              <a:rPr lang="en-US" altLang="he-IL" dirty="0" err="1" smtClean="0"/>
              <a:t>const</a:t>
            </a:r>
            <a:r>
              <a:rPr lang="en-US" altLang="he-IL" dirty="0" smtClean="0"/>
              <a:t> char *</a:t>
            </a:r>
            <a:r>
              <a:rPr lang="en-US" altLang="he-IL" dirty="0" err="1" smtClean="0"/>
              <a:t>str</a:t>
            </a:r>
            <a:r>
              <a:rPr lang="en-US" altLang="he-IL" dirty="0" smtClean="0"/>
              <a:t>)</a:t>
            </a:r>
            <a:endParaRPr lang="he-IL" altLang="he-IL" dirty="0" smtClean="0"/>
          </a:p>
          <a:p>
            <a:r>
              <a:rPr lang="he-IL" altLang="he-IL" dirty="0" smtClean="0"/>
              <a:t>מקבלת מחרוזת ומחזירה העתק שלה:</a:t>
            </a:r>
          </a:p>
          <a:p>
            <a:pPr lvl="1"/>
            <a:r>
              <a:rPr lang="he-IL" altLang="he-IL" dirty="0" smtClean="0"/>
              <a:t>מקצה דינאמית על ה- </a:t>
            </a:r>
            <a:r>
              <a:rPr lang="en-US" altLang="he-IL" dirty="0" smtClean="0"/>
              <a:t>heap</a:t>
            </a:r>
            <a:r>
              <a:rPr lang="he-IL" altLang="he-IL" dirty="0" smtClean="0"/>
              <a:t> מערך של תווים בגודל המחרוזת המקורית, מעתיקה אליו את התוכן ומחזירה את כתובת ההתחלה שלו.</a:t>
            </a:r>
          </a:p>
          <a:p>
            <a:pPr lvl="1"/>
            <a:r>
              <a:rPr lang="he-IL" altLang="he-IL" dirty="0" smtClean="0"/>
              <a:t>תחזיר </a:t>
            </a:r>
            <a:r>
              <a:rPr lang="en-US" altLang="he-IL" dirty="0" smtClean="0"/>
              <a:t>NULL</a:t>
            </a:r>
            <a:r>
              <a:rPr lang="he-IL" altLang="he-IL" dirty="0" smtClean="0"/>
              <a:t> במידה וההקצאה נכשלה.</a:t>
            </a:r>
          </a:p>
          <a:p>
            <a:r>
              <a:rPr lang="he-IL" altLang="he-IL" dirty="0" smtClean="0"/>
              <a:t>אחריות המתכנת לשחרר את המחרוזת שחזרה!!</a:t>
            </a:r>
          </a:p>
        </p:txBody>
      </p:sp>
      <p:sp>
        <p:nvSpPr>
          <p:cNvPr id="30724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24F1F7FB-0E1D-483C-8B8B-51B35239D497}" type="slidenum">
              <a:rPr lang="he-IL" altLang="he-IL" sz="1000">
                <a:latin typeface="Verdana" pitchFamily="34" charset="0"/>
              </a:rPr>
              <a:pPr algn="r" rtl="1" eaLnBrk="1" hangingPunct="1"/>
              <a:t>29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Group 497"/>
          <p:cNvGraphicFramePr>
            <a:graphicFrameLocks noGrp="1"/>
          </p:cNvGraphicFramePr>
          <p:nvPr/>
        </p:nvGraphicFramePr>
        <p:xfrm>
          <a:off x="6019800" y="4281488"/>
          <a:ext cx="2895600" cy="2043113"/>
        </p:xfrm>
        <a:graphic>
          <a:graphicData uri="http://schemas.openxmlformats.org/drawingml/2006/table">
            <a:tbl>
              <a:tblPr/>
              <a:tblGrid>
                <a:gridCol w="1600199"/>
                <a:gridCol w="762000"/>
                <a:gridCol w="533401"/>
              </a:tblGrid>
              <a:tr h="3667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char: str1[]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1000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+mn-cs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1001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+mn-cs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100</a:t>
                      </a: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2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str2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100</a:t>
                      </a: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3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newStr1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100</a:t>
                      </a: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7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newStr2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10</a:t>
                      </a: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11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1775" name="Rectangle 25"/>
          <p:cNvSpPr>
            <a:spLocks noChangeArrowheads="1"/>
          </p:cNvSpPr>
          <p:nvPr/>
        </p:nvSpPr>
        <p:spPr bwMode="auto">
          <a:xfrm>
            <a:off x="381000" y="1295400"/>
            <a:ext cx="83058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endParaRPr lang="he-IL" altLang="he-IL">
              <a:latin typeface="Verdana" pitchFamily="34" charset="0"/>
            </a:endParaRPr>
          </a:p>
        </p:txBody>
      </p:sp>
      <p:sp>
        <p:nvSpPr>
          <p:cNvPr id="31776" name="Title 1"/>
          <p:cNvSpPr>
            <a:spLocks noGrp="1"/>
          </p:cNvSpPr>
          <p:nvPr>
            <p:ph type="title"/>
          </p:nvPr>
        </p:nvSpPr>
        <p:spPr>
          <a:xfrm>
            <a:off x="685800" y="307975"/>
            <a:ext cx="8229600" cy="1139825"/>
          </a:xfrm>
        </p:spPr>
        <p:txBody>
          <a:bodyPr/>
          <a:lstStyle/>
          <a:p>
            <a:pPr algn="r"/>
            <a:r>
              <a:rPr lang="en-US" altLang="he-IL" smtClean="0"/>
              <a:t>strdup</a:t>
            </a:r>
            <a:r>
              <a:rPr lang="he-IL" altLang="he-IL" smtClean="0"/>
              <a:t> – </a:t>
            </a:r>
            <a:br>
              <a:rPr lang="he-IL" altLang="he-IL" smtClean="0"/>
            </a:br>
            <a:r>
              <a:rPr lang="he-IL" altLang="he-IL" smtClean="0"/>
              <a:t>דוגמא</a:t>
            </a:r>
          </a:p>
        </p:txBody>
      </p:sp>
      <p:sp>
        <p:nvSpPr>
          <p:cNvPr id="31777" name="Slide Number Placeholder 3"/>
          <p:cNvSpPr txBox="1">
            <a:spLocks noGrp="1"/>
          </p:cNvSpPr>
          <p:nvPr/>
        </p:nvSpPr>
        <p:spPr bwMode="auto">
          <a:xfrm>
            <a:off x="228600" y="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rtl="1" eaLnBrk="1" hangingPunct="1"/>
            <a:fld id="{F5B92FE7-E57B-47AA-A4EB-0B1FA1249402}" type="slidenum">
              <a:rPr lang="he-IL" altLang="he-IL" sz="1000">
                <a:latin typeface="Verdana" pitchFamily="34" charset="0"/>
              </a:rPr>
              <a:pPr rtl="1" eaLnBrk="1" hangingPunct="1"/>
              <a:t>30</a:t>
            </a:fld>
            <a:endParaRPr lang="en-US" altLang="he-IL" sz="1000" dirty="0">
              <a:latin typeface="Verdana" pitchFamily="34" charset="0"/>
            </a:endParaRPr>
          </a:p>
          <a:p>
            <a:pPr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rtl="1" eaLnBrk="1" hangingPunct="1"/>
            <a:endParaRPr lang="en-US" altLang="he-IL" sz="1000" dirty="0">
              <a:latin typeface="Verdana" pitchFamily="34" charset="0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28600" y="914400"/>
            <a:ext cx="78486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he-IL" dirty="0"/>
              <a:t>#include &lt;</a:t>
            </a:r>
            <a:r>
              <a:rPr lang="en-US" altLang="he-IL" dirty="0" err="1"/>
              <a:t>stdio.h</a:t>
            </a:r>
            <a:r>
              <a:rPr lang="en-US" altLang="he-IL" dirty="0"/>
              <a:t>&gt;</a:t>
            </a:r>
          </a:p>
          <a:p>
            <a:pPr eaLnBrk="1" hangingPunct="1"/>
            <a:r>
              <a:rPr lang="en-US" altLang="he-IL" dirty="0"/>
              <a:t>#include &lt;</a:t>
            </a:r>
            <a:r>
              <a:rPr lang="en-US" altLang="he-IL" dirty="0" err="1"/>
              <a:t>string.h</a:t>
            </a:r>
            <a:r>
              <a:rPr lang="en-US" altLang="he-IL" dirty="0"/>
              <a:t>&gt;</a:t>
            </a:r>
          </a:p>
          <a:p>
            <a:pPr eaLnBrk="1" hangingPunct="1"/>
            <a:r>
              <a:rPr lang="en-US" altLang="he-IL" dirty="0"/>
              <a:t>#include &lt;</a:t>
            </a:r>
            <a:r>
              <a:rPr lang="en-US" altLang="he-IL" dirty="0" err="1"/>
              <a:t>stdlib.h</a:t>
            </a:r>
            <a:r>
              <a:rPr lang="en-US" altLang="he-IL" dirty="0"/>
              <a:t>&gt;</a:t>
            </a:r>
          </a:p>
          <a:p>
            <a:pPr eaLnBrk="1" hangingPunct="1"/>
            <a:endParaRPr lang="he-IL" altLang="he-IL" dirty="0"/>
          </a:p>
          <a:p>
            <a:pPr eaLnBrk="1" hangingPunct="1"/>
            <a:r>
              <a:rPr lang="en-US" altLang="he-IL" dirty="0"/>
              <a:t>void main()</a:t>
            </a:r>
          </a:p>
          <a:p>
            <a:pPr eaLnBrk="1" hangingPunct="1"/>
            <a:r>
              <a:rPr lang="he-IL" altLang="he-IL" dirty="0"/>
              <a:t>}</a:t>
            </a:r>
          </a:p>
          <a:p>
            <a:pPr eaLnBrk="1" hangingPunct="1"/>
            <a:r>
              <a:rPr lang="en-US" altLang="he-IL" dirty="0"/>
              <a:t>     char str1[] = "hi";</a:t>
            </a:r>
          </a:p>
          <a:p>
            <a:pPr eaLnBrk="1" hangingPunct="1"/>
            <a:r>
              <a:rPr lang="en-US" altLang="he-IL" dirty="0"/>
              <a:t>     char* str2 = "bye";</a:t>
            </a:r>
          </a:p>
          <a:p>
            <a:pPr eaLnBrk="1" hangingPunct="1"/>
            <a:r>
              <a:rPr lang="en-US" altLang="he-IL" dirty="0"/>
              <a:t>     char* newStr1 = </a:t>
            </a:r>
            <a:r>
              <a:rPr lang="en-US" altLang="he-IL" dirty="0" err="1"/>
              <a:t>strdup</a:t>
            </a:r>
            <a:r>
              <a:rPr lang="en-US" altLang="he-IL" dirty="0"/>
              <a:t>(str1);</a:t>
            </a:r>
          </a:p>
          <a:p>
            <a:pPr eaLnBrk="1" hangingPunct="1"/>
            <a:r>
              <a:rPr lang="en-US" altLang="he-IL" dirty="0"/>
              <a:t>     char* newStr2 = </a:t>
            </a:r>
            <a:r>
              <a:rPr lang="en-US" altLang="he-IL" dirty="0" err="1"/>
              <a:t>strdup</a:t>
            </a:r>
            <a:r>
              <a:rPr lang="en-US" altLang="he-IL" dirty="0"/>
              <a:t>(str2);</a:t>
            </a:r>
          </a:p>
          <a:p>
            <a:pPr eaLnBrk="1" hangingPunct="1"/>
            <a:endParaRPr lang="he-IL" altLang="he-IL" dirty="0"/>
          </a:p>
          <a:p>
            <a:pPr eaLnBrk="1" hangingPunct="1"/>
            <a:r>
              <a:rPr lang="en-US" altLang="he-IL" dirty="0"/>
              <a:t>     </a:t>
            </a:r>
            <a:r>
              <a:rPr lang="en-US" altLang="he-IL" dirty="0" err="1"/>
              <a:t>printf</a:t>
            </a:r>
            <a:r>
              <a:rPr lang="en-US" altLang="he-IL" dirty="0"/>
              <a:t>("The first duplicated string: |%s|\n", newStr1);</a:t>
            </a:r>
          </a:p>
          <a:p>
            <a:pPr eaLnBrk="1" hangingPunct="1"/>
            <a:r>
              <a:rPr lang="en-US" altLang="he-IL" dirty="0"/>
              <a:t>     </a:t>
            </a:r>
            <a:r>
              <a:rPr lang="en-US" altLang="he-IL" dirty="0" err="1"/>
              <a:t>printf</a:t>
            </a:r>
            <a:r>
              <a:rPr lang="en-US" altLang="he-IL" dirty="0"/>
              <a:t>("The second duplicated string: |%s|\n", newStr2);</a:t>
            </a:r>
          </a:p>
          <a:p>
            <a:pPr eaLnBrk="1" hangingPunct="1"/>
            <a:r>
              <a:rPr lang="he-IL" altLang="he-IL" dirty="0"/>
              <a:t>    </a:t>
            </a:r>
          </a:p>
          <a:p>
            <a:pPr eaLnBrk="1" hangingPunct="1"/>
            <a:r>
              <a:rPr lang="en-US" altLang="he-IL" dirty="0"/>
              <a:t>     free(newStr1);</a:t>
            </a:r>
          </a:p>
          <a:p>
            <a:pPr eaLnBrk="1" hangingPunct="1"/>
            <a:r>
              <a:rPr lang="en-US" altLang="he-IL" dirty="0"/>
              <a:t>     free(newStr2);</a:t>
            </a:r>
          </a:p>
          <a:p>
            <a:pPr eaLnBrk="1" hangingPunct="1"/>
            <a:r>
              <a:rPr lang="he-IL" altLang="he-IL" dirty="0"/>
              <a:t>{</a:t>
            </a:r>
          </a:p>
        </p:txBody>
      </p:sp>
      <p:pic>
        <p:nvPicPr>
          <p:cNvPr id="3177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6086475"/>
            <a:ext cx="5983288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47"/>
          <p:cNvSpPr txBox="1">
            <a:spLocks noChangeArrowheads="1"/>
          </p:cNvSpPr>
          <p:nvPr/>
        </p:nvSpPr>
        <p:spPr bwMode="auto">
          <a:xfrm>
            <a:off x="6248400" y="6415088"/>
            <a:ext cx="2971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>
              <a:spcBef>
                <a:spcPct val="50000"/>
              </a:spcBef>
            </a:pPr>
            <a:r>
              <a:rPr lang="he-IL" altLang="he-IL"/>
              <a:t>הזיכרון של ה- </a:t>
            </a:r>
            <a:r>
              <a:rPr lang="en-US" altLang="he-IL"/>
              <a:t>main</a:t>
            </a:r>
          </a:p>
        </p:txBody>
      </p:sp>
      <p:sp>
        <p:nvSpPr>
          <p:cNvPr id="9" name="Oval 72"/>
          <p:cNvSpPr>
            <a:spLocks noChangeArrowheads="1"/>
          </p:cNvSpPr>
          <p:nvPr/>
        </p:nvSpPr>
        <p:spPr bwMode="auto">
          <a:xfrm>
            <a:off x="4191000" y="1905000"/>
            <a:ext cx="4953000" cy="1905000"/>
          </a:xfrm>
          <a:prstGeom prst="ellipse">
            <a:avLst/>
          </a:prstGeom>
          <a:solidFill>
            <a:srgbClr val="00CC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he-IL" altLang="he-IL"/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7010400" y="3824288"/>
            <a:ext cx="1981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>
              <a:spcBef>
                <a:spcPct val="50000"/>
              </a:spcBef>
            </a:pPr>
            <a:r>
              <a:rPr lang="he-IL" altLang="he-IL"/>
              <a:t>זיכרון ה- </a:t>
            </a:r>
            <a:r>
              <a:rPr lang="en-US" altLang="he-IL"/>
              <a:t>heap</a:t>
            </a:r>
          </a:p>
        </p:txBody>
      </p:sp>
      <p:graphicFrame>
        <p:nvGraphicFramePr>
          <p:cNvPr id="11" name="Group 497"/>
          <p:cNvGraphicFramePr>
            <a:graphicFrameLocks noGrp="1"/>
          </p:cNvGraphicFramePr>
          <p:nvPr/>
        </p:nvGraphicFramePr>
        <p:xfrm>
          <a:off x="6019800" y="4281488"/>
          <a:ext cx="2895600" cy="2043113"/>
        </p:xfrm>
        <a:graphic>
          <a:graphicData uri="http://schemas.openxmlformats.org/drawingml/2006/table">
            <a:tbl>
              <a:tblPr/>
              <a:tblGrid>
                <a:gridCol w="1600199"/>
                <a:gridCol w="762000"/>
                <a:gridCol w="533401"/>
              </a:tblGrid>
              <a:tr h="3667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char: str1[]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‘h’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1000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+mn-cs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1001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+mn-cs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‘\0’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100</a:t>
                      </a: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2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str2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100</a:t>
                      </a: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3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newStr1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100</a:t>
                      </a: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7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newStr2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10</a:t>
                      </a: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11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Group 412"/>
          <p:cNvGraphicFramePr>
            <a:graphicFrameLocks noGrp="1"/>
          </p:cNvGraphicFramePr>
          <p:nvPr/>
        </p:nvGraphicFramePr>
        <p:xfrm>
          <a:off x="6858000" y="2087563"/>
          <a:ext cx="1905001" cy="1068460"/>
        </p:xfrm>
        <a:graphic>
          <a:graphicData uri="http://schemas.openxmlformats.org/drawingml/2006/table">
            <a:tbl>
              <a:tblPr/>
              <a:tblGrid>
                <a:gridCol w="662609"/>
                <a:gridCol w="662609"/>
                <a:gridCol w="579783"/>
              </a:tblGrid>
              <a:tr h="33518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‘h’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4300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6" marB="4570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</a:t>
                      </a:r>
                      <a:r>
                        <a:rPr kumimoji="0" lang="en-US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</a:t>
                      </a: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’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4301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6" marB="4570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‘\0’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4302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06" marB="4570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Group 412"/>
          <p:cNvGraphicFramePr>
            <a:graphicFrameLocks noGrp="1"/>
          </p:cNvGraphicFramePr>
          <p:nvPr/>
        </p:nvGraphicFramePr>
        <p:xfrm>
          <a:off x="4724400" y="2133600"/>
          <a:ext cx="1981200" cy="1435156"/>
        </p:xfrm>
        <a:graphic>
          <a:graphicData uri="http://schemas.openxmlformats.org/drawingml/2006/table">
            <a:tbl>
              <a:tblPr/>
              <a:tblGrid>
                <a:gridCol w="775252"/>
                <a:gridCol w="672548"/>
                <a:gridCol w="533400"/>
              </a:tblGrid>
              <a:tr h="3352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‘b’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0" marB="4571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3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‘y’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301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0" marB="4571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3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‘e’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302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0" marB="4571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3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‘\0’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</a:t>
                      </a: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10" marB="4571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Group 497"/>
          <p:cNvGraphicFramePr>
            <a:graphicFrameLocks noGrp="1"/>
          </p:cNvGraphicFramePr>
          <p:nvPr/>
        </p:nvGraphicFramePr>
        <p:xfrm>
          <a:off x="6019800" y="4281488"/>
          <a:ext cx="2895600" cy="2043113"/>
        </p:xfrm>
        <a:graphic>
          <a:graphicData uri="http://schemas.openxmlformats.org/drawingml/2006/table">
            <a:tbl>
              <a:tblPr/>
              <a:tblGrid>
                <a:gridCol w="1600199"/>
                <a:gridCol w="762000"/>
                <a:gridCol w="533401"/>
              </a:tblGrid>
              <a:tr h="3667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char: str1[]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‘h’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1000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+mn-cs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1001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+mn-cs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‘\0’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100</a:t>
                      </a: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2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str2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5300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100</a:t>
                      </a: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3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newStr1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100</a:t>
                      </a: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7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newStr2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10</a:t>
                      </a: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11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0" name="Group 497"/>
          <p:cNvGraphicFramePr>
            <a:graphicFrameLocks noGrp="1"/>
          </p:cNvGraphicFramePr>
          <p:nvPr/>
        </p:nvGraphicFramePr>
        <p:xfrm>
          <a:off x="6019800" y="4281488"/>
          <a:ext cx="2895600" cy="2043113"/>
        </p:xfrm>
        <a:graphic>
          <a:graphicData uri="http://schemas.openxmlformats.org/drawingml/2006/table">
            <a:tbl>
              <a:tblPr/>
              <a:tblGrid>
                <a:gridCol w="1600199"/>
                <a:gridCol w="762000"/>
                <a:gridCol w="533401"/>
              </a:tblGrid>
              <a:tr h="3667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char: str1[]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‘h’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1000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+mn-cs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1001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+mn-cs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‘\0’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100</a:t>
                      </a: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2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str2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5300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100</a:t>
                      </a: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3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newStr1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100</a:t>
                      </a: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7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newStr2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???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10</a:t>
                      </a: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11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1" name="Group 497"/>
          <p:cNvGraphicFramePr>
            <a:graphicFrameLocks noGrp="1"/>
          </p:cNvGraphicFramePr>
          <p:nvPr/>
        </p:nvGraphicFramePr>
        <p:xfrm>
          <a:off x="6019800" y="4281488"/>
          <a:ext cx="2895600" cy="2043113"/>
        </p:xfrm>
        <a:graphic>
          <a:graphicData uri="http://schemas.openxmlformats.org/drawingml/2006/table">
            <a:tbl>
              <a:tblPr/>
              <a:tblGrid>
                <a:gridCol w="1600199"/>
                <a:gridCol w="762000"/>
                <a:gridCol w="533401"/>
              </a:tblGrid>
              <a:tr h="3667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char: str1[]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‘h’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1000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+mn-cs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i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1001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+mn-cs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‘\0’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100</a:t>
                      </a: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2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str2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5300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100</a:t>
                      </a: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3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newStr1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4300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100</a:t>
                      </a: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7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char*: newStr2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6300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10</a:t>
                      </a: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+mn-cs"/>
                        </a:rPr>
                        <a:t>11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" name="Oval 72"/>
          <p:cNvSpPr>
            <a:spLocks noChangeArrowheads="1"/>
          </p:cNvSpPr>
          <p:nvPr/>
        </p:nvSpPr>
        <p:spPr bwMode="auto">
          <a:xfrm>
            <a:off x="2514600" y="228600"/>
            <a:ext cx="2819400" cy="1752600"/>
          </a:xfrm>
          <a:prstGeom prst="ellipse">
            <a:avLst/>
          </a:prstGeom>
          <a:solidFill>
            <a:srgbClr val="00CC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endParaRPr lang="he-IL" altLang="he-IL"/>
          </a:p>
        </p:txBody>
      </p:sp>
      <p:sp>
        <p:nvSpPr>
          <p:cNvPr id="33" name="Text Box 9"/>
          <p:cNvSpPr txBox="1">
            <a:spLocks noChangeArrowheads="1"/>
          </p:cNvSpPr>
          <p:nvPr/>
        </p:nvSpPr>
        <p:spPr bwMode="auto">
          <a:xfrm>
            <a:off x="2209800" y="1916113"/>
            <a:ext cx="2743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>
              <a:spcBef>
                <a:spcPct val="50000"/>
              </a:spcBef>
            </a:pPr>
            <a:r>
              <a:rPr lang="he-IL" altLang="he-IL" dirty="0"/>
              <a:t>זיכרון ה- </a:t>
            </a:r>
            <a:r>
              <a:rPr lang="en-US" altLang="he-IL" dirty="0" smtClean="0"/>
              <a:t>Data segment</a:t>
            </a:r>
            <a:endParaRPr lang="en-US" altLang="he-IL" dirty="0"/>
          </a:p>
        </p:txBody>
      </p:sp>
      <p:graphicFrame>
        <p:nvGraphicFramePr>
          <p:cNvPr id="34" name="Group 412"/>
          <p:cNvGraphicFramePr>
            <a:graphicFrameLocks noGrp="1"/>
          </p:cNvGraphicFramePr>
          <p:nvPr/>
        </p:nvGraphicFramePr>
        <p:xfrm>
          <a:off x="2895600" y="381000"/>
          <a:ext cx="1981200" cy="1435156"/>
        </p:xfrm>
        <a:graphic>
          <a:graphicData uri="http://schemas.openxmlformats.org/drawingml/2006/table">
            <a:tbl>
              <a:tblPr/>
              <a:tblGrid>
                <a:gridCol w="775252"/>
                <a:gridCol w="672548"/>
                <a:gridCol w="533400"/>
              </a:tblGrid>
              <a:tr h="3352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‘b’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300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0" marB="4571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3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‘y’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301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0" marB="4571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3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‘e’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302</a:t>
                      </a:r>
                      <a:endParaRPr kumimoji="0" 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cs typeface="Arial" pitchFamily="34" charset="0"/>
                      </a:endParaRPr>
                    </a:p>
                  </a:txBody>
                  <a:tcPr marT="45710" marB="4571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663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char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‘\0’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5</a:t>
                      </a:r>
                      <a:r>
                        <a:rPr kumimoji="0" lang="he-IL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30</a:t>
                      </a:r>
                      <a:r>
                        <a:rPr kumimoji="0" 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10" marB="4571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algn="r" eaLnBrk="1" hangingPunct="1"/>
            <a:r>
              <a:rPr lang="he-IL" altLang="he-IL" smtClean="0"/>
              <a:t>ביחידה זו למדנו:</a:t>
            </a:r>
            <a:endParaRPr lang="en-US" altLang="he-IL" smtClean="0"/>
          </a:p>
        </p:txBody>
      </p:sp>
      <p:sp>
        <p:nvSpPr>
          <p:cNvPr id="32771" name="Content Placeholder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he-IL" altLang="he-IL" dirty="0" smtClean="0"/>
          </a:p>
          <a:p>
            <a:pPr eaLnBrk="1" hangingPunct="1">
              <a:lnSpc>
                <a:spcPct val="90000"/>
              </a:lnSpc>
            </a:pPr>
            <a:r>
              <a:rPr lang="he-IL" altLang="he-IL" dirty="0" smtClean="0"/>
              <a:t>מוטיבציה להקצאות דינאמיות.</a:t>
            </a:r>
          </a:p>
          <a:p>
            <a:pPr eaLnBrk="1" hangingPunct="1">
              <a:lnSpc>
                <a:spcPct val="90000"/>
              </a:lnSpc>
            </a:pPr>
            <a:r>
              <a:rPr lang="he-IL" altLang="he-IL" dirty="0" smtClean="0"/>
              <a:t>מהי הקצאה דינאמית.</a:t>
            </a:r>
          </a:p>
          <a:p>
            <a:pPr eaLnBrk="1" hangingPunct="1">
              <a:lnSpc>
                <a:spcPct val="90000"/>
              </a:lnSpc>
            </a:pPr>
            <a:r>
              <a:rPr lang="he-IL" altLang="he-IL" dirty="0" smtClean="0"/>
              <a:t>יצירת מערך בגודל שאינו ידוע מראש.</a:t>
            </a:r>
          </a:p>
          <a:p>
            <a:pPr eaLnBrk="1" hangingPunct="1">
              <a:lnSpc>
                <a:spcPct val="90000"/>
              </a:lnSpc>
            </a:pPr>
            <a:r>
              <a:rPr lang="he-IL" altLang="he-IL" dirty="0" smtClean="0"/>
              <a:t>החזרת מערך מפונקציה.</a:t>
            </a:r>
          </a:p>
          <a:p>
            <a:pPr eaLnBrk="1" hangingPunct="1">
              <a:lnSpc>
                <a:spcPct val="90000"/>
              </a:lnSpc>
            </a:pPr>
            <a:r>
              <a:rPr lang="he-IL" altLang="he-IL" dirty="0" smtClean="0"/>
              <a:t>הקצאת מערך של מערכים.</a:t>
            </a:r>
          </a:p>
          <a:p>
            <a:pPr eaLnBrk="1" hangingPunct="1">
              <a:lnSpc>
                <a:spcPct val="90000"/>
              </a:lnSpc>
            </a:pPr>
            <a:r>
              <a:rPr lang="he-IL" altLang="he-IL" dirty="0" smtClean="0"/>
              <a:t>הגדלת מערך.</a:t>
            </a:r>
          </a:p>
          <a:p>
            <a:pPr eaLnBrk="1" hangingPunct="1">
              <a:lnSpc>
                <a:spcPct val="90000"/>
              </a:lnSpc>
            </a:pPr>
            <a:r>
              <a:rPr lang="he-IL" altLang="he-IL" dirty="0" smtClean="0"/>
              <a:t>הפונקציה </a:t>
            </a:r>
            <a:r>
              <a:rPr lang="en-US" altLang="he-IL" dirty="0" err="1" smtClean="0"/>
              <a:t>strdup</a:t>
            </a:r>
            <a:r>
              <a:rPr lang="he-IL" altLang="he-IL" dirty="0" smtClean="0"/>
              <a:t>.</a:t>
            </a:r>
          </a:p>
          <a:p>
            <a:pPr eaLnBrk="1" hangingPunct="1">
              <a:lnSpc>
                <a:spcPct val="90000"/>
              </a:lnSpc>
            </a:pPr>
            <a:endParaRPr lang="he-IL" altLang="he-IL" dirty="0" smtClean="0"/>
          </a:p>
        </p:txBody>
      </p:sp>
      <p:sp>
        <p:nvSpPr>
          <p:cNvPr id="32772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96E144A5-CF19-4CE5-A6CA-B607C9FC235A}" type="slidenum">
              <a:rPr lang="he-IL" altLang="he-IL" sz="1000">
                <a:latin typeface="Verdana" pitchFamily="34" charset="0"/>
              </a:rPr>
              <a:pPr algn="r" rtl="1" eaLnBrk="1" hangingPunct="1"/>
              <a:t>31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algn="r" eaLnBrk="1" hangingPunct="1"/>
            <a:r>
              <a:rPr lang="he-IL" altLang="he-IL" smtClean="0"/>
              <a:t>תרגיל 1</a:t>
            </a:r>
            <a:endParaRPr lang="en-US" altLang="he-IL" smtClean="0"/>
          </a:p>
        </p:txBody>
      </p:sp>
      <p:sp>
        <p:nvSpPr>
          <p:cNvPr id="32771" name="Content Placeholder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he-IL" altLang="he-IL" dirty="0" smtClean="0"/>
              <a:t>כתוב </a:t>
            </a:r>
            <a:r>
              <a:rPr lang="he-IL" altLang="he-IL" dirty="0" err="1" smtClean="0"/>
              <a:t>תוכנית</a:t>
            </a:r>
            <a:r>
              <a:rPr lang="he-IL" altLang="he-IL" dirty="0" smtClean="0"/>
              <a:t> המבקשת מהמשתמש להכניס את כמות המספרים שהוא רוצה שיהיו במערך, והקצה מערך בהתאם.</a:t>
            </a:r>
          </a:p>
          <a:p>
            <a:pPr eaLnBrk="1" hangingPunct="1">
              <a:lnSpc>
                <a:spcPct val="90000"/>
              </a:lnSpc>
            </a:pPr>
            <a:r>
              <a:rPr lang="he-IL" altLang="he-IL" dirty="0" smtClean="0"/>
              <a:t>קלוט </a:t>
            </a:r>
            <a:r>
              <a:rPr lang="he-IL" altLang="he-IL" dirty="0" smtClean="0"/>
              <a:t>ערכים </a:t>
            </a:r>
            <a:r>
              <a:rPr lang="he-IL" altLang="he-IL" dirty="0"/>
              <a:t>למערך (בטווח 0-9</a:t>
            </a:r>
            <a:r>
              <a:rPr lang="he-IL" altLang="he-IL" dirty="0" smtClean="0"/>
              <a:t>), </a:t>
            </a:r>
            <a:r>
              <a:rPr lang="he-IL" altLang="he-IL" dirty="0" smtClean="0"/>
              <a:t>והגרל מספר נוסף (בטווח 0-9).</a:t>
            </a:r>
          </a:p>
          <a:p>
            <a:pPr eaLnBrk="1" hangingPunct="1">
              <a:lnSpc>
                <a:spcPct val="90000"/>
              </a:lnSpc>
            </a:pPr>
            <a:r>
              <a:rPr lang="he-IL" altLang="he-IL" dirty="0" smtClean="0"/>
              <a:t>ייצר מערך חדש המכיל את האינדקסים במערך המקורי שערך האיבר שבתוכם שווה למספר הנוסף שהתקבל.</a:t>
            </a:r>
          </a:p>
          <a:p>
            <a:pPr eaLnBrk="1" hangingPunct="1">
              <a:lnSpc>
                <a:spcPct val="90000"/>
              </a:lnSpc>
            </a:pPr>
            <a:r>
              <a:rPr lang="he-IL" altLang="he-IL" dirty="0" smtClean="0"/>
              <a:t>הצג את המערך שחדש שייצרת.</a:t>
            </a:r>
          </a:p>
          <a:p>
            <a:pPr eaLnBrk="1" hangingPunct="1">
              <a:lnSpc>
                <a:spcPct val="90000"/>
              </a:lnSpc>
            </a:pPr>
            <a:endParaRPr lang="he-IL" altLang="he-IL" dirty="0" smtClean="0"/>
          </a:p>
          <a:p>
            <a:pPr eaLnBrk="1" hangingPunct="1">
              <a:lnSpc>
                <a:spcPct val="90000"/>
              </a:lnSpc>
            </a:pPr>
            <a:r>
              <a:rPr lang="he-IL" altLang="he-IL" dirty="0" smtClean="0"/>
              <a:t>דוגמא: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he-IL" altLang="he-IL" dirty="0" smtClean="0"/>
              <a:t>	עבור המערך 1,2,5,2,2,9 גודלו 6 והמספר 2, יוחזר מערך בגודל 3 שערכיו 1,3,4.</a:t>
            </a:r>
          </a:p>
        </p:txBody>
      </p:sp>
      <p:sp>
        <p:nvSpPr>
          <p:cNvPr id="33796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4D1755E2-0D98-4BCC-8306-6DCBE645E945}" type="slidenum">
              <a:rPr lang="he-IL" altLang="he-IL" sz="1000">
                <a:latin typeface="Verdana" pitchFamily="34" charset="0"/>
              </a:rPr>
              <a:pPr algn="r" rtl="1" eaLnBrk="1" hangingPunct="1"/>
              <a:t>32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algn="r" eaLnBrk="1" hangingPunct="1"/>
            <a:r>
              <a:rPr lang="he-IL" altLang="he-IL" smtClean="0"/>
              <a:t>תרגיל 2</a:t>
            </a:r>
            <a:endParaRPr lang="en-US" altLang="he-IL" smtClean="0"/>
          </a:p>
        </p:txBody>
      </p:sp>
      <p:sp>
        <p:nvSpPr>
          <p:cNvPr id="32771" name="Content Placeholder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he-IL" altLang="he-IL" dirty="0" smtClean="0"/>
              <a:t>כתוב פונקציה המקבלת מחרוזת ותו. הפונקציה תייצר ותחזיר מחרוזת חדשה שאורכה ככמות הפעמים שהתו מופיעה במחרוזת המקורית והיא תכיל תו זה כמספר פעמים זה.</a:t>
            </a:r>
          </a:p>
          <a:p>
            <a:pPr eaLnBrk="1" hangingPunct="1">
              <a:lnSpc>
                <a:spcPct val="90000"/>
              </a:lnSpc>
            </a:pPr>
            <a:r>
              <a:rPr lang="he-IL" altLang="he-IL" dirty="0" smtClean="0"/>
              <a:t>דוגמאות</a:t>
            </a:r>
            <a:r>
              <a:rPr lang="he-IL" altLang="he-IL" dirty="0" smtClean="0"/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he-IL" altLang="he-IL" dirty="0" smtClean="0"/>
              <a:t>עבור המחרוזת </a:t>
            </a:r>
            <a:r>
              <a:rPr lang="en-US" altLang="he-IL" dirty="0" smtClean="0"/>
              <a:t>“hello”</a:t>
            </a:r>
            <a:r>
              <a:rPr lang="he-IL" altLang="he-IL" dirty="0" smtClean="0"/>
              <a:t> והתו </a:t>
            </a:r>
            <a:r>
              <a:rPr lang="en-US" altLang="he-IL" dirty="0" smtClean="0"/>
              <a:t>‘l’</a:t>
            </a:r>
            <a:r>
              <a:rPr lang="he-IL" altLang="he-IL" dirty="0" smtClean="0"/>
              <a:t> תוחזר המחרוזת </a:t>
            </a:r>
            <a:r>
              <a:rPr lang="en-US" altLang="he-IL" dirty="0" smtClean="0"/>
              <a:t>“</a:t>
            </a:r>
            <a:r>
              <a:rPr lang="en-US" altLang="he-IL" dirty="0" err="1" smtClean="0"/>
              <a:t>ll</a:t>
            </a:r>
            <a:r>
              <a:rPr lang="en-US" altLang="he-IL" dirty="0" smtClean="0"/>
              <a:t>”</a:t>
            </a:r>
            <a:endParaRPr lang="he-IL" altLang="he-IL" dirty="0" smtClean="0"/>
          </a:p>
          <a:p>
            <a:pPr lvl="1" eaLnBrk="1" hangingPunct="1">
              <a:lnSpc>
                <a:spcPct val="90000"/>
              </a:lnSpc>
            </a:pPr>
            <a:r>
              <a:rPr lang="he-IL" altLang="he-IL" dirty="0" smtClean="0"/>
              <a:t>עבור המחרוזת </a:t>
            </a:r>
            <a:r>
              <a:rPr lang="en-US" altLang="he-IL" dirty="0" smtClean="0"/>
              <a:t>“memory”</a:t>
            </a:r>
            <a:r>
              <a:rPr lang="he-IL" altLang="he-IL" dirty="0" smtClean="0"/>
              <a:t> והתו </a:t>
            </a:r>
            <a:r>
              <a:rPr lang="en-US" altLang="he-IL" dirty="0" smtClean="0"/>
              <a:t>‘m’</a:t>
            </a:r>
            <a:r>
              <a:rPr lang="he-IL" altLang="he-IL" dirty="0" smtClean="0"/>
              <a:t> תוחזר המחרוזת </a:t>
            </a:r>
            <a:r>
              <a:rPr lang="en-US" altLang="he-IL" dirty="0" smtClean="0"/>
              <a:t>“mm”</a:t>
            </a:r>
            <a:r>
              <a:rPr lang="he-IL" altLang="he-IL" dirty="0" smtClean="0"/>
              <a:t>.</a:t>
            </a:r>
          </a:p>
          <a:p>
            <a:pPr lvl="1" eaLnBrk="1" hangingPunct="1">
              <a:lnSpc>
                <a:spcPct val="90000"/>
              </a:lnSpc>
            </a:pPr>
            <a:endParaRPr lang="he-IL" altLang="he-IL" dirty="0" smtClean="0"/>
          </a:p>
        </p:txBody>
      </p:sp>
      <p:sp>
        <p:nvSpPr>
          <p:cNvPr id="34820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CA260BBF-75D7-42A6-835F-F5E30FE02D2B}" type="slidenum">
              <a:rPr lang="he-IL" altLang="he-IL" sz="1000">
                <a:latin typeface="Verdana" pitchFamily="34" charset="0"/>
              </a:rPr>
              <a:pPr algn="r" rtl="1" eaLnBrk="1" hangingPunct="1"/>
              <a:t>33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algn="r" eaLnBrk="1" hangingPunct="1"/>
            <a:r>
              <a:rPr lang="he-IL" altLang="he-IL" smtClean="0"/>
              <a:t>תרגיל 3</a:t>
            </a:r>
            <a:endParaRPr lang="en-US" altLang="he-IL" smtClean="0"/>
          </a:p>
        </p:txBody>
      </p:sp>
      <p:sp>
        <p:nvSpPr>
          <p:cNvPr id="32771" name="Content Placeholder 2"/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he-IL" altLang="he-IL" dirty="0" smtClean="0"/>
              <a:t>כתוב פונקציה המקבלת 2 מערכים וגודלם. הפונקציה תחזיר מערך חדש המכיל את הערכים שבשני המערכים.</a:t>
            </a:r>
          </a:p>
          <a:p>
            <a:pPr eaLnBrk="1" hangingPunct="1">
              <a:lnSpc>
                <a:spcPct val="90000"/>
              </a:lnSpc>
            </a:pPr>
            <a:r>
              <a:rPr lang="he-IL" altLang="he-IL" dirty="0" err="1" smtClean="0"/>
              <a:t>הפוקנציה</a:t>
            </a:r>
            <a:r>
              <a:rPr lang="he-IL" altLang="he-IL" dirty="0" smtClean="0"/>
              <a:t> גם תחזיר את גודל המערך המוחזר.</a:t>
            </a:r>
          </a:p>
          <a:p>
            <a:pPr eaLnBrk="1" hangingPunct="1">
              <a:lnSpc>
                <a:spcPct val="90000"/>
              </a:lnSpc>
            </a:pPr>
            <a:endParaRPr lang="he-IL" altLang="he-IL" dirty="0" smtClean="0"/>
          </a:p>
          <a:p>
            <a:pPr eaLnBrk="1" hangingPunct="1">
              <a:lnSpc>
                <a:spcPct val="90000"/>
              </a:lnSpc>
            </a:pPr>
            <a:r>
              <a:rPr lang="he-IL" altLang="he-IL" dirty="0" smtClean="0"/>
              <a:t>דוגמא: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he-IL" altLang="he-IL" dirty="0" smtClean="0"/>
              <a:t>	עבור המערך 1,8,2 וגודלו 3 והמערך 9,2,6,7 וגודלו 4 יוחזר המערך החדש 1,8,2,9,2,6,7 וגודלו 7.</a:t>
            </a:r>
          </a:p>
        </p:txBody>
      </p:sp>
      <p:sp>
        <p:nvSpPr>
          <p:cNvPr id="35844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rtl="1" eaLnBrk="1" hangingPunct="1"/>
            <a:fld id="{2BF4280C-6A47-40CA-BD3F-F31ED1FE727B}" type="slidenum">
              <a:rPr lang="he-IL" altLang="he-IL" sz="1000">
                <a:latin typeface="Verdana" pitchFamily="34" charset="0"/>
              </a:rPr>
              <a:pPr algn="r" rtl="1" eaLnBrk="1" hangingPunct="1"/>
              <a:t>34</a:t>
            </a:fld>
            <a:endParaRPr lang="en-US" altLang="he-IL" sz="1000" dirty="0">
              <a:latin typeface="Verdana" pitchFamily="34" charset="0"/>
            </a:endParaRPr>
          </a:p>
          <a:p>
            <a:pPr algn="r" rtl="1" eaLnBrk="1" hangingPunct="1"/>
            <a:r>
              <a:rPr lang="en-US" altLang="he-IL" sz="1000" dirty="0"/>
              <a:t>© </a:t>
            </a:r>
            <a:r>
              <a:rPr lang="en-US" altLang="he-IL" sz="1000" dirty="0" err="1" smtClean="0"/>
              <a:t>Sagie</a:t>
            </a:r>
            <a:r>
              <a:rPr lang="en-US" altLang="he-IL" sz="1000" dirty="0" smtClean="0"/>
              <a:t> </a:t>
            </a:r>
            <a:r>
              <a:rPr lang="en-US" altLang="he-IL" sz="1000" dirty="0" err="1" smtClean="0"/>
              <a:t>Feigin</a:t>
            </a:r>
            <a:endParaRPr lang="en-US" altLang="he-IL" sz="1000" dirty="0"/>
          </a:p>
          <a:p>
            <a:pPr algn="r" rtl="1" eaLnBrk="1" hangingPunct="1"/>
            <a:endParaRPr lang="en-US" altLang="he-IL" sz="1000" dirty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yOpenU2008a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evel">
      <a:majorFont>
        <a:latin typeface="Garamond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he-IL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he-IL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cs typeface="Arial" charset="0"/>
          </a:defRPr>
        </a:defPPr>
      </a:lstStyle>
    </a:lnDef>
  </a:objectDefaults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18364</TotalTime>
  <Words>4067</Words>
  <Application>Microsoft Office PowerPoint</Application>
  <PresentationFormat>‫הצגה על המסך (4:3)</PresentationFormat>
  <Paragraphs>2246</Paragraphs>
  <Slides>34</Slides>
  <Notes>27</Notes>
  <HiddenSlides>0</HiddenSlides>
  <MMClips>0</MMClips>
  <ScaleCrop>false</ScaleCrop>
  <HeadingPairs>
    <vt:vector size="4" baseType="variant"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34</vt:i4>
      </vt:variant>
    </vt:vector>
  </HeadingPairs>
  <TitlesOfParts>
    <vt:vector size="35" baseType="lpstr">
      <vt:lpstr>MyOpenU2008aTheme</vt:lpstr>
      <vt:lpstr>הקצאות דינאמיות</vt:lpstr>
      <vt:lpstr>ביחידה זו נלמד:</vt:lpstr>
      <vt:lpstr>מוטיבציה להקצאה דינאמית</vt:lpstr>
      <vt:lpstr>מהי הקצאה דינאמית?</vt:lpstr>
      <vt:lpstr>Process Memory Map</vt:lpstr>
      <vt:lpstr>הגדרה נוספת ל- &lt;type&gt;* </vt:lpstr>
      <vt:lpstr>פונקציות לשימוש בהקצאות דינאמיות</vt:lpstr>
      <vt:lpstr>malloc – הקצאת מערך בגודל שאינו ידוע מראש</vt:lpstr>
      <vt:lpstr>calloc – הקצאת מערך בגודל שאינו ידוע מראש</vt:lpstr>
      <vt:lpstr>שחרור הזיכרון שהוקצה</vt:lpstr>
      <vt:lpstr>פונקציה לשחרור הקצאות דינאמיות</vt:lpstr>
      <vt:lpstr>free – שחרור זיכרון</vt:lpstr>
      <vt:lpstr>תזכורת: החזרת מערך מפונקציה</vt:lpstr>
      <vt:lpstr>תזכורת: הבעייתיות בהחזרת מערך מפונקציה - דוגמא</vt:lpstr>
      <vt:lpstr>הפתרון: הקצאת  המערך דינאמית </vt:lpstr>
      <vt:lpstr>הקצאה בתוך פונקציה</vt:lpstr>
      <vt:lpstr>החזרת מערך מפונקציה by pointer</vt:lpstr>
      <vt:lpstr>החזרת מערך מפונקציה  by pointer  - דוגמא</vt:lpstr>
      <vt:lpstr>החזרת מערך מפונקציה  by pointer  - התיקון</vt:lpstr>
      <vt:lpstr>הקצאת מערך של מערכים (1)</vt:lpstr>
      <vt:lpstr>הקצאת מערך של מערכים (2)</vt:lpstr>
      <vt:lpstr>הגדלת מערך</vt:lpstr>
      <vt:lpstr>הגדלת מערך - הפלט</vt:lpstr>
      <vt:lpstr>הגדלת מערך – הקוד </vt:lpstr>
      <vt:lpstr>הפונקציה realloc</vt:lpstr>
      <vt:lpstr>הגדלת מערך – הקוד בשימוש realloc </vt:lpstr>
      <vt:lpstr>מה יהיה פלט התוכנית הבאה?</vt:lpstr>
      <vt:lpstr>התיקון לתוכנית הקודמת</vt:lpstr>
      <vt:lpstr>הפונקציה strdup</vt:lpstr>
      <vt:lpstr>strdup –  דוגמא</vt:lpstr>
      <vt:lpstr>ביחידה זו למדנו:</vt:lpstr>
      <vt:lpstr>תרגיל 1</vt:lpstr>
      <vt:lpstr>תרגיל 2</vt:lpstr>
      <vt:lpstr>תרגיל 3</vt:lpstr>
    </vt:vector>
  </TitlesOfParts>
  <Company>Keren Kalif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14- dynamic allocations</dc:title>
  <dc:creator>Sagie Feigin</dc:creator>
  <cp:lastModifiedBy>Windows User</cp:lastModifiedBy>
  <cp:revision>337</cp:revision>
  <dcterms:created xsi:type="dcterms:W3CDTF">2008-06-01T07:12:10Z</dcterms:created>
  <dcterms:modified xsi:type="dcterms:W3CDTF">2022-05-10T12:48:27Z</dcterms:modified>
</cp:coreProperties>
</file>